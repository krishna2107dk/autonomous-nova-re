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Zafar" userId="76c4d89afef5a5e3" providerId="LiveId" clId="{E7F88577-2555-40D8-895B-000450EA6B9F}"/>
    <pc:docChg chg="custSel addSld delSld modSld">
      <pc:chgData name="Mohammad Zafar" userId="76c4d89afef5a5e3" providerId="LiveId" clId="{E7F88577-2555-40D8-895B-000450EA6B9F}" dt="2026-10-11T07:54:27.674" v="21" actId="478"/>
      <pc:docMkLst>
        <pc:docMk/>
      </pc:docMkLst>
      <pc:sldChg chg="addSp delSp modSp mod">
        <pc:chgData name="Mohammad Zafar" userId="76c4d89afef5a5e3" providerId="LiveId" clId="{E7F88577-2555-40D8-895B-000450EA6B9F}" dt="2026-10-11T07:54:27.674" v="21" actId="478"/>
        <pc:sldMkLst>
          <pc:docMk/>
          <pc:sldMk cId="0" sldId="256"/>
        </pc:sldMkLst>
        <pc:spChg chg="del">
          <ac:chgData name="Mohammad Zafar" userId="76c4d89afef5a5e3" providerId="LiveId" clId="{E7F88577-2555-40D8-895B-000450EA6B9F}" dt="2026-10-11T07:54:27.674" v="21" actId="478"/>
          <ac:spMkLst>
            <pc:docMk/>
            <pc:sldMk cId="0" sldId="256"/>
            <ac:spMk id="3" creationId="{00000000-0000-0000-0000-000000000000}"/>
          </ac:spMkLst>
        </pc:spChg>
        <pc:spChg chg="del">
          <ac:chgData name="Mohammad Zafar" userId="76c4d89afef5a5e3" providerId="LiveId" clId="{E7F88577-2555-40D8-895B-000450EA6B9F}" dt="2026-10-11T07:54:27.674" v="21" actId="478"/>
          <ac:spMkLst>
            <pc:docMk/>
            <pc:sldMk cId="0" sldId="256"/>
            <ac:spMk id="4" creationId="{00000000-0000-0000-0000-000000000000}"/>
          </ac:spMkLst>
        </pc:spChg>
        <pc:spChg chg="del">
          <ac:chgData name="Mohammad Zafar" userId="76c4d89afef5a5e3" providerId="LiveId" clId="{E7F88577-2555-40D8-895B-000450EA6B9F}" dt="2026-10-11T07:54:27.674" v="21" actId="478"/>
          <ac:spMkLst>
            <pc:docMk/>
            <pc:sldMk cId="0" sldId="256"/>
            <ac:spMk id="5" creationId="{00000000-0000-0000-0000-000000000000}"/>
          </ac:spMkLst>
        </pc:spChg>
        <pc:spChg chg="del">
          <ac:chgData name="Mohammad Zafar" userId="76c4d89afef5a5e3" providerId="LiveId" clId="{E7F88577-2555-40D8-895B-000450EA6B9F}" dt="2026-10-11T07:54:27.674" v="21" actId="478"/>
          <ac:spMkLst>
            <pc:docMk/>
            <pc:sldMk cId="0" sldId="256"/>
            <ac:spMk id="8" creationId="{00000000-0000-0000-0000-000000000000}"/>
          </ac:spMkLst>
        </pc:spChg>
        <pc:spChg chg="del">
          <ac:chgData name="Mohammad Zafar" userId="76c4d89afef5a5e3" providerId="LiveId" clId="{E7F88577-2555-40D8-895B-000450EA6B9F}" dt="2026-10-11T07:54:27.674" v="21" actId="478"/>
          <ac:spMkLst>
            <pc:docMk/>
            <pc:sldMk cId="0" sldId="256"/>
            <ac:spMk id="28" creationId="{00000000-0000-0000-0000-000000000000}"/>
          </ac:spMkLst>
        </pc:spChg>
        <pc:spChg chg="del">
          <ac:chgData name="Mohammad Zafar" userId="76c4d89afef5a5e3" providerId="LiveId" clId="{E7F88577-2555-40D8-895B-000450EA6B9F}" dt="2026-10-11T07:54:27.674" v="21" actId="478"/>
          <ac:spMkLst>
            <pc:docMk/>
            <pc:sldMk cId="0" sldId="256"/>
            <ac:spMk id="33" creationId="{00000000-0000-0000-0000-000000000000}"/>
          </ac:spMkLst>
        </pc:spChg>
        <pc:spChg chg="del">
          <ac:chgData name="Mohammad Zafar" userId="76c4d89afef5a5e3" providerId="LiveId" clId="{E7F88577-2555-40D8-895B-000450EA6B9F}" dt="2026-10-11T07:54:27.674" v="21" actId="478"/>
          <ac:spMkLst>
            <pc:docMk/>
            <pc:sldMk cId="0" sldId="256"/>
            <ac:spMk id="46" creationId="{00000000-0000-0000-0000-000000000000}"/>
          </ac:spMkLst>
        </pc:spChg>
        <pc:spChg chg="del">
          <ac:chgData name="Mohammad Zafar" userId="76c4d89afef5a5e3" providerId="LiveId" clId="{E7F88577-2555-40D8-895B-000450EA6B9F}" dt="2026-10-11T07:54:27.674" v="21" actId="478"/>
          <ac:spMkLst>
            <pc:docMk/>
            <pc:sldMk cId="0" sldId="256"/>
            <ac:spMk id="49" creationId="{00000000-0000-0000-0000-000000000000}"/>
          </ac:spMkLst>
        </pc:spChg>
        <pc:spChg chg="del">
          <ac:chgData name="Mohammad Zafar" userId="76c4d89afef5a5e3" providerId="LiveId" clId="{E7F88577-2555-40D8-895B-000450EA6B9F}" dt="2026-10-11T07:54:27.674" v="21" actId="478"/>
          <ac:spMkLst>
            <pc:docMk/>
            <pc:sldMk cId="0" sldId="256"/>
            <ac:spMk id="63" creationId="{00000000-0000-0000-0000-000000000000}"/>
          </ac:spMkLst>
        </pc:spChg>
        <pc:spChg chg="del">
          <ac:chgData name="Mohammad Zafar" userId="76c4d89afef5a5e3" providerId="LiveId" clId="{E7F88577-2555-40D8-895B-000450EA6B9F}" dt="2026-10-11T07:54:27.674" v="21" actId="478"/>
          <ac:spMkLst>
            <pc:docMk/>
            <pc:sldMk cId="0" sldId="256"/>
            <ac:spMk id="85" creationId="{00000000-0000-0000-0000-000000000000}"/>
          </ac:spMkLst>
        </pc:spChg>
      </pc:sldChg>
      <pc:sldChg chg="modSp mod">
        <pc:chgData name="Mohammad Zafar" userId="76c4d89afef5a5e3" providerId="LiveId" clId="{E7F88577-2555-40D8-895B-000450EA6B9F}" dt="2026-10-11T06:02:35.765" v="17" actId="20577"/>
        <pc:sldMkLst>
          <pc:docMk/>
          <pc:sldMk cId="0" sldId="257"/>
        </pc:sldMkLst>
        <pc:spChg chg="mod">
          <ac:chgData name="Mohammad Zafar" userId="76c4d89afef5a5e3" providerId="LiveId" clId="{E7F88577-2555-40D8-895B-000450EA6B9F}" dt="2026-10-11T06:02:25.869" v="8" actId="20577"/>
          <ac:spMkLst>
            <pc:docMk/>
            <pc:sldMk cId="0" sldId="257"/>
            <ac:spMk id="7" creationId="{00000000-0000-0000-0000-000000000000}"/>
          </ac:spMkLst>
        </pc:spChg>
        <pc:spChg chg="mod">
          <ac:chgData name="Mohammad Zafar" userId="76c4d89afef5a5e3" providerId="LiveId" clId="{E7F88577-2555-40D8-895B-000450EA6B9F}" dt="2026-10-11T06:02:35.765" v="17" actId="20577"/>
          <ac:spMkLst>
            <pc:docMk/>
            <pc:sldMk cId="0" sldId="257"/>
            <ac:spMk id="11" creationId="{00000000-0000-0000-0000-000000000000}"/>
          </ac:spMkLst>
        </pc:spChg>
      </pc:sldChg>
      <pc:sldChg chg="add">
        <pc:chgData name="Mohammad Zafar" userId="76c4d89afef5a5e3" providerId="LiveId" clId="{E7F88577-2555-40D8-895B-000450EA6B9F}" dt="2026-10-11T07:54:18.339" v="20" actId="2890"/>
        <pc:sldMkLst>
          <pc:docMk/>
          <pc:sldMk cId="1721972480" sldId="273"/>
        </pc:sldMkLst>
      </pc:sldChg>
      <pc:sldChg chg="new del">
        <pc:chgData name="Mohammad Zafar" userId="76c4d89afef5a5e3" providerId="LiveId" clId="{E7F88577-2555-40D8-895B-000450EA6B9F}" dt="2026-10-11T07:54:13.133" v="19" actId="2696"/>
        <pc:sldMkLst>
          <pc:docMk/>
          <pc:sldMk cId="3597453175"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5402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AutoHeal is a closed loop. On the left is the system under test: a Kubernetes cluster built with kind that runs ShopFusion, a five-service online shop with PostgreSQL, Redis and nginx. A traffic generator keeps 20 requests per second flowing and records what the users actually experience. Prometheus scrapes everything every 5 seconds. On the right is the AutoHeal control plane, written in Python. The Chaos Planner, which combines rules with an LLM, picks a fault, and an injector applies it to the cluster. Telemetry turns Prometheus and the Kubernetes API into 9 features per service. The detector combines an Isolation Forest, a z-score rule and structural checks, and an LSTM forecasts the next 60 seconds. RCA finds the origin, the decision engine picks a guarded playbook action, and a remediator repairs the cluster and verifies the fix. The round is then scored. Everything is stored in SQLite and streamed to a React dashboard over WebSocket. Orange marks the parts that break things; blue marks the parts that heal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E3F20-FD92-4503-FD92-4417ECFCA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AAE19-727D-F34A-5F92-C79999506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4537D-3FB6-6746-2C01-5A2105594A3A}"/>
              </a:ext>
            </a:extLst>
          </p:cNvPr>
          <p:cNvSpPr>
            <a:spLocks noGrp="1"/>
          </p:cNvSpPr>
          <p:nvPr>
            <p:ph type="body" idx="1"/>
          </p:nvPr>
        </p:nvSpPr>
        <p:spPr/>
        <p:txBody>
          <a:bodyPr/>
          <a:lstStyle/>
          <a:p>
            <a:r>
              <a:rPr lang="en-US" dirty="0"/>
              <a:t>AutoHeal is a closed loop. On the left is the system under test: a Kubernetes cluster built with kind that runs ShopFusion, a five-service online shop with PostgreSQL, Redis and nginx. A traffic generator keeps 20 requests per second flowing and records what the users actually experience. Prometheus scrapes everything every 5 seconds. On the right is the AutoHeal control plane, written in Python. The Chaos Planner, which combines rules with an LLM, picks a fault, and an injector applies it to the cluster. Telemetry turns Prometheus and the Kubernetes API into 9 features per service. The detector combines an Isolation Forest, a z-score rule and structural checks, and an LSTM forecasts the next 60 seconds. RCA finds the origin, the decision engine picks a guarded playbook action, and a remediator repairs the cluster and verifies the fix. The round is then scored. Everything is stored in SQLite and streamed to a React dashboard over WebSocket. Orange marks the parts that break things; blue marks the parts that heal them.</a:t>
            </a:r>
          </a:p>
        </p:txBody>
      </p:sp>
      <p:sp>
        <p:nvSpPr>
          <p:cNvPr id="4" name="Slide Number Placeholder 3">
            <a:extLst>
              <a:ext uri="{FF2B5EF4-FFF2-40B4-BE49-F238E27FC236}">
                <a16:creationId xmlns:a16="http://schemas.microsoft.com/office/drawing/2014/main" id="{6652446A-E5CA-3103-1207-7DE22395BAE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09559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grouped by the five parts of the project. Platform: Docker Desktop runs a single-node kind cluster on Kubernetes 1.37, with HPAs backed by metrics-server, NetworkPolicy enforced by kindnet, and in-place pod resize. Application: ShopFusion uses FastAPI for product, order and payment, and Express for the gateway and notification services, with PostgreSQL 16, Redis 7.4 and nginx in front. The dashboard is React 19 with Vite, Tailwind, Recharts and d3. Telemetry and ML: Prometheus with cAdvisor, RED metrics from every service, scikit-learn for the Isolation Forest and PyTorch for the LSTM. Diagnosis and healing are our own Python modules working through the Kubernetes API, with SQLite as the history store. Chaos: five injectors, tc netem and conntrack through a chaos-agent DaemonSet, a Groq-hosted LLM for planning, an asyncio orchestrator, a FastAPI and WebSocket API, and 36 pytest tests.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matter to any team running microservices: will we survive failures we have not seen yet, and when something breaks, how fast can we find the cause and fix it? Today a human gets paged, reads dashboards, guesses and fixes, which takes minutes to hours. AutoHeal's objective is to close that loop automatically. It injects real faults safely, detects them within a 25 to 35 second SLA, identifies the origin service and fault type and checks them against ground truth, because it knows what it injected. It then repairs, verifies recovery within 90 to 120 seconds, and explains and scores every step on a 0 to 100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ShopFusion is the application AutoHeal tests. Every request enters through nginx and the API gateway, which enforces a hard 5 second deadline using undici. The product service serves the catalogue with a Redis cache. The order service runs a saga: it atomically reserves stock, charges payment and confirms, and if payment fails it compensates by releasing the stock. Payment has the highest business impact, 10, and notification receives asynchronous events. Each service exports uniform RED metrics (rate, errors, duration), and callers also record how each dependency looks from their side. The traffic generator inside the cluster produces 20 requests per second and exports the user SLI, so user impact is measured rather than estimated. Schema creation uses a Postgres advisory lock to avoid startup races between replicas.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5 seconds the telemetry layer queries Prometheus and the Kubernetes API and builds nine features for each service. The first seven are the service's own view: traffic, errors, p99 latency, in-flight requests, CPU, CPU throttling and memory. The last two are the callers' view of the service, which matters because a partitioned service can look perfectly healthy from the inside. Missing data is never invented. Each feature is normalised per service with a robust z-score, using the median and MAD with floors, so each service is compared with its own normal. We then keep only the harmful direction: falling traffic is harmful, but falling latency is not. Kubernetes also supplies the structural state: ready and desired replicas, pod identities, restarts, HPA limits and scrape health.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uses three independent voters per service per tick. The Isolation Forest is trained on clean baseline z-vectors. We add four jittered copies, because an Isolation Forest cannot split on a constant feature, so without jitter an error spike on a zero-error baseline would be invisible. Its threshold is calibrated halfway between the cleanest training score and the weakest single-feature 4-sigma probe, which gives 0.1031, 0% false positives on hold-out data and 100% probe detection. The z-rule fires on any harmful deviation of 6 sigma or more. Structural flags come from Kubernetes. Replica loss is identity-based, so it catches a pod that is killed and replaced within 5 seconds. Strong flags confirm immediately; otherwise 2 of the last 3 windows must agree, and an incident clears after 3 clean windows. Episode memory keeps the first classification and its evidence. The LSTM forecasts the next 60 seconds and is 30.5% better than simple persistence.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several services look unhealthy at once, RCA decides which one started it. Candidates are scored on two kinds of signal. Cluster evidence is read from Kubernetes around the incident onset: a deny-all NetworkPolicy is the strongest signal, and resource drift and HPA drift come next. Events exclude pods that AutoHeal itself acted on, so the system never blames its own repairs. The graph and timing rules use the dependency map. A service whose symptoms are explained by a failing dependency is penalised. The earliest onset and a service's own structural fault add weight. The caller-side rule handles a service that looks fine from the inside while its callers see failures: the callee is blamed when callers see more than 100 ms of excess latency. Evidence also refines the fault type. For example, a NetworkPolicy means network_partition. The output includes the origin, type, confidence, call path and a narrative.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engine maps each diagnosed fault class to a primary action and a fallback. Four guardrails keep the healer safe. G1: never let two owners remediate the same service; the second is blocked and retries. G2: never take away the last Ready pod; a capacity-removing action becomes a rolling restart. G3: if the same action failed on this service in the last 5 minutes, swap to the fallback. G4: when two or more remediations are already running, a lower-impact one is deferred by 30 seconds. Priority is impact times severity. Confidence is Bayesian: the success history of this action for this service and fault, with a prior of 0.7 and weight 2, multiplied by RCA confidence and reduced for services with many upstream dependents. If confidence falls below 0.4, the fallback is used when it scores higher. Remediation locks expire after 10 minutes so the system can never deadlock.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remediators act through the Kubernetes API, and each one has an explicit completion condition. The worst pod is chosen as a non-Ready pod first, otherwise by per-pod latency, errors and throttling. Traffic reroute relabels the slow pod so it leaves the Service and its ReplicaSet while a replacement starts, and it refuses to act if fewer than two pods are serving. Resource restore uses in-place pod resize, so no restart is needed. The healer is shared by campaigns and autopilot. It waits one tick for evidence to settle, runs RCA, decides, remediates, and then verifies functionally: Ready pods at least at the declared minimum and five consecutive real requests through nginx succeeding within 75 seconds. If verification fails, it re-diagnoses. If the origin has changed it decides again; otherwise it uses the fallback. Recovery is timed from the first clean detector window. Outcomes are honest: RECOVERED, MITIGATED, FAILED or NO_ACTION.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AutoHeal injects five real faults, not simulations. Pod deletion kills a Ready pod instantly. CPU throttle uses in-place pod resize to squeeze every pod of a service to 25 millicores. Network partition applies a deny-all NetworkPolicy, and the chaos-agent DaemonSet then flushes conntrack so existing connections are cut as well; without that flush the partition was only partial. Latency adds 200 ms of netem delay with 50 ms jitter on one pod. Replica reduction pins the HPA at one replica. Each fault has its own detection and recovery SLA. Every injector implements one contract. Reverse runs only after recovery has been measured, so a fault that was masked rather than fixed is caught and scored as MASKED. Because each injector declares its expected class, the diagnosis is graded against ground truth.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Chaos Planner decides which fault to inject and where. Every applicable pair of fault and service not yet used in the campaign is a candidate. Each is scored by rules. The biggest weight is staleness: how long since this exact pair was last injected, across all campaigns, on a log scale that saturates at 24 hours. Next come blast radius, measured as how many services depend on it, and past weakness, where pairs that were undetected, masked, misdiagnosed or missed their SLA come back first. Business impact, user traffic share and the service's own dependencies follow. Variety penalties stop the same fault or service from repeating within a campaign. The top 10 go to an LLM on Groq's free tier, gpt-oss-120b, with fallbacks to gpt-oss-20b and Qwen. It runs in JSON mode and returns a candidate id and a reason, which is shown on the dashboard. The answer is validated against the list; if it is invalid or the API is unavailable, the rule-based top pick is used. That is one request per round, under a daily cap of 500.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campaign round follows a fixed sequence. The planner chooses the experiment. The steady-state gate then requires a GO from preflight on three consecutive ticks: Prometheus is healthy, no service is anomalous, the target is at full capacity, and load is no more than 1.8 times baseline. Preflight also estimates the blast radius from user share and dependents. After injection, the detector has 90 seconds; otherwise the round is UNDETECTED. The healer then repairs while a watchdog aborts if more than half of user requests fail for over 4 minutes. Teardown checks whether the fault is still physically present. If the system reported recovery but the fault is still there, the round is MASKED, not a success. The injector is then reversed, HPAs are restored to their declared values, and the round is scored against ground truth. Every step is narrated in plain English, stored in SQLite and written to a report.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results from a live five-round campaign on a laptop, not a simulation. The score was 98.9 out of 100. All five faults were detected, in 5 to 15 seconds with a mean of 8.9. Recovery took 20 to 50 seconds with a mean of 36. The root cause and fault class were correct in all five rounds, and every primary fix worked first time. The score combines recovery SLA at 35 points, detection SLA at 20, effectiveness at 20, diagnosis accuracy at 15 and user impact at 10. The only points lost were for user impact in round 3, the gateway partition: every request passes through the gateway, so all users are affected until the policy rollback lands. The score counts that honestly. Two later campaigns scored 98.4 and 99.6.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against a real cluster exposed problems that a simulation would never show. A deleted pod was replaced within one 5 second scrape, so a count-based check missed it; detection now tracks pod identity. A NetworkPolicy alone did not cut connections that were already established, so the chaos agent flushes conntrack. The gateway's proxy timeout never fired, so we moved to undici with a hard deadline. Keep-alive connections pinned all traffic to one pod, so a single slow pod was invisible; recycling connections cut detection from 60 to 15 seconds. Readiness probes hid latency by removing the slow pod, which led to the pod_unready class and MASKED scoring. Isolation Forest scores saturated beyond the training range, so we calibrate the threshold at a midpoint. HPA flapping was fixed with stabilisation windows. Throttling was being misread as a partition until the classifier was reordered. Concurrent schema creation is serialised with a Postgres advisory lock.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operate AutoHeal. The dashboard is a React app served by the FastAPI server and fed one WebSocket frame per detector tick, with no mock data. It shows the anomaly score of every service against the threshold, a live dependency graph whose edge width follows real request rates, the plain-English reasoning feed, the decision trace marked against ground truth, the LSTM forecast and a health grid. Campaigns and autopilot can be started from the header. The ShopFusion storefront lets a person shop through nginx and the gateway, so you can watch the user experience during a chaos round. The command line wraps everything: up builds and deploys, train fits the models, serve starts the API and dashboard, and campaign runs rounds. Images rebuild only when their inputs change, so after the first setup the system is ready in about a minute and a campaign takes about ten.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scope. AutoHeal runs on a single-node kind cluster with a small shop. Its notion of normal is learned from about ten minutes of synthetic traffic, so a real deployment would need days of real traffic and periodic retraining. It injects five fault types, though it recognises others such as OOM kills and error spikes. The LSTM is trained mostly on healthy data, so it forecasts recovery better than the onset of a new fault; the train command can already include recorded campaign telemetry to improve this. The service map is written by hand, and fixes come from a playbook, so a code bug still needs a human. It currently runs with full rights to the local cluster, and a least-privilege role is documented. The next steps follow directly from these limitations.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AutoHeal is a self-driving reliability engineer for a Kubernetes application. It runs the full loop autonomously, explains every decision with live numbers, stays safe through gates, guardrails, a watchdog and verified fixes, and is measured against ground truth, scoring 98.9 out of 100 in a live campaign. The code, tests, reports and documentation are in the repository. Thank you; we are happy to take questions or run a live round.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899074"/>
            <a:ext cx="10566453" cy="419104"/>
          </a:xfrm>
          <a:prstGeom prst="rect">
            <a:avLst/>
          </a:prstGeom>
          <a:noFill/>
          <a:ln/>
        </p:spPr>
        <p:txBody>
          <a:bodyPr wrap="square" lIns="0" tIns="0" rIns="0" bIns="0" rtlCol="0" anchor="t"/>
          <a:lstStyle>
            <a:lvl1pPr marL="0" indent="0" algn="l">
              <a:lnSpc>
                <a:spcPct val="115000"/>
              </a:lnSpc>
              <a:buNone/>
              <a:defRPr lang="en-US" sz="3000" dirty="0">
                <a:solidFill>
                  <a:srgbClr val="1621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31" y="1622977"/>
            <a:ext cx="10566469" cy="4422223"/>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899074"/>
            <a:ext cx="10566453" cy="419104"/>
          </a:xfrm>
          <a:prstGeom prst="rect">
            <a:avLst/>
          </a:prstGeom>
          <a:noFill/>
          <a:ln/>
        </p:spPr>
        <p:txBody>
          <a:bodyPr wrap="square" lIns="0" tIns="0" rIns="0" bIns="0" rtlCol="0" anchor="t"/>
          <a:lstStyle>
            <a:lvl1pPr marL="0" indent="0" algn="l">
              <a:lnSpc>
                <a:spcPct val="115000"/>
              </a:lnSpc>
              <a:buNone/>
              <a:defRPr lang="en-US" sz="3000" dirty="0">
                <a:solidFill>
                  <a:srgbClr val="1621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31" y="1622977"/>
            <a:ext cx="10566469" cy="4422223"/>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a:effectLst/>
      </p:bgPr>
    </p:bg>
    <p:spTree>
      <p:nvGrpSpPr>
        <p:cNvPr id="1" name=""/>
        <p:cNvGrpSpPr/>
        <p:nvPr/>
      </p:nvGrpSpPr>
      <p:grpSpPr>
        <a:xfrm>
          <a:off x="0" y="0"/>
          <a:ext cx="0" cy="0"/>
          <a:chOff x="0" y="0"/>
          <a:chExt cx="0" cy="0"/>
        </a:xfrm>
      </p:grpSpPr>
      <p:sp>
        <p:nvSpPr>
          <p:cNvPr id="88" name="Text 72"/>
          <p:cNvSpPr/>
          <p:nvPr/>
        </p:nvSpPr>
        <p:spPr>
          <a:xfrm>
            <a:off x="812731" y="6238296"/>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89" name="Text 73"/>
          <p:cNvSpPr/>
          <p:nvPr/>
        </p:nvSpPr>
        <p:spPr>
          <a:xfrm>
            <a:off x="10058466" y="6238296"/>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01</a:t>
            </a:r>
            <a:endParaRPr lang="en-US" sz="1200" dirty="0"/>
          </a:p>
        </p:txBody>
      </p:sp>
      <p:sp>
        <p:nvSpPr>
          <p:cNvPr id="91" name="Title 90">
            <a:extLst>
              <a:ext uri="{FF2B5EF4-FFF2-40B4-BE49-F238E27FC236}">
                <a16:creationId xmlns:a16="http://schemas.microsoft.com/office/drawing/2014/main" id="{0435545C-9DCD-B371-EC94-A6493DA00957}"/>
              </a:ext>
            </a:extLst>
          </p:cNvPr>
          <p:cNvSpPr>
            <a:spLocks noGrp="1"/>
          </p:cNvSpPr>
          <p:nvPr>
            <p:ph type="title"/>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a:extLst>
            <a:ext uri="{FF2B5EF4-FFF2-40B4-BE49-F238E27FC236}">
              <a16:creationId xmlns:a16="http://schemas.microsoft.com/office/drawing/2014/main" id="{C52FA344-0A85-3848-BFE6-65F1399F8B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757091-4F2B-8C9D-5EC6-317D1B273906}"/>
              </a:ext>
            </a:extLst>
          </p:cNvPr>
          <p:cNvSpPr/>
          <p:nvPr/>
        </p:nvSpPr>
        <p:spPr>
          <a:xfrm>
            <a:off x="812731" y="533357"/>
            <a:ext cx="10883358"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AUTOHEAL · AUTONOMOUS CHAOS ENGINEERING &amp; SELF-HEALING ON KUBERNETES</a:t>
            </a:r>
            <a:endParaRPr lang="en-US" sz="1200" dirty="0"/>
          </a:p>
        </p:txBody>
      </p:sp>
      <p:sp>
        <p:nvSpPr>
          <p:cNvPr id="3" name="Text 1">
            <a:extLst>
              <a:ext uri="{FF2B5EF4-FFF2-40B4-BE49-F238E27FC236}">
                <a16:creationId xmlns:a16="http://schemas.microsoft.com/office/drawing/2014/main" id="{4DD39FF1-0F61-AC51-1BD4-2374B7D315E1}"/>
              </a:ext>
            </a:extLst>
          </p:cNvPr>
          <p:cNvSpPr>
            <a:spLocks noGrp="1"/>
          </p:cNvSpPr>
          <p:nvPr>
            <p:ph type="title"/>
          </p:nvPr>
        </p:nvSpPr>
        <p:spPr>
          <a:xfrm>
            <a:off x="812731" y="787341"/>
            <a:ext cx="10883358"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System architecture</a:t>
            </a:r>
            <a:endParaRPr lang="en-US" sz="3000" dirty="0"/>
          </a:p>
        </p:txBody>
      </p:sp>
      <p:sp>
        <p:nvSpPr>
          <p:cNvPr id="4" name="Text 2">
            <a:extLst>
              <a:ext uri="{FF2B5EF4-FFF2-40B4-BE49-F238E27FC236}">
                <a16:creationId xmlns:a16="http://schemas.microsoft.com/office/drawing/2014/main" id="{4E069501-DBF4-AE84-700F-9100370C3D88}"/>
              </a:ext>
            </a:extLst>
          </p:cNvPr>
          <p:cNvSpPr/>
          <p:nvPr/>
        </p:nvSpPr>
        <p:spPr>
          <a:xfrm>
            <a:off x="812731" y="1308090"/>
            <a:ext cx="10883358" cy="256516"/>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IBM Plex Sans" pitchFamily="34" charset="0"/>
                <a:ea typeface="IBM Plex Sans" pitchFamily="34" charset="-122"/>
                <a:cs typeface="IBM Plex Sans" pitchFamily="34" charset="-120"/>
              </a:rPr>
              <a:t>One closed loop on a live cluster: plan → inject → detect → diagnose → repair → verify → score.</a:t>
            </a:r>
            <a:endParaRPr lang="en-US" sz="1400" dirty="0"/>
          </a:p>
        </p:txBody>
      </p:sp>
      <p:sp>
        <p:nvSpPr>
          <p:cNvPr id="5" name="Shape 3">
            <a:extLst>
              <a:ext uri="{FF2B5EF4-FFF2-40B4-BE49-F238E27FC236}">
                <a16:creationId xmlns:a16="http://schemas.microsoft.com/office/drawing/2014/main" id="{CE599359-9D21-EC1A-A585-83758F6B74A8}"/>
              </a:ext>
            </a:extLst>
          </p:cNvPr>
          <p:cNvSpPr/>
          <p:nvPr/>
        </p:nvSpPr>
        <p:spPr>
          <a:xfrm>
            <a:off x="815906" y="1844622"/>
            <a:ext cx="4819602" cy="4121125"/>
          </a:xfrm>
          <a:prstGeom prst="roundRect">
            <a:avLst>
              <a:gd name="adj" fmla="val 1772"/>
            </a:avLst>
          </a:prstGeom>
          <a:solidFill>
            <a:srgbClr val="EDF0F4"/>
          </a:solidFill>
          <a:ln w="6350">
            <a:solidFill>
              <a:srgbClr val="D3DAE3"/>
            </a:solidFill>
            <a:prstDash val="solid"/>
          </a:ln>
        </p:spPr>
      </p:sp>
      <p:sp>
        <p:nvSpPr>
          <p:cNvPr id="6" name="Shape 4">
            <a:extLst>
              <a:ext uri="{FF2B5EF4-FFF2-40B4-BE49-F238E27FC236}">
                <a16:creationId xmlns:a16="http://schemas.microsoft.com/office/drawing/2014/main" id="{1269D2B3-17C0-0D9C-C2D4-5AD128720338}"/>
              </a:ext>
            </a:extLst>
          </p:cNvPr>
          <p:cNvSpPr/>
          <p:nvPr/>
        </p:nvSpPr>
        <p:spPr>
          <a:xfrm>
            <a:off x="6708746" y="1844622"/>
            <a:ext cx="4667177" cy="4121125"/>
          </a:xfrm>
          <a:prstGeom prst="roundRect">
            <a:avLst>
              <a:gd name="adj" fmla="val 1772"/>
            </a:avLst>
          </a:prstGeom>
          <a:solidFill>
            <a:srgbClr val="EAF0F8"/>
          </a:solidFill>
          <a:ln w="6350">
            <a:solidFill>
              <a:srgbClr val="C9D6E8"/>
            </a:solidFill>
            <a:prstDash val="solid"/>
          </a:ln>
        </p:spPr>
      </p:sp>
      <p:sp>
        <p:nvSpPr>
          <p:cNvPr id="7" name="Text 5">
            <a:extLst>
              <a:ext uri="{FF2B5EF4-FFF2-40B4-BE49-F238E27FC236}">
                <a16:creationId xmlns:a16="http://schemas.microsoft.com/office/drawing/2014/main" id="{1B6BE85D-8BED-D414-2183-D58D3FD69ACF}"/>
              </a:ext>
            </a:extLst>
          </p:cNvPr>
          <p:cNvSpPr/>
          <p:nvPr/>
        </p:nvSpPr>
        <p:spPr>
          <a:xfrm>
            <a:off x="965156" y="1943093"/>
            <a:ext cx="4656824"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IBM Plex Sans" pitchFamily="34" charset="0"/>
                <a:ea typeface="IBM Plex Sans" pitchFamily="34" charset="-122"/>
                <a:cs typeface="IBM Plex Sans" pitchFamily="34" charset="-120"/>
              </a:rPr>
              <a:t>KUBERNETES CLUSTER · KIND</a:t>
            </a:r>
            <a:endParaRPr lang="en-US" sz="1200" dirty="0"/>
          </a:p>
        </p:txBody>
      </p:sp>
      <p:sp>
        <p:nvSpPr>
          <p:cNvPr id="8" name="Text 6">
            <a:extLst>
              <a:ext uri="{FF2B5EF4-FFF2-40B4-BE49-F238E27FC236}">
                <a16:creationId xmlns:a16="http://schemas.microsoft.com/office/drawing/2014/main" id="{4BF88CD8-39BD-7269-6C61-DD4C2867186A}"/>
              </a:ext>
            </a:extLst>
          </p:cNvPr>
          <p:cNvSpPr/>
          <p:nvPr/>
        </p:nvSpPr>
        <p:spPr>
          <a:xfrm>
            <a:off x="6857995" y="1943093"/>
            <a:ext cx="4499826"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A8"/>
                </a:solidFill>
                <a:latin typeface="IBM Plex Sans" pitchFamily="34" charset="0"/>
                <a:ea typeface="IBM Plex Sans" pitchFamily="34" charset="-122"/>
                <a:cs typeface="IBM Plex Sans" pitchFamily="34" charset="-120"/>
              </a:rPr>
              <a:t>AUTOHEAL CONTROL PLANE · PYTHON</a:t>
            </a:r>
            <a:endParaRPr lang="en-US" sz="1200" dirty="0"/>
          </a:p>
        </p:txBody>
      </p:sp>
      <p:sp>
        <p:nvSpPr>
          <p:cNvPr id="9" name="Shape 7">
            <a:extLst>
              <a:ext uri="{FF2B5EF4-FFF2-40B4-BE49-F238E27FC236}">
                <a16:creationId xmlns:a16="http://schemas.microsoft.com/office/drawing/2014/main" id="{8024C5FC-4278-53F0-27CC-6F107D32D49D}"/>
              </a:ext>
            </a:extLst>
          </p:cNvPr>
          <p:cNvSpPr/>
          <p:nvPr/>
        </p:nvSpPr>
        <p:spPr>
          <a:xfrm>
            <a:off x="968331" y="2263726"/>
            <a:ext cx="1708149" cy="527007"/>
          </a:xfrm>
          <a:prstGeom prst="roundRect">
            <a:avLst>
              <a:gd name="adj" fmla="val 9037"/>
            </a:avLst>
          </a:prstGeom>
          <a:solidFill>
            <a:srgbClr val="FDFDFE"/>
          </a:solidFill>
          <a:ln w="6350">
            <a:solidFill>
              <a:srgbClr val="CBD3DD"/>
            </a:solidFill>
            <a:prstDash val="solid"/>
          </a:ln>
        </p:spPr>
      </p:sp>
      <p:sp>
        <p:nvSpPr>
          <p:cNvPr id="10" name="Text 8">
            <a:extLst>
              <a:ext uri="{FF2B5EF4-FFF2-40B4-BE49-F238E27FC236}">
                <a16:creationId xmlns:a16="http://schemas.microsoft.com/office/drawing/2014/main" id="{E61CDC71-E47E-0EC9-C560-2DE37AB0B858}"/>
              </a:ext>
            </a:extLst>
          </p:cNvPr>
          <p:cNvSpPr/>
          <p:nvPr/>
        </p:nvSpPr>
        <p:spPr>
          <a:xfrm>
            <a:off x="1072279" y="2344372"/>
            <a:ext cx="1551052"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Traffic generator</a:t>
            </a:r>
            <a:endParaRPr lang="en-US" sz="1200" dirty="0"/>
          </a:p>
        </p:txBody>
      </p:sp>
      <p:sp>
        <p:nvSpPr>
          <p:cNvPr id="11" name="Text 9">
            <a:extLst>
              <a:ext uri="{FF2B5EF4-FFF2-40B4-BE49-F238E27FC236}">
                <a16:creationId xmlns:a16="http://schemas.microsoft.com/office/drawing/2014/main" id="{9A4B5484-66C0-B626-FA0F-18B48B110E58}"/>
              </a:ext>
            </a:extLst>
          </p:cNvPr>
          <p:cNvSpPr/>
          <p:nvPr/>
        </p:nvSpPr>
        <p:spPr>
          <a:xfrm>
            <a:off x="1072279" y="2527229"/>
            <a:ext cx="1551052"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20 RPS · user SLI</a:t>
            </a:r>
            <a:endParaRPr lang="en-US" sz="1200" dirty="0"/>
          </a:p>
        </p:txBody>
      </p:sp>
      <p:sp>
        <p:nvSpPr>
          <p:cNvPr id="12" name="Shape 10">
            <a:extLst>
              <a:ext uri="{FF2B5EF4-FFF2-40B4-BE49-F238E27FC236}">
                <a16:creationId xmlns:a16="http://schemas.microsoft.com/office/drawing/2014/main" id="{8E49D9CD-9F55-CDC9-B619-BDDF2BF4460F}"/>
              </a:ext>
            </a:extLst>
          </p:cNvPr>
          <p:cNvSpPr/>
          <p:nvPr/>
        </p:nvSpPr>
        <p:spPr>
          <a:xfrm>
            <a:off x="2936813" y="2263726"/>
            <a:ext cx="946111" cy="527007"/>
          </a:xfrm>
          <a:prstGeom prst="roundRect">
            <a:avLst>
              <a:gd name="adj" fmla="val 9037"/>
            </a:avLst>
          </a:prstGeom>
          <a:solidFill>
            <a:srgbClr val="FDFDFE"/>
          </a:solidFill>
          <a:ln w="6350">
            <a:solidFill>
              <a:srgbClr val="CBD3DD"/>
            </a:solidFill>
            <a:prstDash val="solid"/>
          </a:ln>
        </p:spPr>
      </p:sp>
      <p:sp>
        <p:nvSpPr>
          <p:cNvPr id="13" name="Text 11">
            <a:extLst>
              <a:ext uri="{FF2B5EF4-FFF2-40B4-BE49-F238E27FC236}">
                <a16:creationId xmlns:a16="http://schemas.microsoft.com/office/drawing/2014/main" id="{CD62353D-F802-138F-F62E-A64D96CF6B9D}"/>
              </a:ext>
            </a:extLst>
          </p:cNvPr>
          <p:cNvSpPr/>
          <p:nvPr/>
        </p:nvSpPr>
        <p:spPr>
          <a:xfrm>
            <a:off x="3040762" y="2344372"/>
            <a:ext cx="78901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nginx</a:t>
            </a:r>
            <a:endParaRPr lang="en-US" sz="1200" dirty="0"/>
          </a:p>
        </p:txBody>
      </p:sp>
      <p:sp>
        <p:nvSpPr>
          <p:cNvPr id="14" name="Text 12">
            <a:extLst>
              <a:ext uri="{FF2B5EF4-FFF2-40B4-BE49-F238E27FC236}">
                <a16:creationId xmlns:a16="http://schemas.microsoft.com/office/drawing/2014/main" id="{C0EF0900-2773-505B-E556-6451595EB946}"/>
              </a:ext>
            </a:extLst>
          </p:cNvPr>
          <p:cNvSpPr/>
          <p:nvPr/>
        </p:nvSpPr>
        <p:spPr>
          <a:xfrm>
            <a:off x="3040762" y="2527229"/>
            <a:ext cx="78901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ingress</a:t>
            </a:r>
            <a:endParaRPr lang="en-US" sz="1200" dirty="0"/>
          </a:p>
        </p:txBody>
      </p:sp>
      <p:sp>
        <p:nvSpPr>
          <p:cNvPr id="15" name="Shape 13">
            <a:extLst>
              <a:ext uri="{FF2B5EF4-FFF2-40B4-BE49-F238E27FC236}">
                <a16:creationId xmlns:a16="http://schemas.microsoft.com/office/drawing/2014/main" id="{62B15A5F-C2BF-8278-196F-3B3F0391DAE0}"/>
              </a:ext>
            </a:extLst>
          </p:cNvPr>
          <p:cNvSpPr/>
          <p:nvPr/>
        </p:nvSpPr>
        <p:spPr>
          <a:xfrm>
            <a:off x="4143345" y="2263726"/>
            <a:ext cx="1339825" cy="527007"/>
          </a:xfrm>
          <a:prstGeom prst="roundRect">
            <a:avLst>
              <a:gd name="adj" fmla="val 9037"/>
            </a:avLst>
          </a:prstGeom>
          <a:solidFill>
            <a:srgbClr val="FDFDFE"/>
          </a:solidFill>
          <a:ln w="6350">
            <a:solidFill>
              <a:srgbClr val="CBD3DD"/>
            </a:solidFill>
            <a:prstDash val="solid"/>
          </a:ln>
        </p:spPr>
      </p:sp>
      <p:sp>
        <p:nvSpPr>
          <p:cNvPr id="16" name="Text 14">
            <a:extLst>
              <a:ext uri="{FF2B5EF4-FFF2-40B4-BE49-F238E27FC236}">
                <a16:creationId xmlns:a16="http://schemas.microsoft.com/office/drawing/2014/main" id="{2A3B3234-CDB0-2F4E-9A5F-6E38E9ADC589}"/>
              </a:ext>
            </a:extLst>
          </p:cNvPr>
          <p:cNvSpPr/>
          <p:nvPr/>
        </p:nvSpPr>
        <p:spPr>
          <a:xfrm>
            <a:off x="4247293" y="2344372"/>
            <a:ext cx="1182728"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API Gateway</a:t>
            </a:r>
            <a:endParaRPr lang="en-US" sz="1200" dirty="0"/>
          </a:p>
        </p:txBody>
      </p:sp>
      <p:sp>
        <p:nvSpPr>
          <p:cNvPr id="17" name="Text 15">
            <a:extLst>
              <a:ext uri="{FF2B5EF4-FFF2-40B4-BE49-F238E27FC236}">
                <a16:creationId xmlns:a16="http://schemas.microsoft.com/office/drawing/2014/main" id="{7E95C2A6-8637-5771-CC54-E95AC4386BE1}"/>
              </a:ext>
            </a:extLst>
          </p:cNvPr>
          <p:cNvSpPr/>
          <p:nvPr/>
        </p:nvSpPr>
        <p:spPr>
          <a:xfrm>
            <a:off x="4247293" y="2527229"/>
            <a:ext cx="1182728"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Express</a:t>
            </a:r>
            <a:endParaRPr lang="en-US" sz="1200" dirty="0"/>
          </a:p>
        </p:txBody>
      </p:sp>
      <p:sp>
        <p:nvSpPr>
          <p:cNvPr id="18" name="Shape 16">
            <a:extLst>
              <a:ext uri="{FF2B5EF4-FFF2-40B4-BE49-F238E27FC236}">
                <a16:creationId xmlns:a16="http://schemas.microsoft.com/office/drawing/2014/main" id="{BA5A9294-E5CD-F79C-AB51-9FA635E9B7A2}"/>
              </a:ext>
            </a:extLst>
          </p:cNvPr>
          <p:cNvSpPr/>
          <p:nvPr/>
        </p:nvSpPr>
        <p:spPr>
          <a:xfrm>
            <a:off x="968331" y="3051154"/>
            <a:ext cx="1428689" cy="527007"/>
          </a:xfrm>
          <a:prstGeom prst="roundRect">
            <a:avLst>
              <a:gd name="adj" fmla="val 9037"/>
            </a:avLst>
          </a:prstGeom>
          <a:solidFill>
            <a:srgbClr val="FDFDFE"/>
          </a:solidFill>
          <a:ln w="6350">
            <a:solidFill>
              <a:srgbClr val="CBD3DD"/>
            </a:solidFill>
            <a:prstDash val="solid"/>
          </a:ln>
        </p:spPr>
      </p:sp>
      <p:sp>
        <p:nvSpPr>
          <p:cNvPr id="19" name="Text 17">
            <a:extLst>
              <a:ext uri="{FF2B5EF4-FFF2-40B4-BE49-F238E27FC236}">
                <a16:creationId xmlns:a16="http://schemas.microsoft.com/office/drawing/2014/main" id="{1F479D20-E9D7-15E9-4A3B-1EE52E7AA54B}"/>
              </a:ext>
            </a:extLst>
          </p:cNvPr>
          <p:cNvSpPr/>
          <p:nvPr/>
        </p:nvSpPr>
        <p:spPr>
          <a:xfrm>
            <a:off x="1072279" y="313179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Product</a:t>
            </a:r>
            <a:endParaRPr lang="en-US" sz="1200" dirty="0"/>
          </a:p>
        </p:txBody>
      </p:sp>
      <p:sp>
        <p:nvSpPr>
          <p:cNvPr id="20" name="Text 18">
            <a:extLst>
              <a:ext uri="{FF2B5EF4-FFF2-40B4-BE49-F238E27FC236}">
                <a16:creationId xmlns:a16="http://schemas.microsoft.com/office/drawing/2014/main" id="{3347883E-4550-DB91-9803-409A509278E6}"/>
              </a:ext>
            </a:extLst>
          </p:cNvPr>
          <p:cNvSpPr/>
          <p:nvPr/>
        </p:nvSpPr>
        <p:spPr>
          <a:xfrm>
            <a:off x="1072279" y="331465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FastAPI</a:t>
            </a:r>
            <a:endParaRPr lang="en-US" sz="1200" dirty="0"/>
          </a:p>
        </p:txBody>
      </p:sp>
      <p:sp>
        <p:nvSpPr>
          <p:cNvPr id="21" name="Shape 19">
            <a:extLst>
              <a:ext uri="{FF2B5EF4-FFF2-40B4-BE49-F238E27FC236}">
                <a16:creationId xmlns:a16="http://schemas.microsoft.com/office/drawing/2014/main" id="{9403279E-56EA-6F92-7C0B-CB555EFA1E99}"/>
              </a:ext>
            </a:extLst>
          </p:cNvPr>
          <p:cNvSpPr/>
          <p:nvPr/>
        </p:nvSpPr>
        <p:spPr>
          <a:xfrm>
            <a:off x="2511362" y="3051154"/>
            <a:ext cx="1428689" cy="527007"/>
          </a:xfrm>
          <a:prstGeom prst="roundRect">
            <a:avLst>
              <a:gd name="adj" fmla="val 9037"/>
            </a:avLst>
          </a:prstGeom>
          <a:solidFill>
            <a:srgbClr val="FDFDFE"/>
          </a:solidFill>
          <a:ln w="6350">
            <a:solidFill>
              <a:srgbClr val="CBD3DD"/>
            </a:solidFill>
            <a:prstDash val="solid"/>
          </a:ln>
        </p:spPr>
      </p:sp>
      <p:sp>
        <p:nvSpPr>
          <p:cNvPr id="22" name="Text 20">
            <a:extLst>
              <a:ext uri="{FF2B5EF4-FFF2-40B4-BE49-F238E27FC236}">
                <a16:creationId xmlns:a16="http://schemas.microsoft.com/office/drawing/2014/main" id="{9BDBB742-CB4B-818A-68B6-EF051358F8CD}"/>
              </a:ext>
            </a:extLst>
          </p:cNvPr>
          <p:cNvSpPr/>
          <p:nvPr/>
        </p:nvSpPr>
        <p:spPr>
          <a:xfrm>
            <a:off x="2615311" y="313179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Order · saga</a:t>
            </a:r>
            <a:endParaRPr lang="en-US" sz="1200" dirty="0"/>
          </a:p>
        </p:txBody>
      </p:sp>
      <p:sp>
        <p:nvSpPr>
          <p:cNvPr id="23" name="Text 21">
            <a:extLst>
              <a:ext uri="{FF2B5EF4-FFF2-40B4-BE49-F238E27FC236}">
                <a16:creationId xmlns:a16="http://schemas.microsoft.com/office/drawing/2014/main" id="{F7D266E7-8671-5B5F-02EA-6401FF52575D}"/>
              </a:ext>
            </a:extLst>
          </p:cNvPr>
          <p:cNvSpPr/>
          <p:nvPr/>
        </p:nvSpPr>
        <p:spPr>
          <a:xfrm>
            <a:off x="2615311" y="331465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FastAPI</a:t>
            </a:r>
            <a:endParaRPr lang="en-US" sz="1200" dirty="0"/>
          </a:p>
        </p:txBody>
      </p:sp>
      <p:sp>
        <p:nvSpPr>
          <p:cNvPr id="24" name="Shape 22">
            <a:extLst>
              <a:ext uri="{FF2B5EF4-FFF2-40B4-BE49-F238E27FC236}">
                <a16:creationId xmlns:a16="http://schemas.microsoft.com/office/drawing/2014/main" id="{7EF64F2B-2C4A-EBB2-663C-859E514DE547}"/>
              </a:ext>
            </a:extLst>
          </p:cNvPr>
          <p:cNvSpPr/>
          <p:nvPr/>
        </p:nvSpPr>
        <p:spPr>
          <a:xfrm>
            <a:off x="4054394" y="3051154"/>
            <a:ext cx="1428689" cy="527007"/>
          </a:xfrm>
          <a:prstGeom prst="roundRect">
            <a:avLst>
              <a:gd name="adj" fmla="val 9037"/>
            </a:avLst>
          </a:prstGeom>
          <a:solidFill>
            <a:srgbClr val="FDFDFE"/>
          </a:solidFill>
          <a:ln w="6350">
            <a:solidFill>
              <a:srgbClr val="CBD3DD"/>
            </a:solidFill>
            <a:prstDash val="solid"/>
          </a:ln>
        </p:spPr>
      </p:sp>
      <p:sp>
        <p:nvSpPr>
          <p:cNvPr id="25" name="Text 23">
            <a:extLst>
              <a:ext uri="{FF2B5EF4-FFF2-40B4-BE49-F238E27FC236}">
                <a16:creationId xmlns:a16="http://schemas.microsoft.com/office/drawing/2014/main" id="{CCA91091-F893-E427-2288-E364F03D22AD}"/>
              </a:ext>
            </a:extLst>
          </p:cNvPr>
          <p:cNvSpPr/>
          <p:nvPr/>
        </p:nvSpPr>
        <p:spPr>
          <a:xfrm>
            <a:off x="4158342" y="313179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Payment</a:t>
            </a:r>
            <a:endParaRPr lang="en-US" sz="1200" dirty="0"/>
          </a:p>
        </p:txBody>
      </p:sp>
      <p:sp>
        <p:nvSpPr>
          <p:cNvPr id="26" name="Text 24">
            <a:extLst>
              <a:ext uri="{FF2B5EF4-FFF2-40B4-BE49-F238E27FC236}">
                <a16:creationId xmlns:a16="http://schemas.microsoft.com/office/drawing/2014/main" id="{79EDE06F-AA89-D222-E857-8894E2617DE2}"/>
              </a:ext>
            </a:extLst>
          </p:cNvPr>
          <p:cNvSpPr/>
          <p:nvPr/>
        </p:nvSpPr>
        <p:spPr>
          <a:xfrm>
            <a:off x="4158342" y="331465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FastAPI</a:t>
            </a:r>
            <a:endParaRPr lang="en-US" sz="1200" dirty="0"/>
          </a:p>
        </p:txBody>
      </p:sp>
      <p:sp>
        <p:nvSpPr>
          <p:cNvPr id="27" name="Shape 25">
            <a:extLst>
              <a:ext uri="{FF2B5EF4-FFF2-40B4-BE49-F238E27FC236}">
                <a16:creationId xmlns:a16="http://schemas.microsoft.com/office/drawing/2014/main" id="{CAEC4C8A-E9B5-8284-0858-C040D775312F}"/>
              </a:ext>
            </a:extLst>
          </p:cNvPr>
          <p:cNvSpPr/>
          <p:nvPr/>
        </p:nvSpPr>
        <p:spPr>
          <a:xfrm>
            <a:off x="968331" y="3813105"/>
            <a:ext cx="1428689" cy="527007"/>
          </a:xfrm>
          <a:prstGeom prst="roundRect">
            <a:avLst>
              <a:gd name="adj" fmla="val 9037"/>
            </a:avLst>
          </a:prstGeom>
          <a:solidFill>
            <a:srgbClr val="FDFDFE"/>
          </a:solidFill>
          <a:ln w="6350">
            <a:solidFill>
              <a:srgbClr val="CBD3DD"/>
            </a:solidFill>
            <a:prstDash val="solid"/>
          </a:ln>
        </p:spPr>
      </p:sp>
      <p:sp>
        <p:nvSpPr>
          <p:cNvPr id="28" name="Text 26">
            <a:extLst>
              <a:ext uri="{FF2B5EF4-FFF2-40B4-BE49-F238E27FC236}">
                <a16:creationId xmlns:a16="http://schemas.microsoft.com/office/drawing/2014/main" id="{0BFC40AC-D624-32B9-E0D9-C4C471EE0701}"/>
              </a:ext>
            </a:extLst>
          </p:cNvPr>
          <p:cNvSpPr/>
          <p:nvPr/>
        </p:nvSpPr>
        <p:spPr>
          <a:xfrm>
            <a:off x="1072279" y="3893751"/>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Notification</a:t>
            </a:r>
            <a:endParaRPr lang="en-US" sz="1200" dirty="0"/>
          </a:p>
        </p:txBody>
      </p:sp>
      <p:sp>
        <p:nvSpPr>
          <p:cNvPr id="29" name="Text 27">
            <a:extLst>
              <a:ext uri="{FF2B5EF4-FFF2-40B4-BE49-F238E27FC236}">
                <a16:creationId xmlns:a16="http://schemas.microsoft.com/office/drawing/2014/main" id="{DD6BB661-EA9F-3E13-0947-1FE1C1B5503E}"/>
              </a:ext>
            </a:extLst>
          </p:cNvPr>
          <p:cNvSpPr/>
          <p:nvPr/>
        </p:nvSpPr>
        <p:spPr>
          <a:xfrm>
            <a:off x="1072279" y="4076609"/>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Express</a:t>
            </a:r>
            <a:endParaRPr lang="en-US" sz="1200" dirty="0"/>
          </a:p>
        </p:txBody>
      </p:sp>
      <p:sp>
        <p:nvSpPr>
          <p:cNvPr id="30" name="Shape 28">
            <a:extLst>
              <a:ext uri="{FF2B5EF4-FFF2-40B4-BE49-F238E27FC236}">
                <a16:creationId xmlns:a16="http://schemas.microsoft.com/office/drawing/2014/main" id="{2D284F65-5640-3497-09C5-1BAE8EB5C1E6}"/>
              </a:ext>
            </a:extLst>
          </p:cNvPr>
          <p:cNvSpPr/>
          <p:nvPr/>
        </p:nvSpPr>
        <p:spPr>
          <a:xfrm>
            <a:off x="2511362" y="3813105"/>
            <a:ext cx="1428689" cy="527007"/>
          </a:xfrm>
          <a:prstGeom prst="roundRect">
            <a:avLst>
              <a:gd name="adj" fmla="val 9037"/>
            </a:avLst>
          </a:prstGeom>
          <a:solidFill>
            <a:srgbClr val="FDFDFE"/>
          </a:solidFill>
          <a:ln w="6350">
            <a:solidFill>
              <a:srgbClr val="CBD3DD"/>
            </a:solidFill>
            <a:prstDash val="solid"/>
          </a:ln>
        </p:spPr>
      </p:sp>
      <p:sp>
        <p:nvSpPr>
          <p:cNvPr id="31" name="Text 29">
            <a:extLst>
              <a:ext uri="{FF2B5EF4-FFF2-40B4-BE49-F238E27FC236}">
                <a16:creationId xmlns:a16="http://schemas.microsoft.com/office/drawing/2014/main" id="{C012696A-F776-9804-54BC-72F8F441659D}"/>
              </a:ext>
            </a:extLst>
          </p:cNvPr>
          <p:cNvSpPr/>
          <p:nvPr/>
        </p:nvSpPr>
        <p:spPr>
          <a:xfrm>
            <a:off x="2615311" y="3893751"/>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PostgreSQL 16</a:t>
            </a:r>
            <a:endParaRPr lang="en-US" sz="1200" dirty="0"/>
          </a:p>
        </p:txBody>
      </p:sp>
      <p:sp>
        <p:nvSpPr>
          <p:cNvPr id="32" name="Text 30">
            <a:extLst>
              <a:ext uri="{FF2B5EF4-FFF2-40B4-BE49-F238E27FC236}">
                <a16:creationId xmlns:a16="http://schemas.microsoft.com/office/drawing/2014/main" id="{B2E02B9B-6D5C-3ABD-E69B-B4C5380B2ACE}"/>
              </a:ext>
            </a:extLst>
          </p:cNvPr>
          <p:cNvSpPr/>
          <p:nvPr/>
        </p:nvSpPr>
        <p:spPr>
          <a:xfrm>
            <a:off x="2615311" y="4076609"/>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StatefulSet</a:t>
            </a:r>
            <a:endParaRPr lang="en-US" sz="1200" dirty="0"/>
          </a:p>
        </p:txBody>
      </p:sp>
      <p:sp>
        <p:nvSpPr>
          <p:cNvPr id="33" name="Shape 31">
            <a:extLst>
              <a:ext uri="{FF2B5EF4-FFF2-40B4-BE49-F238E27FC236}">
                <a16:creationId xmlns:a16="http://schemas.microsoft.com/office/drawing/2014/main" id="{53F7D649-CC63-9383-EBBF-F70A419C1520}"/>
              </a:ext>
            </a:extLst>
          </p:cNvPr>
          <p:cNvSpPr/>
          <p:nvPr/>
        </p:nvSpPr>
        <p:spPr>
          <a:xfrm>
            <a:off x="4054394" y="3813105"/>
            <a:ext cx="1428689" cy="527007"/>
          </a:xfrm>
          <a:prstGeom prst="roundRect">
            <a:avLst>
              <a:gd name="adj" fmla="val 9037"/>
            </a:avLst>
          </a:prstGeom>
          <a:solidFill>
            <a:srgbClr val="FDFDFE"/>
          </a:solidFill>
          <a:ln w="6350">
            <a:solidFill>
              <a:srgbClr val="CBD3DD"/>
            </a:solidFill>
            <a:prstDash val="solid"/>
          </a:ln>
        </p:spPr>
      </p:sp>
      <p:sp>
        <p:nvSpPr>
          <p:cNvPr id="34" name="Text 32">
            <a:extLst>
              <a:ext uri="{FF2B5EF4-FFF2-40B4-BE49-F238E27FC236}">
                <a16:creationId xmlns:a16="http://schemas.microsoft.com/office/drawing/2014/main" id="{F9A11581-DB94-3431-14D9-CC5A6A0DF69E}"/>
              </a:ext>
            </a:extLst>
          </p:cNvPr>
          <p:cNvSpPr/>
          <p:nvPr/>
        </p:nvSpPr>
        <p:spPr>
          <a:xfrm>
            <a:off x="4158342" y="3893751"/>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Redis 7.4</a:t>
            </a:r>
            <a:endParaRPr lang="en-US" sz="1200" dirty="0"/>
          </a:p>
        </p:txBody>
      </p:sp>
      <p:sp>
        <p:nvSpPr>
          <p:cNvPr id="35" name="Text 33">
            <a:extLst>
              <a:ext uri="{FF2B5EF4-FFF2-40B4-BE49-F238E27FC236}">
                <a16:creationId xmlns:a16="http://schemas.microsoft.com/office/drawing/2014/main" id="{FE0E9AEB-99FF-1756-9F22-C25947824D48}"/>
              </a:ext>
            </a:extLst>
          </p:cNvPr>
          <p:cNvSpPr/>
          <p:nvPr/>
        </p:nvSpPr>
        <p:spPr>
          <a:xfrm>
            <a:off x="4158342" y="4076609"/>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product cache</a:t>
            </a:r>
            <a:endParaRPr lang="en-US" sz="1200" dirty="0"/>
          </a:p>
        </p:txBody>
      </p:sp>
      <p:sp>
        <p:nvSpPr>
          <p:cNvPr id="36" name="Shape 34">
            <a:extLst>
              <a:ext uri="{FF2B5EF4-FFF2-40B4-BE49-F238E27FC236}">
                <a16:creationId xmlns:a16="http://schemas.microsoft.com/office/drawing/2014/main" id="{709D6A6B-63D4-A41A-F5FF-4F53327297C9}"/>
              </a:ext>
            </a:extLst>
          </p:cNvPr>
          <p:cNvSpPr/>
          <p:nvPr/>
        </p:nvSpPr>
        <p:spPr>
          <a:xfrm>
            <a:off x="968331" y="4575143"/>
            <a:ext cx="1428689" cy="527007"/>
          </a:xfrm>
          <a:prstGeom prst="roundRect">
            <a:avLst>
              <a:gd name="adj" fmla="val 9037"/>
            </a:avLst>
          </a:prstGeom>
          <a:solidFill>
            <a:srgbClr val="FDFDFE"/>
          </a:solidFill>
          <a:ln w="6350">
            <a:solidFill>
              <a:srgbClr val="CBD3DD"/>
            </a:solidFill>
            <a:prstDash val="solid"/>
          </a:ln>
        </p:spPr>
      </p:sp>
      <p:sp>
        <p:nvSpPr>
          <p:cNvPr id="37" name="Text 35">
            <a:extLst>
              <a:ext uri="{FF2B5EF4-FFF2-40B4-BE49-F238E27FC236}">
                <a16:creationId xmlns:a16="http://schemas.microsoft.com/office/drawing/2014/main" id="{72F97DFD-E118-931F-97E2-8BB3F07B7A09}"/>
              </a:ext>
            </a:extLst>
          </p:cNvPr>
          <p:cNvSpPr/>
          <p:nvPr/>
        </p:nvSpPr>
        <p:spPr>
          <a:xfrm>
            <a:off x="1072279" y="465578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Prometheus</a:t>
            </a:r>
            <a:endParaRPr lang="en-US" sz="1200" dirty="0"/>
          </a:p>
        </p:txBody>
      </p:sp>
      <p:sp>
        <p:nvSpPr>
          <p:cNvPr id="38" name="Text 36">
            <a:extLst>
              <a:ext uri="{FF2B5EF4-FFF2-40B4-BE49-F238E27FC236}">
                <a16:creationId xmlns:a16="http://schemas.microsoft.com/office/drawing/2014/main" id="{A8F0AF10-A093-A57A-A6FE-821AAF96C196}"/>
              </a:ext>
            </a:extLst>
          </p:cNvPr>
          <p:cNvSpPr/>
          <p:nvPr/>
        </p:nvSpPr>
        <p:spPr>
          <a:xfrm>
            <a:off x="1072279" y="483864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5 s scrapes</a:t>
            </a:r>
            <a:endParaRPr lang="en-US" sz="1200" dirty="0"/>
          </a:p>
        </p:txBody>
      </p:sp>
      <p:sp>
        <p:nvSpPr>
          <p:cNvPr id="39" name="Shape 37">
            <a:extLst>
              <a:ext uri="{FF2B5EF4-FFF2-40B4-BE49-F238E27FC236}">
                <a16:creationId xmlns:a16="http://schemas.microsoft.com/office/drawing/2014/main" id="{77E78F99-EB1A-85DD-80DA-E1E90A67BFEE}"/>
              </a:ext>
            </a:extLst>
          </p:cNvPr>
          <p:cNvSpPr/>
          <p:nvPr/>
        </p:nvSpPr>
        <p:spPr>
          <a:xfrm>
            <a:off x="2511362" y="4575143"/>
            <a:ext cx="1428689" cy="527007"/>
          </a:xfrm>
          <a:prstGeom prst="roundRect">
            <a:avLst>
              <a:gd name="adj" fmla="val 9037"/>
            </a:avLst>
          </a:prstGeom>
          <a:solidFill>
            <a:srgbClr val="FDFDFE"/>
          </a:solidFill>
          <a:ln w="6350">
            <a:solidFill>
              <a:srgbClr val="CBD3DD"/>
            </a:solidFill>
            <a:prstDash val="solid"/>
          </a:ln>
        </p:spPr>
      </p:sp>
      <p:sp>
        <p:nvSpPr>
          <p:cNvPr id="40" name="Text 38">
            <a:extLst>
              <a:ext uri="{FF2B5EF4-FFF2-40B4-BE49-F238E27FC236}">
                <a16:creationId xmlns:a16="http://schemas.microsoft.com/office/drawing/2014/main" id="{7CABBE41-6A73-9673-E936-8AB02BA65075}"/>
              </a:ext>
            </a:extLst>
          </p:cNvPr>
          <p:cNvSpPr/>
          <p:nvPr/>
        </p:nvSpPr>
        <p:spPr>
          <a:xfrm>
            <a:off x="2615311" y="465578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Autoscaling</a:t>
            </a:r>
            <a:endParaRPr lang="en-US" sz="1200" dirty="0"/>
          </a:p>
        </p:txBody>
      </p:sp>
      <p:sp>
        <p:nvSpPr>
          <p:cNvPr id="41" name="Text 39">
            <a:extLst>
              <a:ext uri="{FF2B5EF4-FFF2-40B4-BE49-F238E27FC236}">
                <a16:creationId xmlns:a16="http://schemas.microsoft.com/office/drawing/2014/main" id="{86D49D47-DBEC-CE42-FD7C-F594CEBCDF14}"/>
              </a:ext>
            </a:extLst>
          </p:cNvPr>
          <p:cNvSpPr/>
          <p:nvPr/>
        </p:nvSpPr>
        <p:spPr>
          <a:xfrm>
            <a:off x="2615311" y="483864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HPA 2–4 pods</a:t>
            </a:r>
            <a:endParaRPr lang="en-US" sz="1200" dirty="0"/>
          </a:p>
        </p:txBody>
      </p:sp>
      <p:sp>
        <p:nvSpPr>
          <p:cNvPr id="42" name="Shape 40">
            <a:extLst>
              <a:ext uri="{FF2B5EF4-FFF2-40B4-BE49-F238E27FC236}">
                <a16:creationId xmlns:a16="http://schemas.microsoft.com/office/drawing/2014/main" id="{2BE5B1CE-31CD-63AE-114E-1E714D8A025C}"/>
              </a:ext>
            </a:extLst>
          </p:cNvPr>
          <p:cNvSpPr/>
          <p:nvPr/>
        </p:nvSpPr>
        <p:spPr>
          <a:xfrm>
            <a:off x="4054394" y="4575143"/>
            <a:ext cx="1428689" cy="527007"/>
          </a:xfrm>
          <a:prstGeom prst="roundRect">
            <a:avLst>
              <a:gd name="adj" fmla="val 9037"/>
            </a:avLst>
          </a:prstGeom>
          <a:solidFill>
            <a:srgbClr val="FBF1E8"/>
          </a:solidFill>
          <a:ln w="6350">
            <a:solidFill>
              <a:srgbClr val="E2B48A"/>
            </a:solidFill>
            <a:prstDash val="solid"/>
          </a:ln>
        </p:spPr>
      </p:sp>
      <p:sp>
        <p:nvSpPr>
          <p:cNvPr id="43" name="Text 41">
            <a:extLst>
              <a:ext uri="{FF2B5EF4-FFF2-40B4-BE49-F238E27FC236}">
                <a16:creationId xmlns:a16="http://schemas.microsoft.com/office/drawing/2014/main" id="{4122CCD7-AE2C-BB5D-CF85-D00B5387DBE7}"/>
              </a:ext>
            </a:extLst>
          </p:cNvPr>
          <p:cNvSpPr/>
          <p:nvPr/>
        </p:nvSpPr>
        <p:spPr>
          <a:xfrm>
            <a:off x="4158342" y="4655789"/>
            <a:ext cx="1271591"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Chaos agent</a:t>
            </a:r>
            <a:endParaRPr lang="en-US" sz="1200" dirty="0"/>
          </a:p>
        </p:txBody>
      </p:sp>
      <p:sp>
        <p:nvSpPr>
          <p:cNvPr id="44" name="Text 42">
            <a:extLst>
              <a:ext uri="{FF2B5EF4-FFF2-40B4-BE49-F238E27FC236}">
                <a16:creationId xmlns:a16="http://schemas.microsoft.com/office/drawing/2014/main" id="{ABB573FB-1C82-6CE7-059D-B4E33674068C}"/>
              </a:ext>
            </a:extLst>
          </p:cNvPr>
          <p:cNvSpPr/>
          <p:nvPr/>
        </p:nvSpPr>
        <p:spPr>
          <a:xfrm>
            <a:off x="4158342" y="4838647"/>
            <a:ext cx="1271591"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DaemonSet · tc</a:t>
            </a:r>
            <a:endParaRPr lang="en-US" sz="1200" dirty="0"/>
          </a:p>
        </p:txBody>
      </p:sp>
      <p:sp>
        <p:nvSpPr>
          <p:cNvPr id="45" name="Text 43">
            <a:extLst>
              <a:ext uri="{FF2B5EF4-FFF2-40B4-BE49-F238E27FC236}">
                <a16:creationId xmlns:a16="http://schemas.microsoft.com/office/drawing/2014/main" id="{E519AB31-93C6-B9D8-4543-93F2DDD452DF}"/>
              </a:ext>
            </a:extLst>
          </p:cNvPr>
          <p:cNvSpPr/>
          <p:nvPr/>
        </p:nvSpPr>
        <p:spPr>
          <a:xfrm>
            <a:off x="968331" y="5337094"/>
            <a:ext cx="4514839" cy="476228"/>
          </a:xfrm>
          <a:prstGeom prst="roundRect">
            <a:avLst>
              <a:gd name="adj" fmla="val 10000"/>
            </a:avLst>
          </a:prstGeom>
          <a:solidFill>
            <a:srgbClr val="FDFDFE"/>
          </a:solidFill>
          <a:ln w="6350">
            <a:solidFill>
              <a:srgbClr val="CBD3DD"/>
            </a:solidFill>
            <a:prstDash val="solid"/>
          </a:ln>
        </p:spPr>
        <p:txBody>
          <a:bodyPr wrap="square" lIns="90000" tIns="0" rIns="0" bIns="0" rtlCol="0" anchor="ctr">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Kubernetes API — pods, HPA, NetworkPolicy</a:t>
            </a:r>
            <a:endParaRPr lang="en-US" sz="1200" dirty="0"/>
          </a:p>
        </p:txBody>
      </p:sp>
      <p:sp>
        <p:nvSpPr>
          <p:cNvPr id="46" name="Shape 44">
            <a:extLst>
              <a:ext uri="{FF2B5EF4-FFF2-40B4-BE49-F238E27FC236}">
                <a16:creationId xmlns:a16="http://schemas.microsoft.com/office/drawing/2014/main" id="{A6BBF0BB-6A16-EAA5-4026-9A8C3CDC06B2}"/>
              </a:ext>
            </a:extLst>
          </p:cNvPr>
          <p:cNvSpPr/>
          <p:nvPr/>
        </p:nvSpPr>
        <p:spPr>
          <a:xfrm>
            <a:off x="6861170" y="2263726"/>
            <a:ext cx="2076386" cy="527007"/>
          </a:xfrm>
          <a:prstGeom prst="roundRect">
            <a:avLst>
              <a:gd name="adj" fmla="val 9037"/>
            </a:avLst>
          </a:prstGeom>
          <a:solidFill>
            <a:srgbClr val="FBF1E8"/>
          </a:solidFill>
          <a:ln w="6350">
            <a:solidFill>
              <a:srgbClr val="E2B48A"/>
            </a:solidFill>
            <a:prstDash val="solid"/>
          </a:ln>
        </p:spPr>
      </p:sp>
      <p:sp>
        <p:nvSpPr>
          <p:cNvPr id="47" name="Text 45">
            <a:extLst>
              <a:ext uri="{FF2B5EF4-FFF2-40B4-BE49-F238E27FC236}">
                <a16:creationId xmlns:a16="http://schemas.microsoft.com/office/drawing/2014/main" id="{0B901227-E77F-A9B7-E646-CF95272C4273}"/>
              </a:ext>
            </a:extLst>
          </p:cNvPr>
          <p:cNvSpPr/>
          <p:nvPr/>
        </p:nvSpPr>
        <p:spPr>
          <a:xfrm>
            <a:off x="6965119" y="2344372"/>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Fault injectors ×5</a:t>
            </a:r>
            <a:endParaRPr lang="en-US" sz="1200" dirty="0"/>
          </a:p>
        </p:txBody>
      </p:sp>
      <p:sp>
        <p:nvSpPr>
          <p:cNvPr id="48" name="Text 46">
            <a:extLst>
              <a:ext uri="{FF2B5EF4-FFF2-40B4-BE49-F238E27FC236}">
                <a16:creationId xmlns:a16="http://schemas.microsoft.com/office/drawing/2014/main" id="{79ED6127-3097-E68A-B882-3A189C443B1F}"/>
              </a:ext>
            </a:extLst>
          </p:cNvPr>
          <p:cNvSpPr/>
          <p:nvPr/>
        </p:nvSpPr>
        <p:spPr>
          <a:xfrm>
            <a:off x="6965119" y="2527229"/>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inject · reverse</a:t>
            </a:r>
            <a:endParaRPr lang="en-US" sz="1200" dirty="0"/>
          </a:p>
        </p:txBody>
      </p:sp>
      <p:sp>
        <p:nvSpPr>
          <p:cNvPr id="49" name="Shape 47">
            <a:extLst>
              <a:ext uri="{FF2B5EF4-FFF2-40B4-BE49-F238E27FC236}">
                <a16:creationId xmlns:a16="http://schemas.microsoft.com/office/drawing/2014/main" id="{6F9D1591-CFB1-41A8-0E09-E2BB8A3E414B}"/>
              </a:ext>
            </a:extLst>
          </p:cNvPr>
          <p:cNvSpPr/>
          <p:nvPr/>
        </p:nvSpPr>
        <p:spPr>
          <a:xfrm>
            <a:off x="9147111" y="2263726"/>
            <a:ext cx="2076386" cy="527007"/>
          </a:xfrm>
          <a:prstGeom prst="roundRect">
            <a:avLst>
              <a:gd name="adj" fmla="val 9037"/>
            </a:avLst>
          </a:prstGeom>
          <a:solidFill>
            <a:srgbClr val="FBF1E8"/>
          </a:solidFill>
          <a:ln w="6350">
            <a:solidFill>
              <a:srgbClr val="E2B48A"/>
            </a:solidFill>
            <a:prstDash val="solid"/>
          </a:ln>
        </p:spPr>
      </p:sp>
      <p:sp>
        <p:nvSpPr>
          <p:cNvPr id="50" name="Text 48">
            <a:extLst>
              <a:ext uri="{FF2B5EF4-FFF2-40B4-BE49-F238E27FC236}">
                <a16:creationId xmlns:a16="http://schemas.microsoft.com/office/drawing/2014/main" id="{ADEB23E2-4BA7-5120-3A59-12068B9F64D3}"/>
              </a:ext>
            </a:extLst>
          </p:cNvPr>
          <p:cNvSpPr/>
          <p:nvPr/>
        </p:nvSpPr>
        <p:spPr>
          <a:xfrm>
            <a:off x="9251059" y="2344372"/>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Chaos Planner</a:t>
            </a:r>
            <a:endParaRPr lang="en-US" sz="1200" dirty="0"/>
          </a:p>
        </p:txBody>
      </p:sp>
      <p:sp>
        <p:nvSpPr>
          <p:cNvPr id="51" name="Text 49">
            <a:extLst>
              <a:ext uri="{FF2B5EF4-FFF2-40B4-BE49-F238E27FC236}">
                <a16:creationId xmlns:a16="http://schemas.microsoft.com/office/drawing/2014/main" id="{EC5740B4-7168-9474-0A22-A324CDC0212C}"/>
              </a:ext>
            </a:extLst>
          </p:cNvPr>
          <p:cNvSpPr/>
          <p:nvPr/>
        </p:nvSpPr>
        <p:spPr>
          <a:xfrm>
            <a:off x="9251059" y="2527229"/>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rules + LLM (Groq)</a:t>
            </a:r>
            <a:endParaRPr lang="en-US" sz="1200" dirty="0"/>
          </a:p>
        </p:txBody>
      </p:sp>
      <p:sp>
        <p:nvSpPr>
          <p:cNvPr id="52" name="Shape 50">
            <a:extLst>
              <a:ext uri="{FF2B5EF4-FFF2-40B4-BE49-F238E27FC236}">
                <a16:creationId xmlns:a16="http://schemas.microsoft.com/office/drawing/2014/main" id="{8F80D028-7132-2AF5-A21C-6CFA129B58C5}"/>
              </a:ext>
            </a:extLst>
          </p:cNvPr>
          <p:cNvSpPr/>
          <p:nvPr/>
        </p:nvSpPr>
        <p:spPr>
          <a:xfrm>
            <a:off x="6861170" y="3051154"/>
            <a:ext cx="2076386" cy="527007"/>
          </a:xfrm>
          <a:prstGeom prst="roundRect">
            <a:avLst>
              <a:gd name="adj" fmla="val 9037"/>
            </a:avLst>
          </a:prstGeom>
          <a:solidFill>
            <a:srgbClr val="FDFDFE"/>
          </a:solidFill>
          <a:ln w="6350">
            <a:solidFill>
              <a:srgbClr val="C3D0E2"/>
            </a:solidFill>
            <a:prstDash val="solid"/>
          </a:ln>
        </p:spPr>
      </p:sp>
      <p:sp>
        <p:nvSpPr>
          <p:cNvPr id="53" name="Text 51">
            <a:extLst>
              <a:ext uri="{FF2B5EF4-FFF2-40B4-BE49-F238E27FC236}">
                <a16:creationId xmlns:a16="http://schemas.microsoft.com/office/drawing/2014/main" id="{CF8067B9-887B-83FD-B99E-2FF77B505C45}"/>
              </a:ext>
            </a:extLst>
          </p:cNvPr>
          <p:cNvSpPr/>
          <p:nvPr/>
        </p:nvSpPr>
        <p:spPr>
          <a:xfrm>
            <a:off x="6965119" y="3131799"/>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Telemetry</a:t>
            </a:r>
            <a:endParaRPr lang="en-US" sz="1200" dirty="0"/>
          </a:p>
        </p:txBody>
      </p:sp>
      <p:sp>
        <p:nvSpPr>
          <p:cNvPr id="54" name="Text 52">
            <a:extLst>
              <a:ext uri="{FF2B5EF4-FFF2-40B4-BE49-F238E27FC236}">
                <a16:creationId xmlns:a16="http://schemas.microsoft.com/office/drawing/2014/main" id="{C35F4DA7-934F-DECA-025F-45162F2636AE}"/>
              </a:ext>
            </a:extLst>
          </p:cNvPr>
          <p:cNvSpPr/>
          <p:nvPr/>
        </p:nvSpPr>
        <p:spPr>
          <a:xfrm>
            <a:off x="6965119" y="3314657"/>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9 features each</a:t>
            </a:r>
            <a:endParaRPr lang="en-US" sz="1200" dirty="0"/>
          </a:p>
        </p:txBody>
      </p:sp>
      <p:sp>
        <p:nvSpPr>
          <p:cNvPr id="55" name="Shape 53">
            <a:extLst>
              <a:ext uri="{FF2B5EF4-FFF2-40B4-BE49-F238E27FC236}">
                <a16:creationId xmlns:a16="http://schemas.microsoft.com/office/drawing/2014/main" id="{11F50709-16C6-9536-E7C7-C26A5EA17996}"/>
              </a:ext>
            </a:extLst>
          </p:cNvPr>
          <p:cNvSpPr/>
          <p:nvPr/>
        </p:nvSpPr>
        <p:spPr>
          <a:xfrm>
            <a:off x="9147111" y="3051154"/>
            <a:ext cx="2076386" cy="527007"/>
          </a:xfrm>
          <a:prstGeom prst="roundRect">
            <a:avLst>
              <a:gd name="adj" fmla="val 9037"/>
            </a:avLst>
          </a:prstGeom>
          <a:solidFill>
            <a:srgbClr val="FDFDFE"/>
          </a:solidFill>
          <a:ln w="6350">
            <a:solidFill>
              <a:srgbClr val="C3D0E2"/>
            </a:solidFill>
            <a:prstDash val="solid"/>
          </a:ln>
        </p:spPr>
      </p:sp>
      <p:sp>
        <p:nvSpPr>
          <p:cNvPr id="56" name="Text 54">
            <a:extLst>
              <a:ext uri="{FF2B5EF4-FFF2-40B4-BE49-F238E27FC236}">
                <a16:creationId xmlns:a16="http://schemas.microsoft.com/office/drawing/2014/main" id="{016A6893-B245-7235-432C-4F49D91D5A4F}"/>
              </a:ext>
            </a:extLst>
          </p:cNvPr>
          <p:cNvSpPr/>
          <p:nvPr/>
        </p:nvSpPr>
        <p:spPr>
          <a:xfrm>
            <a:off x="9251059" y="3131799"/>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Anomaly detector</a:t>
            </a:r>
            <a:endParaRPr lang="en-US" sz="1200" dirty="0"/>
          </a:p>
        </p:txBody>
      </p:sp>
      <p:sp>
        <p:nvSpPr>
          <p:cNvPr id="57" name="Text 55">
            <a:extLst>
              <a:ext uri="{FF2B5EF4-FFF2-40B4-BE49-F238E27FC236}">
                <a16:creationId xmlns:a16="http://schemas.microsoft.com/office/drawing/2014/main" id="{6905B7CB-4E7C-5A36-C59C-153EC5F42AEF}"/>
              </a:ext>
            </a:extLst>
          </p:cNvPr>
          <p:cNvSpPr/>
          <p:nvPr/>
        </p:nvSpPr>
        <p:spPr>
          <a:xfrm>
            <a:off x="9251059" y="3314657"/>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IF · z-rule · LSTM</a:t>
            </a:r>
            <a:endParaRPr lang="en-US" sz="1200" dirty="0"/>
          </a:p>
        </p:txBody>
      </p:sp>
      <p:sp>
        <p:nvSpPr>
          <p:cNvPr id="58" name="Shape 56">
            <a:extLst>
              <a:ext uri="{FF2B5EF4-FFF2-40B4-BE49-F238E27FC236}">
                <a16:creationId xmlns:a16="http://schemas.microsoft.com/office/drawing/2014/main" id="{74008BDE-EB53-A4D6-6B8A-84F88933B280}"/>
              </a:ext>
            </a:extLst>
          </p:cNvPr>
          <p:cNvSpPr/>
          <p:nvPr/>
        </p:nvSpPr>
        <p:spPr>
          <a:xfrm>
            <a:off x="6861170" y="3813105"/>
            <a:ext cx="2076386" cy="527007"/>
          </a:xfrm>
          <a:prstGeom prst="roundRect">
            <a:avLst>
              <a:gd name="adj" fmla="val 9037"/>
            </a:avLst>
          </a:prstGeom>
          <a:solidFill>
            <a:srgbClr val="FDFDFE"/>
          </a:solidFill>
          <a:ln w="6350">
            <a:solidFill>
              <a:srgbClr val="C3D0E2"/>
            </a:solidFill>
            <a:prstDash val="solid"/>
          </a:ln>
        </p:spPr>
      </p:sp>
      <p:sp>
        <p:nvSpPr>
          <p:cNvPr id="59" name="Text 57">
            <a:extLst>
              <a:ext uri="{FF2B5EF4-FFF2-40B4-BE49-F238E27FC236}">
                <a16:creationId xmlns:a16="http://schemas.microsoft.com/office/drawing/2014/main" id="{7AD4AE6E-8487-107A-00AB-85D29D94194E}"/>
              </a:ext>
            </a:extLst>
          </p:cNvPr>
          <p:cNvSpPr/>
          <p:nvPr/>
        </p:nvSpPr>
        <p:spPr>
          <a:xfrm>
            <a:off x="6965119" y="3893751"/>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Decision engine</a:t>
            </a:r>
            <a:endParaRPr lang="en-US" sz="1200" dirty="0"/>
          </a:p>
        </p:txBody>
      </p:sp>
      <p:sp>
        <p:nvSpPr>
          <p:cNvPr id="60" name="Text 58">
            <a:extLst>
              <a:ext uri="{FF2B5EF4-FFF2-40B4-BE49-F238E27FC236}">
                <a16:creationId xmlns:a16="http://schemas.microsoft.com/office/drawing/2014/main" id="{5FCCE2C1-01B0-E1E8-1AEE-29D33647A6CC}"/>
              </a:ext>
            </a:extLst>
          </p:cNvPr>
          <p:cNvSpPr/>
          <p:nvPr/>
        </p:nvSpPr>
        <p:spPr>
          <a:xfrm>
            <a:off x="6965119" y="4076609"/>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playbooks · G1–G4</a:t>
            </a:r>
            <a:endParaRPr lang="en-US" sz="1200" dirty="0"/>
          </a:p>
        </p:txBody>
      </p:sp>
      <p:sp>
        <p:nvSpPr>
          <p:cNvPr id="61" name="Shape 59">
            <a:extLst>
              <a:ext uri="{FF2B5EF4-FFF2-40B4-BE49-F238E27FC236}">
                <a16:creationId xmlns:a16="http://schemas.microsoft.com/office/drawing/2014/main" id="{52A07DE4-2A62-7039-87FD-36595392DDB6}"/>
              </a:ext>
            </a:extLst>
          </p:cNvPr>
          <p:cNvSpPr/>
          <p:nvPr/>
        </p:nvSpPr>
        <p:spPr>
          <a:xfrm>
            <a:off x="9147111" y="3813105"/>
            <a:ext cx="2076386" cy="527007"/>
          </a:xfrm>
          <a:prstGeom prst="roundRect">
            <a:avLst>
              <a:gd name="adj" fmla="val 9037"/>
            </a:avLst>
          </a:prstGeom>
          <a:solidFill>
            <a:srgbClr val="FDFDFE"/>
          </a:solidFill>
          <a:ln w="6350">
            <a:solidFill>
              <a:srgbClr val="C3D0E2"/>
            </a:solidFill>
            <a:prstDash val="solid"/>
          </a:ln>
        </p:spPr>
      </p:sp>
      <p:sp>
        <p:nvSpPr>
          <p:cNvPr id="62" name="Text 60">
            <a:extLst>
              <a:ext uri="{FF2B5EF4-FFF2-40B4-BE49-F238E27FC236}">
                <a16:creationId xmlns:a16="http://schemas.microsoft.com/office/drawing/2014/main" id="{B65BBA29-994D-40B6-58ED-68A35F494A2F}"/>
              </a:ext>
            </a:extLst>
          </p:cNvPr>
          <p:cNvSpPr/>
          <p:nvPr/>
        </p:nvSpPr>
        <p:spPr>
          <a:xfrm>
            <a:off x="9251059" y="3893751"/>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Root-cause analysis</a:t>
            </a:r>
            <a:endParaRPr lang="en-US" sz="1200" dirty="0"/>
          </a:p>
        </p:txBody>
      </p:sp>
      <p:sp>
        <p:nvSpPr>
          <p:cNvPr id="63" name="Text 61">
            <a:extLst>
              <a:ext uri="{FF2B5EF4-FFF2-40B4-BE49-F238E27FC236}">
                <a16:creationId xmlns:a16="http://schemas.microsoft.com/office/drawing/2014/main" id="{EB71D320-5BF1-BE84-A2AF-64172E26555B}"/>
              </a:ext>
            </a:extLst>
          </p:cNvPr>
          <p:cNvSpPr/>
          <p:nvPr/>
        </p:nvSpPr>
        <p:spPr>
          <a:xfrm>
            <a:off x="9251059" y="4076609"/>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graph + evidence</a:t>
            </a:r>
            <a:endParaRPr lang="en-US" sz="1200" dirty="0"/>
          </a:p>
        </p:txBody>
      </p:sp>
      <p:sp>
        <p:nvSpPr>
          <p:cNvPr id="64" name="Shape 62">
            <a:extLst>
              <a:ext uri="{FF2B5EF4-FFF2-40B4-BE49-F238E27FC236}">
                <a16:creationId xmlns:a16="http://schemas.microsoft.com/office/drawing/2014/main" id="{49D21681-EF63-ED51-BB4F-5B825104EC22}"/>
              </a:ext>
            </a:extLst>
          </p:cNvPr>
          <p:cNvSpPr/>
          <p:nvPr/>
        </p:nvSpPr>
        <p:spPr>
          <a:xfrm>
            <a:off x="6861170" y="4575143"/>
            <a:ext cx="2076386" cy="527007"/>
          </a:xfrm>
          <a:prstGeom prst="roundRect">
            <a:avLst>
              <a:gd name="adj" fmla="val 9037"/>
            </a:avLst>
          </a:prstGeom>
          <a:solidFill>
            <a:srgbClr val="FDFDFE"/>
          </a:solidFill>
          <a:ln w="6350">
            <a:solidFill>
              <a:srgbClr val="C3D0E2"/>
            </a:solidFill>
            <a:prstDash val="solid"/>
          </a:ln>
        </p:spPr>
      </p:sp>
      <p:sp>
        <p:nvSpPr>
          <p:cNvPr id="65" name="Text 63">
            <a:extLst>
              <a:ext uri="{FF2B5EF4-FFF2-40B4-BE49-F238E27FC236}">
                <a16:creationId xmlns:a16="http://schemas.microsoft.com/office/drawing/2014/main" id="{CA99E0C5-A6FD-2320-2EC9-89063D4D8825}"/>
              </a:ext>
            </a:extLst>
          </p:cNvPr>
          <p:cNvSpPr/>
          <p:nvPr/>
        </p:nvSpPr>
        <p:spPr>
          <a:xfrm>
            <a:off x="6965119" y="4655789"/>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Remediators ×7</a:t>
            </a:r>
            <a:endParaRPr lang="en-US" sz="1200" dirty="0"/>
          </a:p>
        </p:txBody>
      </p:sp>
      <p:sp>
        <p:nvSpPr>
          <p:cNvPr id="66" name="Text 64">
            <a:extLst>
              <a:ext uri="{FF2B5EF4-FFF2-40B4-BE49-F238E27FC236}">
                <a16:creationId xmlns:a16="http://schemas.microsoft.com/office/drawing/2014/main" id="{5627D021-9305-2269-60BD-31D804CBC789}"/>
              </a:ext>
            </a:extLst>
          </p:cNvPr>
          <p:cNvSpPr/>
          <p:nvPr/>
        </p:nvSpPr>
        <p:spPr>
          <a:xfrm>
            <a:off x="6965119" y="4838647"/>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repair + verify</a:t>
            </a:r>
            <a:endParaRPr lang="en-US" sz="1200" dirty="0"/>
          </a:p>
        </p:txBody>
      </p:sp>
      <p:sp>
        <p:nvSpPr>
          <p:cNvPr id="67" name="Shape 65">
            <a:extLst>
              <a:ext uri="{FF2B5EF4-FFF2-40B4-BE49-F238E27FC236}">
                <a16:creationId xmlns:a16="http://schemas.microsoft.com/office/drawing/2014/main" id="{3F71AC5A-D221-7294-CE9F-1783A3BF73DF}"/>
              </a:ext>
            </a:extLst>
          </p:cNvPr>
          <p:cNvSpPr/>
          <p:nvPr/>
        </p:nvSpPr>
        <p:spPr>
          <a:xfrm>
            <a:off x="9147111" y="4575143"/>
            <a:ext cx="2076386" cy="527007"/>
          </a:xfrm>
          <a:prstGeom prst="roundRect">
            <a:avLst>
              <a:gd name="adj" fmla="val 9037"/>
            </a:avLst>
          </a:prstGeom>
          <a:solidFill>
            <a:srgbClr val="FDFDFE"/>
          </a:solidFill>
          <a:ln w="6350">
            <a:solidFill>
              <a:srgbClr val="C3D0E2"/>
            </a:solidFill>
            <a:prstDash val="solid"/>
          </a:ln>
        </p:spPr>
      </p:sp>
      <p:sp>
        <p:nvSpPr>
          <p:cNvPr id="68" name="Text 66">
            <a:extLst>
              <a:ext uri="{FF2B5EF4-FFF2-40B4-BE49-F238E27FC236}">
                <a16:creationId xmlns:a16="http://schemas.microsoft.com/office/drawing/2014/main" id="{1B7E1A7C-B028-38AA-383E-FF0D6FB3DA63}"/>
              </a:ext>
            </a:extLst>
          </p:cNvPr>
          <p:cNvSpPr/>
          <p:nvPr/>
        </p:nvSpPr>
        <p:spPr>
          <a:xfrm>
            <a:off x="9251059" y="4655789"/>
            <a:ext cx="1924544" cy="208258"/>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6213A"/>
                </a:solidFill>
                <a:latin typeface="IBM Plex Sans" pitchFamily="34" charset="0"/>
                <a:ea typeface="IBM Plex Sans" pitchFamily="34" charset="-122"/>
                <a:cs typeface="IBM Plex Sans" pitchFamily="34" charset="-120"/>
              </a:rPr>
              <a:t>Scorecard · SLA</a:t>
            </a:r>
            <a:endParaRPr lang="en-US" sz="1200" dirty="0"/>
          </a:p>
        </p:txBody>
      </p:sp>
      <p:sp>
        <p:nvSpPr>
          <p:cNvPr id="69" name="Text 67">
            <a:extLst>
              <a:ext uri="{FF2B5EF4-FFF2-40B4-BE49-F238E27FC236}">
                <a16:creationId xmlns:a16="http://schemas.microsoft.com/office/drawing/2014/main" id="{22ABF3E1-E80F-4524-1E71-3FE19AD34BF7}"/>
              </a:ext>
            </a:extLst>
          </p:cNvPr>
          <p:cNvSpPr/>
          <p:nvPr/>
        </p:nvSpPr>
        <p:spPr>
          <a:xfrm>
            <a:off x="9251059" y="4838647"/>
            <a:ext cx="1924544" cy="20825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6678"/>
                </a:solidFill>
                <a:latin typeface="IBM Plex Sans" pitchFamily="34" charset="0"/>
                <a:ea typeface="IBM Plex Sans" pitchFamily="34" charset="-122"/>
                <a:cs typeface="IBM Plex Sans" pitchFamily="34" charset="-120"/>
              </a:rPr>
              <a:t>TTD · TTR · score</a:t>
            </a:r>
            <a:endParaRPr lang="en-US" sz="1200" dirty="0"/>
          </a:p>
        </p:txBody>
      </p:sp>
      <p:sp>
        <p:nvSpPr>
          <p:cNvPr id="70" name="Text 68">
            <a:extLst>
              <a:ext uri="{FF2B5EF4-FFF2-40B4-BE49-F238E27FC236}">
                <a16:creationId xmlns:a16="http://schemas.microsoft.com/office/drawing/2014/main" id="{E99F8F8F-30C7-7CFE-0BE8-E456CBB964A3}"/>
              </a:ext>
            </a:extLst>
          </p:cNvPr>
          <p:cNvSpPr/>
          <p:nvPr/>
        </p:nvSpPr>
        <p:spPr>
          <a:xfrm>
            <a:off x="6861170" y="5337094"/>
            <a:ext cx="4362414" cy="476228"/>
          </a:xfrm>
          <a:prstGeom prst="roundRect">
            <a:avLst>
              <a:gd name="adj" fmla="val 10000"/>
            </a:avLst>
          </a:prstGeom>
          <a:solidFill>
            <a:srgbClr val="1F5FA8"/>
          </a:solidFill>
          <a:ln w="6350">
            <a:solidFill>
              <a:srgbClr val="1F5FA8"/>
            </a:solidFill>
            <a:prstDash val="solid"/>
          </a:ln>
        </p:spPr>
        <p:txBody>
          <a:bodyPr wrap="square" lIns="90000" tIns="0" rIns="0" bIns="0" rtlCol="0" anchor="ctr">
            <a:normAutofit/>
          </a:bodyPr>
          <a:lstStyle/>
          <a:p>
            <a:pPr marL="0" indent="0" algn="l">
              <a:lnSpc>
                <a:spcPts val="1440"/>
              </a:lnSpc>
              <a:buNone/>
            </a:pPr>
            <a:r>
              <a:rPr lang="en-US" sz="1200" b="1" dirty="0">
                <a:solidFill>
                  <a:srgbClr val="F6F7F9"/>
                </a:solidFill>
                <a:latin typeface="IBM Plex Sans" pitchFamily="34" charset="0"/>
                <a:ea typeface="IBM Plex Sans" pitchFamily="34" charset="-122"/>
                <a:cs typeface="IBM Plex Sans" pitchFamily="34" charset="-120"/>
              </a:rPr>
              <a:t>FastAPI + WebSocket → React dashboard · SQLite</a:t>
            </a:r>
            <a:endParaRPr lang="en-US" sz="1200" dirty="0"/>
          </a:p>
        </p:txBody>
      </p:sp>
      <p:pic>
        <p:nvPicPr>
          <p:cNvPr id="71" name="Image 0" descr="connector">
            <a:extLst>
              <a:ext uri="{FF2B5EF4-FFF2-40B4-BE49-F238E27FC236}">
                <a16:creationId xmlns:a16="http://schemas.microsoft.com/office/drawing/2014/main" id="{BB51E09C-2B98-807F-4327-3D832DCD06EB}"/>
              </a:ext>
            </a:extLst>
          </p:cNvPr>
          <p:cNvPicPr>
            <a:picLocks noChangeAspect="1"/>
          </p:cNvPicPr>
          <p:nvPr/>
        </p:nvPicPr>
        <p:blipFill>
          <a:blip r:embed="rId3"/>
          <a:srcRect l="-13" r="-13"/>
          <a:stretch/>
        </p:blipFill>
        <p:spPr>
          <a:xfrm>
            <a:off x="2641570" y="2489145"/>
            <a:ext cx="330153" cy="76169"/>
          </a:xfrm>
          <a:prstGeom prst="rect">
            <a:avLst/>
          </a:prstGeom>
        </p:spPr>
      </p:pic>
      <p:pic>
        <p:nvPicPr>
          <p:cNvPr id="72" name="Image 1" descr="connector">
            <a:extLst>
              <a:ext uri="{FF2B5EF4-FFF2-40B4-BE49-F238E27FC236}">
                <a16:creationId xmlns:a16="http://schemas.microsoft.com/office/drawing/2014/main" id="{FE92C06A-3794-6F4F-D82B-08D789FE7504}"/>
              </a:ext>
            </a:extLst>
          </p:cNvPr>
          <p:cNvPicPr>
            <a:picLocks noChangeAspect="1"/>
          </p:cNvPicPr>
          <p:nvPr/>
        </p:nvPicPr>
        <p:blipFill>
          <a:blip r:embed="rId3"/>
          <a:srcRect l="-13" r="-13"/>
          <a:stretch/>
        </p:blipFill>
        <p:spPr>
          <a:xfrm>
            <a:off x="3848014" y="2489145"/>
            <a:ext cx="330153" cy="76169"/>
          </a:xfrm>
          <a:prstGeom prst="rect">
            <a:avLst/>
          </a:prstGeom>
        </p:spPr>
      </p:pic>
      <p:pic>
        <p:nvPicPr>
          <p:cNvPr id="73" name="Image 2" descr="connector">
            <a:extLst>
              <a:ext uri="{FF2B5EF4-FFF2-40B4-BE49-F238E27FC236}">
                <a16:creationId xmlns:a16="http://schemas.microsoft.com/office/drawing/2014/main" id="{2C2CE92F-2A2F-6613-EC8B-2FFEE6C14D99}"/>
              </a:ext>
            </a:extLst>
          </p:cNvPr>
          <p:cNvPicPr>
            <a:picLocks noChangeAspect="1"/>
          </p:cNvPicPr>
          <p:nvPr/>
        </p:nvPicPr>
        <p:blipFill>
          <a:blip r:embed="rId4"/>
          <a:srcRect l="-6" r="-6"/>
          <a:stretch/>
        </p:blipFill>
        <p:spPr>
          <a:xfrm>
            <a:off x="1644590" y="2755823"/>
            <a:ext cx="3206664" cy="330153"/>
          </a:xfrm>
          <a:prstGeom prst="rect">
            <a:avLst/>
          </a:prstGeom>
        </p:spPr>
      </p:pic>
      <p:pic>
        <p:nvPicPr>
          <p:cNvPr id="74" name="Image 3" descr="connector">
            <a:extLst>
              <a:ext uri="{FF2B5EF4-FFF2-40B4-BE49-F238E27FC236}">
                <a16:creationId xmlns:a16="http://schemas.microsoft.com/office/drawing/2014/main" id="{0C5C71A8-3A0B-D92A-DC4A-56E99A2425C9}"/>
              </a:ext>
            </a:extLst>
          </p:cNvPr>
          <p:cNvPicPr>
            <a:picLocks noChangeAspect="1"/>
          </p:cNvPicPr>
          <p:nvPr/>
        </p:nvPicPr>
        <p:blipFill>
          <a:blip r:embed="rId5"/>
          <a:srcRect l="-5" r="-5"/>
          <a:stretch/>
        </p:blipFill>
        <p:spPr>
          <a:xfrm>
            <a:off x="3187622" y="2755823"/>
            <a:ext cx="1663633" cy="330153"/>
          </a:xfrm>
          <a:prstGeom prst="rect">
            <a:avLst/>
          </a:prstGeom>
        </p:spPr>
      </p:pic>
      <p:pic>
        <p:nvPicPr>
          <p:cNvPr id="75" name="Image 4" descr="connector">
            <a:extLst>
              <a:ext uri="{FF2B5EF4-FFF2-40B4-BE49-F238E27FC236}">
                <a16:creationId xmlns:a16="http://schemas.microsoft.com/office/drawing/2014/main" id="{EAE3754A-D95C-D21E-BB34-1F12F986861A}"/>
              </a:ext>
            </a:extLst>
          </p:cNvPr>
          <p:cNvPicPr>
            <a:picLocks noChangeAspect="1"/>
          </p:cNvPicPr>
          <p:nvPr/>
        </p:nvPicPr>
        <p:blipFill>
          <a:blip r:embed="rId6"/>
          <a:srcRect t="-13" b="-13"/>
          <a:stretch/>
        </p:blipFill>
        <p:spPr>
          <a:xfrm>
            <a:off x="4730741" y="2755823"/>
            <a:ext cx="120601" cy="330153"/>
          </a:xfrm>
          <a:prstGeom prst="rect">
            <a:avLst/>
          </a:prstGeom>
        </p:spPr>
      </p:pic>
      <p:pic>
        <p:nvPicPr>
          <p:cNvPr id="76" name="Image 5" descr="connector">
            <a:extLst>
              <a:ext uri="{FF2B5EF4-FFF2-40B4-BE49-F238E27FC236}">
                <a16:creationId xmlns:a16="http://schemas.microsoft.com/office/drawing/2014/main" id="{76DAFE6A-759C-847C-2325-ABE6367502AB}"/>
              </a:ext>
            </a:extLst>
          </p:cNvPr>
          <p:cNvPicPr>
            <a:picLocks noChangeAspect="1"/>
          </p:cNvPicPr>
          <p:nvPr/>
        </p:nvPicPr>
        <p:blipFill>
          <a:blip r:embed="rId7"/>
          <a:srcRect l="-16" r="-16"/>
          <a:stretch/>
        </p:blipFill>
        <p:spPr>
          <a:xfrm>
            <a:off x="8902647" y="2489145"/>
            <a:ext cx="279373" cy="76169"/>
          </a:xfrm>
          <a:prstGeom prst="rect">
            <a:avLst/>
          </a:prstGeom>
        </p:spPr>
      </p:pic>
      <p:pic>
        <p:nvPicPr>
          <p:cNvPr id="77" name="Image 6" descr="connector">
            <a:extLst>
              <a:ext uri="{FF2B5EF4-FFF2-40B4-BE49-F238E27FC236}">
                <a16:creationId xmlns:a16="http://schemas.microsoft.com/office/drawing/2014/main" id="{EBA6313A-90FC-ED79-545B-6BD138B93E01}"/>
              </a:ext>
            </a:extLst>
          </p:cNvPr>
          <p:cNvPicPr>
            <a:picLocks noChangeAspect="1"/>
          </p:cNvPicPr>
          <p:nvPr/>
        </p:nvPicPr>
        <p:blipFill>
          <a:blip r:embed="rId8"/>
          <a:srcRect l="-16" r="-16"/>
          <a:stretch/>
        </p:blipFill>
        <p:spPr>
          <a:xfrm>
            <a:off x="8902647" y="3276573"/>
            <a:ext cx="279373" cy="76169"/>
          </a:xfrm>
          <a:prstGeom prst="rect">
            <a:avLst/>
          </a:prstGeom>
        </p:spPr>
      </p:pic>
      <p:pic>
        <p:nvPicPr>
          <p:cNvPr id="78" name="Image 7" descr="connector">
            <a:extLst>
              <a:ext uri="{FF2B5EF4-FFF2-40B4-BE49-F238E27FC236}">
                <a16:creationId xmlns:a16="http://schemas.microsoft.com/office/drawing/2014/main" id="{18C4BA84-9A89-F87B-ECA1-D17D9DDB8387}"/>
              </a:ext>
            </a:extLst>
          </p:cNvPr>
          <p:cNvPicPr>
            <a:picLocks noChangeAspect="1"/>
          </p:cNvPicPr>
          <p:nvPr/>
        </p:nvPicPr>
        <p:blipFill>
          <a:blip r:embed="rId9"/>
          <a:srcRect t="-14" b="-14"/>
          <a:stretch/>
        </p:blipFill>
        <p:spPr>
          <a:xfrm>
            <a:off x="10147264" y="3543251"/>
            <a:ext cx="76169" cy="304763"/>
          </a:xfrm>
          <a:prstGeom prst="rect">
            <a:avLst/>
          </a:prstGeom>
        </p:spPr>
      </p:pic>
      <p:pic>
        <p:nvPicPr>
          <p:cNvPr id="79" name="Image 8" descr="connector">
            <a:extLst>
              <a:ext uri="{FF2B5EF4-FFF2-40B4-BE49-F238E27FC236}">
                <a16:creationId xmlns:a16="http://schemas.microsoft.com/office/drawing/2014/main" id="{86953D49-319D-CDE0-0381-108AC9DEA691}"/>
              </a:ext>
            </a:extLst>
          </p:cNvPr>
          <p:cNvPicPr>
            <a:picLocks noChangeAspect="1"/>
          </p:cNvPicPr>
          <p:nvPr/>
        </p:nvPicPr>
        <p:blipFill>
          <a:blip r:embed="rId10"/>
          <a:srcRect l="-16" r="-16"/>
          <a:stretch/>
        </p:blipFill>
        <p:spPr>
          <a:xfrm>
            <a:off x="8902647" y="4038524"/>
            <a:ext cx="279373" cy="76169"/>
          </a:xfrm>
          <a:prstGeom prst="rect">
            <a:avLst/>
          </a:prstGeom>
        </p:spPr>
      </p:pic>
      <p:pic>
        <p:nvPicPr>
          <p:cNvPr id="80" name="Image 9" descr="connector">
            <a:extLst>
              <a:ext uri="{FF2B5EF4-FFF2-40B4-BE49-F238E27FC236}">
                <a16:creationId xmlns:a16="http://schemas.microsoft.com/office/drawing/2014/main" id="{1BE39DC2-388A-B4BF-32BB-ECA3E9193F07}"/>
              </a:ext>
            </a:extLst>
          </p:cNvPr>
          <p:cNvPicPr>
            <a:picLocks noChangeAspect="1"/>
          </p:cNvPicPr>
          <p:nvPr/>
        </p:nvPicPr>
        <p:blipFill>
          <a:blip r:embed="rId9"/>
          <a:srcRect t="-14" b="-14"/>
          <a:stretch/>
        </p:blipFill>
        <p:spPr>
          <a:xfrm>
            <a:off x="7861236" y="4305290"/>
            <a:ext cx="76169" cy="304763"/>
          </a:xfrm>
          <a:prstGeom prst="rect">
            <a:avLst/>
          </a:prstGeom>
        </p:spPr>
      </p:pic>
      <p:pic>
        <p:nvPicPr>
          <p:cNvPr id="81" name="Image 10" descr="connector">
            <a:extLst>
              <a:ext uri="{FF2B5EF4-FFF2-40B4-BE49-F238E27FC236}">
                <a16:creationId xmlns:a16="http://schemas.microsoft.com/office/drawing/2014/main" id="{38D023D2-3F23-CE5C-98DA-2F9317EB360F}"/>
              </a:ext>
            </a:extLst>
          </p:cNvPr>
          <p:cNvPicPr>
            <a:picLocks noChangeAspect="1"/>
          </p:cNvPicPr>
          <p:nvPr/>
        </p:nvPicPr>
        <p:blipFill>
          <a:blip r:embed="rId8"/>
          <a:srcRect l="-16" r="-16"/>
          <a:stretch/>
        </p:blipFill>
        <p:spPr>
          <a:xfrm>
            <a:off x="8902647" y="4800562"/>
            <a:ext cx="279373" cy="76169"/>
          </a:xfrm>
          <a:prstGeom prst="rect">
            <a:avLst/>
          </a:prstGeom>
        </p:spPr>
      </p:pic>
      <p:pic>
        <p:nvPicPr>
          <p:cNvPr id="82" name="Image 11" descr="connector">
            <a:extLst>
              <a:ext uri="{FF2B5EF4-FFF2-40B4-BE49-F238E27FC236}">
                <a16:creationId xmlns:a16="http://schemas.microsoft.com/office/drawing/2014/main" id="{F1770642-38D7-3BE5-E511-EA2704969726}"/>
              </a:ext>
            </a:extLst>
          </p:cNvPr>
          <p:cNvPicPr>
            <a:picLocks noChangeAspect="1"/>
          </p:cNvPicPr>
          <p:nvPr/>
        </p:nvPicPr>
        <p:blipFill>
          <a:blip r:embed="rId11"/>
          <a:srcRect l="-20" r="-20"/>
          <a:stretch/>
        </p:blipFill>
        <p:spPr>
          <a:xfrm>
            <a:off x="5587990" y="2476450"/>
            <a:ext cx="1320785" cy="101559"/>
          </a:xfrm>
          <a:prstGeom prst="rect">
            <a:avLst/>
          </a:prstGeom>
        </p:spPr>
      </p:pic>
      <p:pic>
        <p:nvPicPr>
          <p:cNvPr id="83" name="Image 12" descr="connector">
            <a:extLst>
              <a:ext uri="{FF2B5EF4-FFF2-40B4-BE49-F238E27FC236}">
                <a16:creationId xmlns:a16="http://schemas.microsoft.com/office/drawing/2014/main" id="{59D7DBAA-42E4-1CFE-BA57-4E2699DD0C14}"/>
              </a:ext>
            </a:extLst>
          </p:cNvPr>
          <p:cNvPicPr>
            <a:picLocks noChangeAspect="1"/>
          </p:cNvPicPr>
          <p:nvPr/>
        </p:nvPicPr>
        <p:blipFill>
          <a:blip r:embed="rId12"/>
          <a:srcRect l="-20" r="-20"/>
          <a:stretch/>
        </p:blipFill>
        <p:spPr>
          <a:xfrm>
            <a:off x="5587990" y="3263878"/>
            <a:ext cx="1320785" cy="101559"/>
          </a:xfrm>
          <a:prstGeom prst="rect">
            <a:avLst/>
          </a:prstGeom>
        </p:spPr>
      </p:pic>
      <p:pic>
        <p:nvPicPr>
          <p:cNvPr id="84" name="Image 13" descr="connector">
            <a:extLst>
              <a:ext uri="{FF2B5EF4-FFF2-40B4-BE49-F238E27FC236}">
                <a16:creationId xmlns:a16="http://schemas.microsoft.com/office/drawing/2014/main" id="{01C9D203-09FA-7C7B-156B-34C83A96F50E}"/>
              </a:ext>
            </a:extLst>
          </p:cNvPr>
          <p:cNvPicPr>
            <a:picLocks noChangeAspect="1"/>
          </p:cNvPicPr>
          <p:nvPr/>
        </p:nvPicPr>
        <p:blipFill>
          <a:blip r:embed="rId13"/>
          <a:srcRect l="-20" r="-20"/>
          <a:stretch/>
        </p:blipFill>
        <p:spPr>
          <a:xfrm>
            <a:off x="5587990" y="4787867"/>
            <a:ext cx="1320785" cy="101559"/>
          </a:xfrm>
          <a:prstGeom prst="rect">
            <a:avLst/>
          </a:prstGeom>
        </p:spPr>
      </p:pic>
      <p:sp>
        <p:nvSpPr>
          <p:cNvPr id="85" name="Text 69">
            <a:extLst>
              <a:ext uri="{FF2B5EF4-FFF2-40B4-BE49-F238E27FC236}">
                <a16:creationId xmlns:a16="http://schemas.microsoft.com/office/drawing/2014/main" id="{190C9396-4D09-9BE5-3686-AD942382692B}"/>
              </a:ext>
            </a:extLst>
          </p:cNvPr>
          <p:cNvSpPr/>
          <p:nvPr/>
        </p:nvSpPr>
        <p:spPr>
          <a:xfrm>
            <a:off x="5613369" y="2247856"/>
            <a:ext cx="1269939"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26A1E"/>
                </a:solidFill>
                <a:latin typeface="IBM Plex Sans" pitchFamily="34" charset="0"/>
                <a:ea typeface="IBM Plex Sans" pitchFamily="34" charset="-122"/>
                <a:cs typeface="IBM Plex Sans" pitchFamily="34" charset="-120"/>
              </a:rPr>
              <a:t>inject</a:t>
            </a:r>
            <a:endParaRPr lang="en-US" sz="1200" dirty="0"/>
          </a:p>
        </p:txBody>
      </p:sp>
      <p:sp>
        <p:nvSpPr>
          <p:cNvPr id="86" name="Text 70">
            <a:extLst>
              <a:ext uri="{FF2B5EF4-FFF2-40B4-BE49-F238E27FC236}">
                <a16:creationId xmlns:a16="http://schemas.microsoft.com/office/drawing/2014/main" id="{8258B243-7AD5-C57B-E5DD-051F96ECEEFF}"/>
              </a:ext>
            </a:extLst>
          </p:cNvPr>
          <p:cNvSpPr/>
          <p:nvPr/>
        </p:nvSpPr>
        <p:spPr>
          <a:xfrm>
            <a:off x="5613369" y="3035284"/>
            <a:ext cx="1269939"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5FA8"/>
                </a:solidFill>
                <a:latin typeface="IBM Plex Sans" pitchFamily="34" charset="0"/>
                <a:ea typeface="IBM Plex Sans" pitchFamily="34" charset="-122"/>
                <a:cs typeface="IBM Plex Sans" pitchFamily="34" charset="-120"/>
              </a:rPr>
              <a:t>metrics</a:t>
            </a:r>
            <a:endParaRPr lang="en-US" sz="1200" dirty="0"/>
          </a:p>
        </p:txBody>
      </p:sp>
      <p:sp>
        <p:nvSpPr>
          <p:cNvPr id="87" name="Text 71">
            <a:extLst>
              <a:ext uri="{FF2B5EF4-FFF2-40B4-BE49-F238E27FC236}">
                <a16:creationId xmlns:a16="http://schemas.microsoft.com/office/drawing/2014/main" id="{89F8C662-2F3F-7B62-554F-E6928412B433}"/>
              </a:ext>
            </a:extLst>
          </p:cNvPr>
          <p:cNvSpPr/>
          <p:nvPr/>
        </p:nvSpPr>
        <p:spPr>
          <a:xfrm>
            <a:off x="5613369" y="4559273"/>
            <a:ext cx="1269939"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5FA8"/>
                </a:solidFill>
                <a:latin typeface="IBM Plex Sans" pitchFamily="34" charset="0"/>
                <a:ea typeface="IBM Plex Sans" pitchFamily="34" charset="-122"/>
                <a:cs typeface="IBM Plex Sans" pitchFamily="34" charset="-120"/>
              </a:rPr>
              <a:t>repair</a:t>
            </a:r>
            <a:endParaRPr lang="en-US" sz="1200" dirty="0"/>
          </a:p>
        </p:txBody>
      </p:sp>
      <p:sp>
        <p:nvSpPr>
          <p:cNvPr id="88" name="Text 72">
            <a:extLst>
              <a:ext uri="{FF2B5EF4-FFF2-40B4-BE49-F238E27FC236}">
                <a16:creationId xmlns:a16="http://schemas.microsoft.com/office/drawing/2014/main" id="{D680A1DB-FBA5-F80B-66CB-0AA2ACB85B11}"/>
              </a:ext>
            </a:extLst>
          </p:cNvPr>
          <p:cNvSpPr/>
          <p:nvPr/>
        </p:nvSpPr>
        <p:spPr>
          <a:xfrm>
            <a:off x="812731" y="6238296"/>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89" name="Text 73">
            <a:extLst>
              <a:ext uri="{FF2B5EF4-FFF2-40B4-BE49-F238E27FC236}">
                <a16:creationId xmlns:a16="http://schemas.microsoft.com/office/drawing/2014/main" id="{D1D566FD-78EC-D531-21EC-5713D3DAE7F0}"/>
              </a:ext>
            </a:extLst>
          </p:cNvPr>
          <p:cNvSpPr/>
          <p:nvPr/>
        </p:nvSpPr>
        <p:spPr>
          <a:xfrm>
            <a:off x="10058466" y="6238296"/>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01</a:t>
            </a:r>
            <a:endParaRPr lang="en-US" sz="1200" dirty="0"/>
          </a:p>
        </p:txBody>
      </p:sp>
    </p:spTree>
    <p:extLst>
      <p:ext uri="{BB962C8B-B14F-4D97-AF65-F5344CB8AC3E}">
        <p14:creationId xmlns:p14="http://schemas.microsoft.com/office/powerpoint/2010/main" val="1721972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TECHNOLOGY</a:t>
            </a:r>
            <a:endParaRPr lang="en-US" sz="1200" dirty="0"/>
          </a:p>
        </p:txBody>
      </p:sp>
      <p:sp>
        <p:nvSpPr>
          <p:cNvPr id="3" name="Text 1"/>
          <p:cNvSpPr>
            <a:spLocks noGrp="1"/>
          </p:cNvSpPr>
          <p:nvPr>
            <p:ph type="title"/>
          </p:nvPr>
        </p:nvSpPr>
        <p:spPr>
          <a:xfrm>
            <a:off x="812731" y="899073"/>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Tech stack by component</a:t>
            </a:r>
            <a:endParaRPr lang="en-US" sz="3000" dirty="0"/>
          </a:p>
        </p:txBody>
      </p:sp>
      <p:sp>
        <p:nvSpPr>
          <p:cNvPr id="4" name="Shape 2"/>
          <p:cNvSpPr/>
          <p:nvPr/>
        </p:nvSpPr>
        <p:spPr>
          <a:xfrm>
            <a:off x="815906" y="1575336"/>
            <a:ext cx="1985001" cy="4263551"/>
          </a:xfrm>
          <a:prstGeom prst="roundRect">
            <a:avLst>
              <a:gd name="adj" fmla="val 3679"/>
            </a:avLst>
          </a:prstGeom>
          <a:solidFill>
            <a:srgbClr val="FDFDFE"/>
          </a:solidFill>
          <a:ln w="6350">
            <a:solidFill>
              <a:srgbClr val="D3DAE3"/>
            </a:solidFill>
            <a:prstDash val="solid"/>
          </a:ln>
        </p:spPr>
      </p:sp>
      <p:sp>
        <p:nvSpPr>
          <p:cNvPr id="5" name="Text 3"/>
          <p:cNvSpPr/>
          <p:nvPr/>
        </p:nvSpPr>
        <p:spPr>
          <a:xfrm>
            <a:off x="996023" y="1755453"/>
            <a:ext cx="167556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996023" y="2095779"/>
            <a:ext cx="1675566" cy="45215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Platform &amp; infrastructure</a:t>
            </a:r>
            <a:endParaRPr lang="en-US" sz="1400" dirty="0"/>
          </a:p>
        </p:txBody>
      </p:sp>
      <p:sp>
        <p:nvSpPr>
          <p:cNvPr id="7" name="Text 5"/>
          <p:cNvSpPr/>
          <p:nvPr/>
        </p:nvSpPr>
        <p:spPr>
          <a:xfrm>
            <a:off x="1094829" y="2649482"/>
            <a:ext cx="1576760" cy="2494112"/>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Docker</a:t>
            </a:r>
            <a:r>
              <a:rPr lang="en-US" sz="1200" dirty="0">
                <a:solidFill>
                  <a:srgbClr val="4A5568"/>
                </a:solidFill>
                <a:latin typeface="IBM Plex Sans" pitchFamily="34" charset="0"/>
                <a:ea typeface="IBM Plex Sans" pitchFamily="34" charset="-122"/>
                <a:cs typeface="IBM Plex Sans" pitchFamily="34" charset="-120"/>
              </a:rPr>
              <a:t> Desktop</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kind 0.33</a:t>
            </a:r>
            <a:r>
              <a:rPr lang="en-US" sz="1200" dirty="0">
                <a:solidFill>
                  <a:srgbClr val="4A5568"/>
                </a:solidFill>
                <a:latin typeface="IBM Plex Sans" pitchFamily="34" charset="0"/>
                <a:ea typeface="IBM Plex Sans" pitchFamily="34" charset="-122"/>
                <a:cs typeface="IBM Plex Sans" pitchFamily="34" charset="-120"/>
              </a:rPr>
              <a:t> · Kubernetes 1.37</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HPA</a:t>
            </a:r>
            <a:r>
              <a:rPr lang="en-US" sz="1200" dirty="0">
                <a:solidFill>
                  <a:srgbClr val="4A5568"/>
                </a:solidFill>
                <a:latin typeface="IBM Plex Sans" pitchFamily="34" charset="0"/>
                <a:ea typeface="IBM Plex Sans" pitchFamily="34" charset="-122"/>
                <a:cs typeface="IBM Plex Sans" pitchFamily="34" charset="-120"/>
              </a:rPr>
              <a:t> + metrics-server</a:t>
            </a:r>
            <a:endParaRPr lang="en-US" sz="1200" dirty="0"/>
          </a:p>
          <a:p>
            <a:pPr marL="155194" indent="-155194" algn="l">
              <a:lnSpc>
                <a:spcPts val="1620"/>
              </a:lnSpc>
              <a:buSzPct val="100000"/>
              <a:buChar char="•"/>
            </a:pPr>
            <a:r>
              <a:rPr lang="en-US" sz="1200" b="1" dirty="0" err="1">
                <a:solidFill>
                  <a:srgbClr val="4A5568"/>
                </a:solidFill>
                <a:latin typeface="IBM Plex Sans" pitchFamily="34" charset="0"/>
                <a:ea typeface="IBM Plex Sans" pitchFamily="34" charset="-122"/>
                <a:cs typeface="IBM Plex Sans" pitchFamily="34" charset="-120"/>
              </a:rPr>
              <a:t>NetworkPolicy</a:t>
            </a:r>
            <a:r>
              <a:rPr lang="en-US" sz="1200" dirty="0">
                <a:solidFill>
                  <a:srgbClr val="4A5568"/>
                </a:solidFill>
                <a:latin typeface="IBM Plex Sans" pitchFamily="34" charset="0"/>
                <a:ea typeface="IBM Plex Sans" pitchFamily="34" charset="-122"/>
                <a:cs typeface="IBM Plex Sans" pitchFamily="34" charset="-120"/>
              </a:rPr>
              <a:t> </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In-place</a:t>
            </a:r>
            <a:r>
              <a:rPr lang="en-US" sz="1200" dirty="0">
                <a:solidFill>
                  <a:srgbClr val="4A5568"/>
                </a:solidFill>
                <a:latin typeface="IBM Plex Sans" pitchFamily="34" charset="0"/>
                <a:ea typeface="IBM Plex Sans" pitchFamily="34" charset="-122"/>
                <a:cs typeface="IBM Plex Sans" pitchFamily="34" charset="-120"/>
              </a:rPr>
              <a:t> pod resize</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kubectl</a:t>
            </a:r>
            <a:r>
              <a:rPr lang="en-US" sz="1200" dirty="0">
                <a:solidFill>
                  <a:srgbClr val="4A5568"/>
                </a:solidFill>
                <a:latin typeface="IBM Plex Sans" pitchFamily="34" charset="0"/>
                <a:ea typeface="IBM Plex Sans" pitchFamily="34" charset="-122"/>
                <a:cs typeface="IBM Plex Sans" pitchFamily="34" charset="-120"/>
              </a:rPr>
              <a:t> + Python client</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PowerShell / Bash</a:t>
            </a:r>
            <a:r>
              <a:rPr lang="en-US" sz="1200" dirty="0">
                <a:solidFill>
                  <a:srgbClr val="4A5568"/>
                </a:solidFill>
                <a:latin typeface="IBM Plex Sans" pitchFamily="34" charset="0"/>
                <a:ea typeface="IBM Plex Sans" pitchFamily="34" charset="-122"/>
                <a:cs typeface="IBM Plex Sans" pitchFamily="34" charset="-120"/>
              </a:rPr>
              <a:t> launchers</a:t>
            </a:r>
            <a:endParaRPr lang="en-US" sz="1200" dirty="0"/>
          </a:p>
        </p:txBody>
      </p:sp>
      <p:sp>
        <p:nvSpPr>
          <p:cNvPr id="8" name="Shape 6"/>
          <p:cNvSpPr/>
          <p:nvPr/>
        </p:nvSpPr>
        <p:spPr>
          <a:xfrm>
            <a:off x="2959594" y="1575336"/>
            <a:ext cx="1985088" cy="4263551"/>
          </a:xfrm>
          <a:prstGeom prst="roundRect">
            <a:avLst>
              <a:gd name="adj" fmla="val 3679"/>
            </a:avLst>
          </a:prstGeom>
          <a:solidFill>
            <a:srgbClr val="FDFDFE"/>
          </a:solidFill>
          <a:ln w="6350">
            <a:solidFill>
              <a:srgbClr val="D3DAE3"/>
            </a:solidFill>
            <a:prstDash val="solid"/>
          </a:ln>
        </p:spPr>
      </p:sp>
      <p:sp>
        <p:nvSpPr>
          <p:cNvPr id="9" name="Text 7"/>
          <p:cNvSpPr/>
          <p:nvPr/>
        </p:nvSpPr>
        <p:spPr>
          <a:xfrm>
            <a:off x="3139712" y="1755453"/>
            <a:ext cx="167565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3139712" y="2095779"/>
            <a:ext cx="1675652"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Application &amp; UX</a:t>
            </a:r>
            <a:endParaRPr lang="en-US" sz="1400" dirty="0"/>
          </a:p>
        </p:txBody>
      </p:sp>
      <p:sp>
        <p:nvSpPr>
          <p:cNvPr id="11" name="Text 9"/>
          <p:cNvSpPr/>
          <p:nvPr/>
        </p:nvSpPr>
        <p:spPr>
          <a:xfrm>
            <a:off x="3238518" y="2436105"/>
            <a:ext cx="1576846" cy="2905563"/>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FastAPI</a:t>
            </a:r>
            <a:r>
              <a:rPr lang="en-US" sz="1200" dirty="0">
                <a:solidFill>
                  <a:srgbClr val="4A5568"/>
                </a:solidFill>
                <a:latin typeface="IBM Plex Sans" pitchFamily="34" charset="0"/>
                <a:ea typeface="IBM Plex Sans" pitchFamily="34" charset="-122"/>
                <a:cs typeface="IBM Plex Sans" pitchFamily="34" charset="-120"/>
              </a:rPr>
              <a:t> product, order, payment</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Express</a:t>
            </a:r>
            <a:r>
              <a:rPr lang="en-US" sz="1200" dirty="0">
                <a:solidFill>
                  <a:srgbClr val="4A5568"/>
                </a:solidFill>
                <a:latin typeface="IBM Plex Sans" pitchFamily="34" charset="0"/>
                <a:ea typeface="IBM Plex Sans" pitchFamily="34" charset="-122"/>
                <a:cs typeface="IBM Plex Sans" pitchFamily="34" charset="-120"/>
              </a:rPr>
              <a:t> gateway, notification</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PostgreSQL 16</a:t>
            </a:r>
            <a:r>
              <a:rPr lang="en-US" sz="1200" dirty="0">
                <a:solidFill>
                  <a:srgbClr val="4A5568"/>
                </a:solidFill>
                <a:latin typeface="IBM Plex Sans" pitchFamily="34" charset="0"/>
                <a:ea typeface="IBM Plex Sans" pitchFamily="34" charset="-122"/>
                <a:cs typeface="IBM Plex Sans" pitchFamily="34" charset="-120"/>
              </a:rPr>
              <a:t> · Redis 7.4</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nginx 1.27</a:t>
            </a:r>
            <a:r>
              <a:rPr lang="en-US" sz="1200" dirty="0">
                <a:solidFill>
                  <a:srgbClr val="4A5568"/>
                </a:solidFill>
                <a:latin typeface="IBM Plex Sans" pitchFamily="34" charset="0"/>
                <a:ea typeface="IBM Plex Sans" pitchFamily="34" charset="-122"/>
                <a:cs typeface="IBM Plex Sans" pitchFamily="34" charset="-120"/>
              </a:rPr>
              <a:t> edge proxy</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React 19</a:t>
            </a:r>
            <a:r>
              <a:rPr lang="en-US" sz="1200" dirty="0">
                <a:solidFill>
                  <a:srgbClr val="4A5568"/>
                </a:solidFill>
                <a:latin typeface="IBM Plex Sans" pitchFamily="34" charset="0"/>
                <a:ea typeface="IBM Plex Sans" pitchFamily="34" charset="-122"/>
                <a:cs typeface="IBM Plex Sans" pitchFamily="34" charset="-120"/>
              </a:rPr>
              <a:t> · Vite 8 · Tailwind 3</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Recharts 3</a:t>
            </a:r>
            <a:r>
              <a:rPr lang="en-US" sz="1200" dirty="0">
                <a:solidFill>
                  <a:srgbClr val="4A5568"/>
                </a:solidFill>
                <a:latin typeface="IBM Plex Sans" pitchFamily="34" charset="0"/>
                <a:ea typeface="IBM Plex Sans" pitchFamily="34" charset="-122"/>
                <a:cs typeface="IBM Plex Sans" pitchFamily="34" charset="-120"/>
              </a:rPr>
              <a:t> · d3 7</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Storefront</a:t>
            </a:r>
            <a:r>
              <a:rPr lang="en-US" sz="1200" dirty="0">
                <a:solidFill>
                  <a:srgbClr val="4A5568"/>
                </a:solidFill>
                <a:latin typeface="IBM Plex Sans" pitchFamily="34" charset="0"/>
                <a:ea typeface="IBM Plex Sans" pitchFamily="34" charset="-122"/>
                <a:cs typeface="IBM Plex Sans" pitchFamily="34" charset="-120"/>
              </a:rPr>
              <a:t> HTML / JS</a:t>
            </a:r>
            <a:endParaRPr lang="en-US" sz="1200" dirty="0"/>
          </a:p>
        </p:txBody>
      </p:sp>
      <p:sp>
        <p:nvSpPr>
          <p:cNvPr id="12" name="Shape 10"/>
          <p:cNvSpPr/>
          <p:nvPr/>
        </p:nvSpPr>
        <p:spPr>
          <a:xfrm>
            <a:off x="5103370" y="1575336"/>
            <a:ext cx="1985088" cy="4263551"/>
          </a:xfrm>
          <a:prstGeom prst="roundRect">
            <a:avLst>
              <a:gd name="adj" fmla="val 3679"/>
            </a:avLst>
          </a:prstGeom>
          <a:solidFill>
            <a:srgbClr val="FDFDFE"/>
          </a:solidFill>
          <a:ln w="6350">
            <a:solidFill>
              <a:srgbClr val="D3DAE3"/>
            </a:solidFill>
            <a:prstDash val="solid"/>
          </a:ln>
        </p:spPr>
      </p:sp>
      <p:sp>
        <p:nvSpPr>
          <p:cNvPr id="13" name="Text 11"/>
          <p:cNvSpPr/>
          <p:nvPr/>
        </p:nvSpPr>
        <p:spPr>
          <a:xfrm>
            <a:off x="5283488" y="1755453"/>
            <a:ext cx="167565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03</a:t>
            </a:r>
            <a:endParaRPr lang="en-US" sz="1200" dirty="0"/>
          </a:p>
        </p:txBody>
      </p:sp>
      <p:sp>
        <p:nvSpPr>
          <p:cNvPr id="14" name="Text 12"/>
          <p:cNvSpPr/>
          <p:nvPr/>
        </p:nvSpPr>
        <p:spPr>
          <a:xfrm>
            <a:off x="5283488" y="2095779"/>
            <a:ext cx="1675652"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Telemetry &amp; ML</a:t>
            </a:r>
            <a:endParaRPr lang="en-US" sz="1400" dirty="0"/>
          </a:p>
        </p:txBody>
      </p:sp>
      <p:sp>
        <p:nvSpPr>
          <p:cNvPr id="15" name="Text 13"/>
          <p:cNvSpPr/>
          <p:nvPr/>
        </p:nvSpPr>
        <p:spPr>
          <a:xfrm>
            <a:off x="5382294" y="2436105"/>
            <a:ext cx="1576846" cy="2494112"/>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Prometheus 2.55</a:t>
            </a:r>
            <a:r>
              <a:rPr lang="en-US" sz="1200" dirty="0">
                <a:solidFill>
                  <a:srgbClr val="4A5568"/>
                </a:solidFill>
                <a:latin typeface="IBM Plex Sans" pitchFamily="34" charset="0"/>
                <a:ea typeface="IBM Plex Sans" pitchFamily="34" charset="-122"/>
                <a:cs typeface="IBM Plex Sans" pitchFamily="34" charset="-120"/>
              </a:rPr>
              <a:t> · cAdvisor</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prom-client</a:t>
            </a:r>
            <a:r>
              <a:rPr lang="en-US" sz="1200" dirty="0">
                <a:solidFill>
                  <a:srgbClr val="4A5568"/>
                </a:solidFill>
                <a:latin typeface="IBM Plex Sans" pitchFamily="34" charset="0"/>
                <a:ea typeface="IBM Plex Sans" pitchFamily="34" charset="-122"/>
                <a:cs typeface="IBM Plex Sans" pitchFamily="34" charset="-120"/>
              </a:rPr>
              <a:t> / prometheus_client</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RED</a:t>
            </a:r>
            <a:r>
              <a:rPr lang="en-US" sz="1200" dirty="0">
                <a:solidFill>
                  <a:srgbClr val="4A5568"/>
                </a:solidFill>
                <a:latin typeface="IBM Plex Sans" pitchFamily="34" charset="0"/>
                <a:ea typeface="IBM Plex Sans" pitchFamily="34" charset="-122"/>
                <a:cs typeface="IBM Plex Sans" pitchFamily="34" charset="-120"/>
              </a:rPr>
              <a:t> + caller-side metrics</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scikit-learn</a:t>
            </a:r>
            <a:r>
              <a:rPr lang="en-US" sz="1200" dirty="0">
                <a:solidFill>
                  <a:srgbClr val="4A5568"/>
                </a:solidFill>
                <a:latin typeface="IBM Plex Sans" pitchFamily="34" charset="0"/>
                <a:ea typeface="IBM Plex Sans" pitchFamily="34" charset="-122"/>
                <a:cs typeface="IBM Plex Sans" pitchFamily="34" charset="-120"/>
              </a:rPr>
              <a:t> Isolation Forest</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PyTorch</a:t>
            </a:r>
            <a:r>
              <a:rPr lang="en-US" sz="1200" dirty="0">
                <a:solidFill>
                  <a:srgbClr val="4A5568"/>
                </a:solidFill>
                <a:latin typeface="IBM Plex Sans" pitchFamily="34" charset="0"/>
                <a:ea typeface="IBM Plex Sans" pitchFamily="34" charset="-122"/>
                <a:cs typeface="IBM Plex Sans" pitchFamily="34" charset="-120"/>
              </a:rPr>
              <a:t> LSTM forecaster</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NumPy</a:t>
            </a:r>
            <a:r>
              <a:rPr lang="en-US" sz="1200" dirty="0">
                <a:solidFill>
                  <a:srgbClr val="4A5568"/>
                </a:solidFill>
                <a:latin typeface="IBM Plex Sans" pitchFamily="34" charset="0"/>
                <a:ea typeface="IBM Plex Sans" pitchFamily="34" charset="-122"/>
                <a:cs typeface="IBM Plex Sans" pitchFamily="34" charset="-120"/>
              </a:rPr>
              <a:t> robust z-scores</a:t>
            </a:r>
            <a:endParaRPr lang="en-US" sz="1200" dirty="0"/>
          </a:p>
        </p:txBody>
      </p:sp>
      <p:sp>
        <p:nvSpPr>
          <p:cNvPr id="16" name="Shape 14"/>
          <p:cNvSpPr/>
          <p:nvPr/>
        </p:nvSpPr>
        <p:spPr>
          <a:xfrm>
            <a:off x="7247146" y="1575336"/>
            <a:ext cx="1985088" cy="4263551"/>
          </a:xfrm>
          <a:prstGeom prst="roundRect">
            <a:avLst>
              <a:gd name="adj" fmla="val 3679"/>
            </a:avLst>
          </a:prstGeom>
          <a:solidFill>
            <a:srgbClr val="FDFDFE"/>
          </a:solidFill>
          <a:ln w="6350">
            <a:solidFill>
              <a:srgbClr val="D3DAE3"/>
            </a:solidFill>
            <a:prstDash val="solid"/>
          </a:ln>
        </p:spPr>
      </p:sp>
      <p:sp>
        <p:nvSpPr>
          <p:cNvPr id="17" name="Text 15"/>
          <p:cNvSpPr/>
          <p:nvPr/>
        </p:nvSpPr>
        <p:spPr>
          <a:xfrm>
            <a:off x="7427264" y="1755453"/>
            <a:ext cx="167565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04</a:t>
            </a:r>
            <a:endParaRPr lang="en-US" sz="1200" dirty="0"/>
          </a:p>
        </p:txBody>
      </p:sp>
      <p:sp>
        <p:nvSpPr>
          <p:cNvPr id="18" name="Text 16"/>
          <p:cNvSpPr/>
          <p:nvPr/>
        </p:nvSpPr>
        <p:spPr>
          <a:xfrm>
            <a:off x="7427264" y="2095779"/>
            <a:ext cx="180179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Diagnosis &amp; healing</a:t>
            </a:r>
            <a:endParaRPr lang="en-US" sz="1400" dirty="0"/>
          </a:p>
        </p:txBody>
      </p:sp>
      <p:sp>
        <p:nvSpPr>
          <p:cNvPr id="19" name="Text 17"/>
          <p:cNvSpPr/>
          <p:nvPr/>
        </p:nvSpPr>
        <p:spPr>
          <a:xfrm>
            <a:off x="7526070" y="2436105"/>
            <a:ext cx="1576846" cy="2288386"/>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Dependency graph</a:t>
            </a:r>
            <a:r>
              <a:rPr lang="en-US" sz="1200" dirty="0">
                <a:solidFill>
                  <a:srgbClr val="4A5568"/>
                </a:solidFill>
                <a:latin typeface="IBM Plex Sans" pitchFamily="34" charset="0"/>
                <a:ea typeface="IBM Plex Sans" pitchFamily="34" charset="-122"/>
                <a:cs typeface="IBM Plex Sans" pitchFamily="34" charset="-120"/>
              </a:rPr>
              <a:t> of services</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Evidence-weighted</a:t>
            </a:r>
            <a:r>
              <a:rPr lang="en-US" sz="1200" dirty="0">
                <a:solidFill>
                  <a:srgbClr val="4A5568"/>
                </a:solidFill>
                <a:latin typeface="IBM Plex Sans" pitchFamily="34" charset="0"/>
                <a:ea typeface="IBM Plex Sans" pitchFamily="34" charset="-122"/>
                <a:cs typeface="IBM Plex Sans" pitchFamily="34" charset="-120"/>
              </a:rPr>
              <a:t> RCA</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Playbook</a:t>
            </a:r>
            <a:r>
              <a:rPr lang="en-US" sz="1200" dirty="0">
                <a:solidFill>
                  <a:srgbClr val="4A5568"/>
                </a:solidFill>
                <a:latin typeface="IBM Plex Sans" pitchFamily="34" charset="0"/>
                <a:ea typeface="IBM Plex Sans" pitchFamily="34" charset="-122"/>
                <a:cs typeface="IBM Plex Sans" pitchFamily="34" charset="-120"/>
              </a:rPr>
              <a:t> decision engine</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Guardrails</a:t>
            </a:r>
            <a:r>
              <a:rPr lang="en-US" sz="1200" dirty="0">
                <a:solidFill>
                  <a:srgbClr val="4A5568"/>
                </a:solidFill>
                <a:latin typeface="IBM Plex Sans" pitchFamily="34" charset="0"/>
                <a:ea typeface="IBM Plex Sans" pitchFamily="34" charset="-122"/>
                <a:cs typeface="IBM Plex Sans" pitchFamily="34" charset="-120"/>
              </a:rPr>
              <a:t> G1–G4</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7 remediators</a:t>
            </a:r>
            <a:r>
              <a:rPr lang="en-US" sz="1200" dirty="0">
                <a:solidFill>
                  <a:srgbClr val="4A5568"/>
                </a:solidFill>
                <a:latin typeface="IBM Plex Sans" pitchFamily="34" charset="0"/>
                <a:ea typeface="IBM Plex Sans" pitchFamily="34" charset="-122"/>
                <a:cs typeface="IBM Plex Sans" pitchFamily="34" charset="-120"/>
              </a:rPr>
              <a:t> via K8s API</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SQLite (WAL)</a:t>
            </a:r>
            <a:r>
              <a:rPr lang="en-US" sz="1200" dirty="0">
                <a:solidFill>
                  <a:srgbClr val="4A5568"/>
                </a:solidFill>
                <a:latin typeface="IBM Plex Sans" pitchFamily="34" charset="0"/>
                <a:ea typeface="IBM Plex Sans" pitchFamily="34" charset="-122"/>
                <a:cs typeface="IBM Plex Sans" pitchFamily="34" charset="-120"/>
              </a:rPr>
              <a:t> history</a:t>
            </a:r>
            <a:endParaRPr lang="en-US" sz="1200" dirty="0"/>
          </a:p>
        </p:txBody>
      </p:sp>
      <p:sp>
        <p:nvSpPr>
          <p:cNvPr id="20" name="Shape 18"/>
          <p:cNvSpPr/>
          <p:nvPr/>
        </p:nvSpPr>
        <p:spPr>
          <a:xfrm>
            <a:off x="9390921" y="1575336"/>
            <a:ext cx="1985088" cy="4263551"/>
          </a:xfrm>
          <a:prstGeom prst="roundRect">
            <a:avLst>
              <a:gd name="adj" fmla="val 3679"/>
            </a:avLst>
          </a:prstGeom>
          <a:solidFill>
            <a:srgbClr val="FDFDFE"/>
          </a:solidFill>
          <a:ln w="6350">
            <a:solidFill>
              <a:srgbClr val="D3DAE3"/>
            </a:solidFill>
            <a:prstDash val="solid"/>
          </a:ln>
        </p:spPr>
      </p:sp>
      <p:sp>
        <p:nvSpPr>
          <p:cNvPr id="21" name="Text 19"/>
          <p:cNvSpPr/>
          <p:nvPr/>
        </p:nvSpPr>
        <p:spPr>
          <a:xfrm>
            <a:off x="9571039" y="1755453"/>
            <a:ext cx="167565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6A1E"/>
                </a:solidFill>
                <a:latin typeface="IBM Plex Mono" pitchFamily="49" charset="0"/>
                <a:ea typeface="IBM Plex Mono" pitchFamily="49" charset="-122"/>
                <a:cs typeface="IBM Plex Mono" pitchFamily="49" charset="-120"/>
              </a:rPr>
              <a:t>05</a:t>
            </a:r>
            <a:endParaRPr lang="en-US" sz="1200" dirty="0"/>
          </a:p>
        </p:txBody>
      </p:sp>
      <p:sp>
        <p:nvSpPr>
          <p:cNvPr id="22" name="Text 20"/>
          <p:cNvSpPr/>
          <p:nvPr/>
        </p:nvSpPr>
        <p:spPr>
          <a:xfrm>
            <a:off x="9571039" y="2095779"/>
            <a:ext cx="1675652" cy="452155"/>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Chaos, agent &amp; orchestration</a:t>
            </a:r>
            <a:endParaRPr lang="en-US" sz="1400" dirty="0"/>
          </a:p>
        </p:txBody>
      </p:sp>
      <p:sp>
        <p:nvSpPr>
          <p:cNvPr id="23" name="Text 21"/>
          <p:cNvSpPr/>
          <p:nvPr/>
        </p:nvSpPr>
        <p:spPr>
          <a:xfrm>
            <a:off x="9669845" y="2649482"/>
            <a:ext cx="1576846" cy="2082660"/>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5 fault</a:t>
            </a:r>
            <a:r>
              <a:rPr lang="en-US" sz="1200" dirty="0">
                <a:solidFill>
                  <a:srgbClr val="4A5568"/>
                </a:solidFill>
                <a:latin typeface="IBM Plex Sans" pitchFamily="34" charset="0"/>
                <a:ea typeface="IBM Plex Sans" pitchFamily="34" charset="-122"/>
                <a:cs typeface="IBM Plex Sans" pitchFamily="34" charset="-120"/>
              </a:rPr>
              <a:t> injectors</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tc netem</a:t>
            </a:r>
            <a:r>
              <a:rPr lang="en-US" sz="1200" dirty="0">
                <a:solidFill>
                  <a:srgbClr val="4A5568"/>
                </a:solidFill>
                <a:latin typeface="IBM Plex Sans" pitchFamily="34" charset="0"/>
                <a:ea typeface="IBM Plex Sans" pitchFamily="34" charset="-122"/>
                <a:cs typeface="IBM Plex Sans" pitchFamily="34" charset="-120"/>
              </a:rPr>
              <a:t> · conntrack</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Groq</a:t>
            </a:r>
            <a:r>
              <a:rPr lang="en-US" sz="1200" dirty="0">
                <a:solidFill>
                  <a:srgbClr val="4A5568"/>
                </a:solidFill>
                <a:latin typeface="IBM Plex Sans" pitchFamily="34" charset="0"/>
                <a:ea typeface="IBM Plex Sans" pitchFamily="34" charset="-122"/>
                <a:cs typeface="IBM Plex Sans" pitchFamily="34" charset="-120"/>
              </a:rPr>
              <a:t> · gpt-oss-120b</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asyncio</a:t>
            </a:r>
            <a:r>
              <a:rPr lang="en-US" sz="1200" dirty="0">
                <a:solidFill>
                  <a:srgbClr val="4A5568"/>
                </a:solidFill>
                <a:latin typeface="IBM Plex Sans" pitchFamily="34" charset="0"/>
                <a:ea typeface="IBM Plex Sans" pitchFamily="34" charset="-122"/>
                <a:cs typeface="IBM Plex Sans" pitchFamily="34" charset="-120"/>
              </a:rPr>
              <a:t> orchestrator</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FastAPI</a:t>
            </a:r>
            <a:r>
              <a:rPr lang="en-US" sz="1200" dirty="0">
                <a:solidFill>
                  <a:srgbClr val="4A5568"/>
                </a:solidFill>
                <a:latin typeface="IBM Plex Sans" pitchFamily="34" charset="0"/>
                <a:ea typeface="IBM Plex Sans" pitchFamily="34" charset="-122"/>
                <a:cs typeface="IBM Plex Sans" pitchFamily="34" charset="-120"/>
              </a:rPr>
              <a:t> + WebSocket</a:t>
            </a:r>
            <a:endParaRPr lang="en-US" sz="1200" dirty="0"/>
          </a:p>
          <a:p>
            <a:pPr marL="155194" indent="-155194" algn="l">
              <a:lnSpc>
                <a:spcPts val="1620"/>
              </a:lnSpc>
              <a:buSzPct val="100000"/>
              <a:buChar char="•"/>
            </a:pPr>
            <a:r>
              <a:rPr lang="en-US" sz="1200" b="1" dirty="0">
                <a:solidFill>
                  <a:srgbClr val="4A5568"/>
                </a:solidFill>
                <a:latin typeface="IBM Plex Sans" pitchFamily="34" charset="0"/>
                <a:ea typeface="IBM Plex Sans" pitchFamily="34" charset="-122"/>
                <a:cs typeface="IBM Plex Sans" pitchFamily="34" charset="-120"/>
              </a:rPr>
              <a:t>pytest</a:t>
            </a:r>
            <a:r>
              <a:rPr lang="en-US" sz="1200" dirty="0">
                <a:solidFill>
                  <a:srgbClr val="4A5568"/>
                </a:solidFill>
                <a:latin typeface="IBM Plex Sans" pitchFamily="34" charset="0"/>
                <a:ea typeface="IBM Plex Sans" pitchFamily="34" charset="-122"/>
                <a:cs typeface="IBM Plex Sans" pitchFamily="34" charset="-120"/>
              </a:rPr>
              <a:t> · 36 tests</a:t>
            </a:r>
            <a:endParaRPr lang="en-US" sz="1200" dirty="0"/>
          </a:p>
        </p:txBody>
      </p:sp>
      <p:sp>
        <p:nvSpPr>
          <p:cNvPr id="24" name="Text 22"/>
          <p:cNvSpPr/>
          <p:nvPr/>
        </p:nvSpPr>
        <p:spPr>
          <a:xfrm>
            <a:off x="812731" y="6238297"/>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5" name="Text 23"/>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731" y="609527"/>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PROBLEM &amp; OBJECTIVE</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Failures cascade faster than people respond</a:t>
            </a:r>
            <a:endParaRPr lang="en-US" sz="3000" dirty="0"/>
          </a:p>
        </p:txBody>
      </p:sp>
      <p:sp>
        <p:nvSpPr>
          <p:cNvPr id="4" name="Text 2"/>
          <p:cNvSpPr/>
          <p:nvPr/>
        </p:nvSpPr>
        <p:spPr>
          <a:xfrm>
            <a:off x="812731" y="1572161"/>
            <a:ext cx="5991260" cy="951167"/>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6213A"/>
                </a:solidFill>
                <a:latin typeface="IBM Plex Sans" pitchFamily="34" charset="0"/>
                <a:ea typeface="IBM Plex Sans" pitchFamily="34" charset="-122"/>
                <a:cs typeface="IBM Plex Sans" pitchFamily="34" charset="-120"/>
              </a:rPr>
              <a:t>In a microservice system, one slow, crashed or isolated service degrades every service that calls it — and users notice first.</a:t>
            </a:r>
            <a:endParaRPr lang="en-US" sz="1800" dirty="0"/>
          </a:p>
        </p:txBody>
      </p:sp>
      <p:sp>
        <p:nvSpPr>
          <p:cNvPr id="5" name="Text 3"/>
          <p:cNvSpPr/>
          <p:nvPr/>
        </p:nvSpPr>
        <p:spPr>
          <a:xfrm>
            <a:off x="812731" y="2675655"/>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122537" y="2675655"/>
            <a:ext cx="5672160" cy="5232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Resilience is unknown until real failures are injected on purpose (chaos engineering).</a:t>
            </a:r>
            <a:endParaRPr lang="en-US" sz="1400" dirty="0"/>
          </a:p>
        </p:txBody>
      </p:sp>
      <p:sp>
        <p:nvSpPr>
          <p:cNvPr id="7" name="Text 5"/>
          <p:cNvSpPr/>
          <p:nvPr/>
        </p:nvSpPr>
        <p:spPr>
          <a:xfrm>
            <a:off x="812731" y="3300485"/>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02</a:t>
            </a:r>
            <a:endParaRPr lang="en-US" sz="1200" dirty="0"/>
          </a:p>
        </p:txBody>
      </p:sp>
      <p:sp>
        <p:nvSpPr>
          <p:cNvPr id="8" name="Text 6"/>
          <p:cNvSpPr/>
          <p:nvPr/>
        </p:nvSpPr>
        <p:spPr>
          <a:xfrm>
            <a:off x="1122537" y="3300485"/>
            <a:ext cx="58117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Symptoms appear in many services at once; the origin is not obvious.</a:t>
            </a:r>
            <a:endParaRPr lang="en-US" sz="1400" dirty="0"/>
          </a:p>
        </p:txBody>
      </p:sp>
      <p:sp>
        <p:nvSpPr>
          <p:cNvPr id="9" name="Text 7"/>
          <p:cNvSpPr/>
          <p:nvPr/>
        </p:nvSpPr>
        <p:spPr>
          <a:xfrm>
            <a:off x="812731" y="3676374"/>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03</a:t>
            </a:r>
            <a:endParaRPr lang="en-US" sz="1200" dirty="0"/>
          </a:p>
        </p:txBody>
      </p:sp>
      <p:sp>
        <p:nvSpPr>
          <p:cNvPr id="10" name="Text 8"/>
          <p:cNvSpPr/>
          <p:nvPr/>
        </p:nvSpPr>
        <p:spPr>
          <a:xfrm>
            <a:off x="1122537" y="3676374"/>
            <a:ext cx="5672160" cy="5232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Manual triage — page, inspect dashboards, guess, fix — takes minutes to hours.</a:t>
            </a:r>
            <a:endParaRPr lang="en-US" sz="1400" dirty="0"/>
          </a:p>
        </p:txBody>
      </p:sp>
      <p:sp>
        <p:nvSpPr>
          <p:cNvPr id="11" name="Shape 9"/>
          <p:cNvSpPr/>
          <p:nvPr/>
        </p:nvSpPr>
        <p:spPr>
          <a:xfrm>
            <a:off x="6937427" y="1575336"/>
            <a:ext cx="4438583" cy="4263551"/>
          </a:xfrm>
          <a:prstGeom prst="roundRect">
            <a:avLst>
              <a:gd name="adj" fmla="val 1713"/>
            </a:avLst>
          </a:prstGeom>
          <a:solidFill>
            <a:srgbClr val="FDFDFE"/>
          </a:solidFill>
          <a:ln w="6350">
            <a:solidFill>
              <a:srgbClr val="D3DAE3"/>
            </a:solidFill>
            <a:prstDash val="solid"/>
          </a:ln>
        </p:spPr>
      </p:sp>
      <p:sp>
        <p:nvSpPr>
          <p:cNvPr id="12" name="Text 10"/>
          <p:cNvSpPr/>
          <p:nvPr/>
        </p:nvSpPr>
        <p:spPr>
          <a:xfrm>
            <a:off x="7193800" y="1831710"/>
            <a:ext cx="4179034" cy="26921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Objective: an autonomous reliability loop</a:t>
            </a:r>
            <a:endParaRPr lang="en-US" sz="1600" dirty="0"/>
          </a:p>
        </p:txBody>
      </p:sp>
      <p:sp>
        <p:nvSpPr>
          <p:cNvPr id="13" name="Shape 11"/>
          <p:cNvSpPr/>
          <p:nvPr/>
        </p:nvSpPr>
        <p:spPr>
          <a:xfrm>
            <a:off x="7193800" y="2555357"/>
            <a:ext cx="3925836" cy="0"/>
          </a:xfrm>
          <a:prstGeom prst="line">
            <a:avLst/>
          </a:prstGeom>
          <a:noFill/>
          <a:ln w="6350">
            <a:solidFill>
              <a:srgbClr val="E3E7ED"/>
            </a:solidFill>
            <a:prstDash val="solid"/>
          </a:ln>
        </p:spPr>
      </p:sp>
      <p:sp>
        <p:nvSpPr>
          <p:cNvPr id="14" name="Text 12"/>
          <p:cNvSpPr/>
          <p:nvPr/>
        </p:nvSpPr>
        <p:spPr>
          <a:xfrm>
            <a:off x="7193800" y="2215162"/>
            <a:ext cx="218229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Inject real faults safely</a:t>
            </a:r>
            <a:endParaRPr lang="en-US" sz="1400" dirty="0"/>
          </a:p>
        </p:txBody>
      </p:sp>
      <p:sp>
        <p:nvSpPr>
          <p:cNvPr id="15" name="Text 13"/>
          <p:cNvSpPr/>
          <p:nvPr/>
        </p:nvSpPr>
        <p:spPr>
          <a:xfrm>
            <a:off x="10396134" y="2215162"/>
            <a:ext cx="723501" cy="2743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C26A1E"/>
                </a:solidFill>
                <a:latin typeface="IBM Plex Sans" pitchFamily="34" charset="0"/>
                <a:ea typeface="IBM Plex Sans" pitchFamily="34" charset="-122"/>
                <a:cs typeface="IBM Plex Sans" pitchFamily="34" charset="-120"/>
              </a:rPr>
              <a:t>5 types</a:t>
            </a:r>
            <a:endParaRPr lang="en-US" sz="1400" dirty="0"/>
          </a:p>
        </p:txBody>
      </p:sp>
      <p:sp>
        <p:nvSpPr>
          <p:cNvPr id="16" name="Shape 14"/>
          <p:cNvSpPr/>
          <p:nvPr/>
        </p:nvSpPr>
        <p:spPr>
          <a:xfrm>
            <a:off x="7193800" y="3000285"/>
            <a:ext cx="3925836" cy="0"/>
          </a:xfrm>
          <a:prstGeom prst="line">
            <a:avLst/>
          </a:prstGeom>
          <a:noFill/>
          <a:ln w="6350">
            <a:solidFill>
              <a:srgbClr val="E3E7ED"/>
            </a:solidFill>
            <a:prstDash val="solid"/>
          </a:ln>
        </p:spPr>
      </p:sp>
      <p:sp>
        <p:nvSpPr>
          <p:cNvPr id="17" name="Text 15"/>
          <p:cNvSpPr/>
          <p:nvPr/>
        </p:nvSpPr>
        <p:spPr>
          <a:xfrm>
            <a:off x="7193800" y="2660090"/>
            <a:ext cx="2562184"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Detect without human input</a:t>
            </a:r>
            <a:endParaRPr lang="en-US" sz="1400" dirty="0"/>
          </a:p>
        </p:txBody>
      </p:sp>
      <p:sp>
        <p:nvSpPr>
          <p:cNvPr id="18" name="Text 16"/>
          <p:cNvSpPr/>
          <p:nvPr/>
        </p:nvSpPr>
        <p:spPr>
          <a:xfrm>
            <a:off x="9886219" y="2660090"/>
            <a:ext cx="1233417" cy="2743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F5FA8"/>
                </a:solidFill>
                <a:latin typeface="IBM Plex Sans" pitchFamily="34" charset="0"/>
                <a:ea typeface="IBM Plex Sans" pitchFamily="34" charset="-122"/>
                <a:cs typeface="IBM Plex Sans" pitchFamily="34" charset="-120"/>
              </a:rPr>
              <a:t>25–35 s SLA</a:t>
            </a:r>
            <a:endParaRPr lang="en-US" sz="1400" dirty="0"/>
          </a:p>
        </p:txBody>
      </p:sp>
      <p:sp>
        <p:nvSpPr>
          <p:cNvPr id="19" name="Shape 17"/>
          <p:cNvSpPr/>
          <p:nvPr/>
        </p:nvSpPr>
        <p:spPr>
          <a:xfrm>
            <a:off x="7193800" y="3445214"/>
            <a:ext cx="3925836" cy="0"/>
          </a:xfrm>
          <a:prstGeom prst="line">
            <a:avLst/>
          </a:prstGeom>
          <a:noFill/>
          <a:ln w="6350">
            <a:solidFill>
              <a:srgbClr val="E3E7ED"/>
            </a:solidFill>
            <a:prstDash val="solid"/>
          </a:ln>
        </p:spPr>
      </p:sp>
      <p:sp>
        <p:nvSpPr>
          <p:cNvPr id="20" name="Text 18"/>
          <p:cNvSpPr/>
          <p:nvPr/>
        </p:nvSpPr>
        <p:spPr>
          <a:xfrm>
            <a:off x="7193800" y="3105020"/>
            <a:ext cx="2462103"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Identify origin and fault type</a:t>
            </a:r>
            <a:endParaRPr lang="en-US" sz="1400" dirty="0"/>
          </a:p>
        </p:txBody>
      </p:sp>
      <p:sp>
        <p:nvSpPr>
          <p:cNvPr id="21" name="Text 19"/>
          <p:cNvSpPr/>
          <p:nvPr/>
        </p:nvSpPr>
        <p:spPr>
          <a:xfrm>
            <a:off x="9655904" y="3105020"/>
            <a:ext cx="1463732" cy="2743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F5FA8"/>
                </a:solidFill>
                <a:latin typeface="IBM Plex Sans" pitchFamily="34" charset="0"/>
                <a:ea typeface="IBM Plex Sans" pitchFamily="34" charset="-122"/>
                <a:cs typeface="IBM Plex Sans" pitchFamily="34" charset="-120"/>
              </a:rPr>
              <a:t>vs ground truth</a:t>
            </a:r>
            <a:endParaRPr lang="en-US" sz="1400" dirty="0"/>
          </a:p>
        </p:txBody>
      </p:sp>
      <p:sp>
        <p:nvSpPr>
          <p:cNvPr id="22" name="Shape 20"/>
          <p:cNvSpPr/>
          <p:nvPr/>
        </p:nvSpPr>
        <p:spPr>
          <a:xfrm>
            <a:off x="7193800" y="3890142"/>
            <a:ext cx="3925836" cy="0"/>
          </a:xfrm>
          <a:prstGeom prst="line">
            <a:avLst/>
          </a:prstGeom>
          <a:noFill/>
          <a:ln w="6350">
            <a:solidFill>
              <a:srgbClr val="E3E7ED"/>
            </a:solidFill>
            <a:prstDash val="solid"/>
          </a:ln>
        </p:spPr>
      </p:sp>
      <p:sp>
        <p:nvSpPr>
          <p:cNvPr id="23" name="Text 21"/>
          <p:cNvSpPr/>
          <p:nvPr/>
        </p:nvSpPr>
        <p:spPr>
          <a:xfrm>
            <a:off x="7193800" y="3549948"/>
            <a:ext cx="2431062"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Repair and verify recovery</a:t>
            </a:r>
            <a:endParaRPr lang="en-US" sz="1400" dirty="0"/>
          </a:p>
        </p:txBody>
      </p:sp>
      <p:sp>
        <p:nvSpPr>
          <p:cNvPr id="24" name="Text 22"/>
          <p:cNvSpPr/>
          <p:nvPr/>
        </p:nvSpPr>
        <p:spPr>
          <a:xfrm>
            <a:off x="9758193" y="3549948"/>
            <a:ext cx="1361443" cy="2743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F5FA8"/>
                </a:solidFill>
                <a:latin typeface="IBM Plex Sans" pitchFamily="34" charset="0"/>
                <a:ea typeface="IBM Plex Sans" pitchFamily="34" charset="-122"/>
                <a:cs typeface="IBM Plex Sans" pitchFamily="34" charset="-120"/>
              </a:rPr>
              <a:t>90–120 s SLA</a:t>
            </a:r>
            <a:endParaRPr lang="en-US" sz="1400" dirty="0"/>
          </a:p>
        </p:txBody>
      </p:sp>
      <p:sp>
        <p:nvSpPr>
          <p:cNvPr id="25" name="Text 23"/>
          <p:cNvSpPr/>
          <p:nvPr/>
        </p:nvSpPr>
        <p:spPr>
          <a:xfrm>
            <a:off x="7193800" y="3994876"/>
            <a:ext cx="2726956"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Explain and score every step</a:t>
            </a:r>
            <a:endParaRPr lang="en-US" sz="1400" dirty="0"/>
          </a:p>
        </p:txBody>
      </p:sp>
      <p:sp>
        <p:nvSpPr>
          <p:cNvPr id="26" name="Text 24"/>
          <p:cNvSpPr/>
          <p:nvPr/>
        </p:nvSpPr>
        <p:spPr>
          <a:xfrm>
            <a:off x="10482111" y="3994876"/>
            <a:ext cx="637524" cy="2743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F5FA8"/>
                </a:solidFill>
                <a:latin typeface="IBM Plex Sans" pitchFamily="34" charset="0"/>
                <a:ea typeface="IBM Plex Sans" pitchFamily="34" charset="-122"/>
                <a:cs typeface="IBM Plex Sans" pitchFamily="34" charset="-120"/>
              </a:rPr>
              <a:t>0–100</a:t>
            </a:r>
            <a:endParaRPr lang="en-US" sz="1400" dirty="0"/>
          </a:p>
        </p:txBody>
      </p:sp>
      <p:sp>
        <p:nvSpPr>
          <p:cNvPr id="27" name="Text 25"/>
          <p:cNvSpPr/>
          <p:nvPr/>
        </p:nvSpPr>
        <p:spPr>
          <a:xfrm>
            <a:off x="812731" y="6238297"/>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8" name="Text 26"/>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7"/>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SYSTEM UNDER TEST</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ShopFusion: a five-service online shop</a:t>
            </a:r>
            <a:endParaRPr lang="en-US" sz="3000" dirty="0"/>
          </a:p>
        </p:txBody>
      </p:sp>
      <p:sp>
        <p:nvSpPr>
          <p:cNvPr id="4" name="Shape 2"/>
          <p:cNvSpPr/>
          <p:nvPr/>
        </p:nvSpPr>
        <p:spPr>
          <a:xfrm>
            <a:off x="812731" y="1572161"/>
            <a:ext cx="6451761" cy="2162992"/>
          </a:xfrm>
          <a:prstGeom prst="roundRect">
            <a:avLst>
              <a:gd name="adj" fmla="val 3523"/>
            </a:avLst>
          </a:prstGeom>
          <a:solidFill>
            <a:srgbClr val="FDFDFE"/>
          </a:solidFill>
          <a:ln/>
        </p:spPr>
      </p:sp>
      <p:sp>
        <p:nvSpPr>
          <p:cNvPr id="5" name="Shape 3"/>
          <p:cNvSpPr/>
          <p:nvPr/>
        </p:nvSpPr>
        <p:spPr>
          <a:xfrm>
            <a:off x="812731" y="1572161"/>
            <a:ext cx="6451761" cy="2162992"/>
          </a:xfrm>
          <a:custGeom>
            <a:avLst/>
            <a:gdLst/>
            <a:ahLst/>
            <a:cxnLst/>
            <a:rect l="l" t="t" r="r" b="b"/>
            <a:pathLst>
              <a:path w="6451761" h="2162992">
                <a:moveTo>
                  <a:pt x="6375561" y="0"/>
                </a:moveTo>
                <a:lnTo>
                  <a:pt x="6375561" y="0"/>
                </a:lnTo>
                <a:arcTo wR="76200" hR="76200" stAng="16200000" swAng="5400000"/>
                <a:lnTo>
                  <a:pt x="6451761" y="2086792"/>
                </a:lnTo>
                <a:arcTo wR="76200" hR="76200" stAng="0" swAng="5400000"/>
                <a:lnTo>
                  <a:pt x="76200" y="2162992"/>
                </a:lnTo>
                <a:arcTo wR="76200" hR="76200" stAng="5400000" swAng="5400000"/>
                <a:lnTo>
                  <a:pt x="0" y="2086792"/>
                </a:lnTo>
                <a:arcTo wR="76200" hR="69850" stAng="10800000" swAng="-5400000"/>
                <a:lnTo>
                  <a:pt x="6375561" y="2156642"/>
                </a:lnTo>
                <a:arcTo wR="69850" hR="69850" stAng="5400000" swAng="-5400000"/>
                <a:lnTo>
                  <a:pt x="6445411" y="76200"/>
                </a:lnTo>
                <a:arcTo wR="69850" hR="76200" stAng="0" swAng="-5400000"/>
                <a:close/>
              </a:path>
            </a:pathLst>
          </a:custGeom>
          <a:solidFill>
            <a:srgbClr val="D3DAE3"/>
          </a:solidFill>
          <a:ln/>
        </p:spPr>
      </p:sp>
      <p:sp>
        <p:nvSpPr>
          <p:cNvPr id="6" name="Shape 4"/>
          <p:cNvSpPr/>
          <p:nvPr/>
        </p:nvSpPr>
        <p:spPr>
          <a:xfrm>
            <a:off x="812731" y="1572161"/>
            <a:ext cx="6451761" cy="2162992"/>
          </a:xfrm>
          <a:custGeom>
            <a:avLst/>
            <a:gdLst/>
            <a:ahLst/>
            <a:cxnLst/>
            <a:rect l="l" t="t" r="r" b="b"/>
            <a:pathLst>
              <a:path w="6451761" h="2162992">
                <a:moveTo>
                  <a:pt x="76200" y="2162992"/>
                </a:moveTo>
                <a:lnTo>
                  <a:pt x="76200" y="2162992"/>
                </a:lnTo>
                <a:arcTo wR="76200" hR="76200" stAng="5400000" swAng="5400000"/>
                <a:lnTo>
                  <a:pt x="0" y="76200"/>
                </a:lnTo>
                <a:arcTo wR="76200" hR="76200" stAng="10800000" swAng="5400000"/>
                <a:lnTo>
                  <a:pt x="6375561" y="0"/>
                </a:lnTo>
                <a:arcTo wR="76200" hR="76200" stAng="16200000" swAng="5400000"/>
                <a:lnTo>
                  <a:pt x="6451761" y="76200"/>
                </a:lnTo>
                <a:arcTo wR="76200" hR="65070" stAng="0" swAng="-5400000"/>
                <a:lnTo>
                  <a:pt x="76200" y="11130"/>
                </a:lnTo>
                <a:arcTo wR="65070" hR="65070" stAng="16200000" swAng="-5400000"/>
                <a:lnTo>
                  <a:pt x="11130" y="2086792"/>
                </a:lnTo>
                <a:arcTo wR="6507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860" y="1583291"/>
          <a:ext cx="6435067" cy="2146296"/>
        </p:xfrm>
        <a:graphic>
          <a:graphicData uri="http://schemas.openxmlformats.org/drawingml/2006/table">
            <a:tbl>
              <a:tblPr/>
              <a:tblGrid>
                <a:gridCol w="1415715">
                  <a:extLst>
                    <a:ext uri="{9D8B030D-6E8A-4147-A177-3AD203B41FA5}">
                      <a16:colId xmlns:a16="http://schemas.microsoft.com/office/drawing/2014/main" val="20000"/>
                    </a:ext>
                  </a:extLst>
                </a:gridCol>
                <a:gridCol w="1029611">
                  <a:extLst>
                    <a:ext uri="{9D8B030D-6E8A-4147-A177-3AD203B41FA5}">
                      <a16:colId xmlns:a16="http://schemas.microsoft.com/office/drawing/2014/main" val="20001"/>
                    </a:ext>
                  </a:extLst>
                </a:gridCol>
                <a:gridCol w="2445325">
                  <a:extLst>
                    <a:ext uri="{9D8B030D-6E8A-4147-A177-3AD203B41FA5}">
                      <a16:colId xmlns:a16="http://schemas.microsoft.com/office/drawing/2014/main" val="20002"/>
                    </a:ext>
                  </a:extLst>
                </a:gridCol>
                <a:gridCol w="772208">
                  <a:extLst>
                    <a:ext uri="{9D8B030D-6E8A-4147-A177-3AD203B41FA5}">
                      <a16:colId xmlns:a16="http://schemas.microsoft.com/office/drawing/2014/main" val="20003"/>
                    </a:ext>
                  </a:extLst>
                </a:gridCol>
                <a:gridCol w="772208">
                  <a:extLst>
                    <a:ext uri="{9D8B030D-6E8A-4147-A177-3AD203B41FA5}">
                      <a16:colId xmlns:a16="http://schemas.microsoft.com/office/drawing/2014/main" val="20004"/>
                    </a:ext>
                  </a:extLst>
                </a:gridCol>
              </a:tblGrid>
              <a:tr h="357716">
                <a:tc>
                  <a:txBody>
                    <a:bodyPr/>
                    <a:lstStyle/>
                    <a:p>
                      <a:pPr marL="0" indent="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Service</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Stack</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gn="r">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Impact</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gn="r">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Users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57716">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Gateway</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Express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Entry point, 5 s deadline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100%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57716">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Product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FastAPI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Catalogue, Redis cache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75%</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57716">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Order</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FastAPI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Order saga</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40%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57716">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Payment</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FastAPI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Charges, records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35%</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57716">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Notification</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Express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Async events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812731" y="3862101"/>
            <a:ext cx="6645314"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Calls: gateway → all four services · order → product, payment · order and payment → notification (async). Impact and user share drive RCA, preflight risk and the Chaos Planner.</a:t>
            </a:r>
            <a:endParaRPr lang="en-US" sz="1200" dirty="0"/>
          </a:p>
        </p:txBody>
      </p:sp>
      <p:sp>
        <p:nvSpPr>
          <p:cNvPr id="9" name="Shape 6"/>
          <p:cNvSpPr/>
          <p:nvPr/>
        </p:nvSpPr>
        <p:spPr>
          <a:xfrm>
            <a:off x="7572429" y="1575336"/>
            <a:ext cx="3803580" cy="1000368"/>
          </a:xfrm>
          <a:prstGeom prst="roundRect">
            <a:avLst>
              <a:gd name="adj" fmla="val 7300"/>
            </a:avLst>
          </a:prstGeom>
          <a:solidFill>
            <a:srgbClr val="FDFDFE"/>
          </a:solidFill>
          <a:ln w="6350">
            <a:solidFill>
              <a:srgbClr val="D3DAE3"/>
            </a:solidFill>
            <a:prstDash val="solid"/>
          </a:ln>
        </p:spPr>
      </p:sp>
      <p:sp>
        <p:nvSpPr>
          <p:cNvPr id="10" name="Text 7"/>
          <p:cNvSpPr/>
          <p:nvPr/>
        </p:nvSpPr>
        <p:spPr>
          <a:xfrm>
            <a:off x="7752547" y="1730063"/>
            <a:ext cx="354664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Order saga</a:t>
            </a:r>
            <a:endParaRPr lang="en-US" sz="1400" dirty="0"/>
          </a:p>
        </p:txBody>
      </p:sp>
      <p:sp>
        <p:nvSpPr>
          <p:cNvPr id="11" name="Text 8"/>
          <p:cNvSpPr/>
          <p:nvPr/>
        </p:nvSpPr>
        <p:spPr>
          <a:xfrm>
            <a:off x="7752547" y="1994221"/>
            <a:ext cx="3546645"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Atomic stock reservation → payment → confirm, with compensation (stock released) on failure.</a:t>
            </a:r>
            <a:endParaRPr lang="en-US" sz="1200" dirty="0"/>
          </a:p>
        </p:txBody>
      </p:sp>
      <p:sp>
        <p:nvSpPr>
          <p:cNvPr id="12" name="Shape 9"/>
          <p:cNvSpPr/>
          <p:nvPr/>
        </p:nvSpPr>
        <p:spPr>
          <a:xfrm>
            <a:off x="7572429" y="2709002"/>
            <a:ext cx="3803580" cy="1000368"/>
          </a:xfrm>
          <a:prstGeom prst="roundRect">
            <a:avLst>
              <a:gd name="adj" fmla="val 7300"/>
            </a:avLst>
          </a:prstGeom>
          <a:solidFill>
            <a:srgbClr val="FDFDFE"/>
          </a:solidFill>
          <a:ln w="6350">
            <a:solidFill>
              <a:srgbClr val="D3DAE3"/>
            </a:solidFill>
            <a:prstDash val="solid"/>
          </a:ln>
        </p:spPr>
      </p:sp>
      <p:sp>
        <p:nvSpPr>
          <p:cNvPr id="13" name="Text 10"/>
          <p:cNvSpPr/>
          <p:nvPr/>
        </p:nvSpPr>
        <p:spPr>
          <a:xfrm>
            <a:off x="7752547" y="2863731"/>
            <a:ext cx="354664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Uniform instrumentation</a:t>
            </a:r>
            <a:endParaRPr lang="en-US" sz="1400" dirty="0"/>
          </a:p>
        </p:txBody>
      </p:sp>
      <p:sp>
        <p:nvSpPr>
          <p:cNvPr id="14" name="Text 11"/>
          <p:cNvSpPr/>
          <p:nvPr/>
        </p:nvSpPr>
        <p:spPr>
          <a:xfrm>
            <a:off x="7752547" y="3127888"/>
            <a:ext cx="3546645"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RED metrics in every service plus caller-side client metrics for each dependency.</a:t>
            </a:r>
            <a:endParaRPr lang="en-US" sz="1200" dirty="0"/>
          </a:p>
        </p:txBody>
      </p:sp>
      <p:sp>
        <p:nvSpPr>
          <p:cNvPr id="15" name="Shape 12"/>
          <p:cNvSpPr/>
          <p:nvPr/>
        </p:nvSpPr>
        <p:spPr>
          <a:xfrm>
            <a:off x="7572429" y="3842669"/>
            <a:ext cx="3803580" cy="1000368"/>
          </a:xfrm>
          <a:prstGeom prst="roundRect">
            <a:avLst>
              <a:gd name="adj" fmla="val 7300"/>
            </a:avLst>
          </a:prstGeom>
          <a:solidFill>
            <a:srgbClr val="FDFDFE"/>
          </a:solidFill>
          <a:ln w="6350">
            <a:solidFill>
              <a:srgbClr val="D3DAE3"/>
            </a:solidFill>
            <a:prstDash val="solid"/>
          </a:ln>
        </p:spPr>
      </p:sp>
      <p:sp>
        <p:nvSpPr>
          <p:cNvPr id="16" name="Text 13"/>
          <p:cNvSpPr/>
          <p:nvPr/>
        </p:nvSpPr>
        <p:spPr>
          <a:xfrm>
            <a:off x="7752547" y="3997396"/>
            <a:ext cx="354664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Real user signal</a:t>
            </a:r>
            <a:endParaRPr lang="en-US" sz="1400" dirty="0"/>
          </a:p>
        </p:txBody>
      </p:sp>
      <p:sp>
        <p:nvSpPr>
          <p:cNvPr id="17" name="Text 14"/>
          <p:cNvSpPr/>
          <p:nvPr/>
        </p:nvSpPr>
        <p:spPr>
          <a:xfrm>
            <a:off x="7752547" y="4261554"/>
            <a:ext cx="3546645"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In-cluster traffic generator at 20 RPS exports the user SLI: success rate and p99.</a:t>
            </a:r>
            <a:endParaRPr lang="en-US" sz="1200" dirty="0"/>
          </a:p>
        </p:txBody>
      </p:sp>
      <p:sp>
        <p:nvSpPr>
          <p:cNvPr id="18" name="Text 15"/>
          <p:cNvSpPr/>
          <p:nvPr/>
        </p:nvSpPr>
        <p:spPr>
          <a:xfrm>
            <a:off x="812731" y="6238297"/>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19" name="Text 16"/>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731" y="609529"/>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OBSERVE</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Nine features per service, every 5 seconds</a:t>
            </a:r>
            <a:endParaRPr lang="en-US" sz="3000" dirty="0"/>
          </a:p>
        </p:txBody>
      </p:sp>
      <p:sp>
        <p:nvSpPr>
          <p:cNvPr id="4" name="Shape 2"/>
          <p:cNvSpPr/>
          <p:nvPr/>
        </p:nvSpPr>
        <p:spPr>
          <a:xfrm>
            <a:off x="815906" y="1575336"/>
            <a:ext cx="3431169" cy="710821"/>
          </a:xfrm>
          <a:prstGeom prst="roundRect">
            <a:avLst>
              <a:gd name="adj" fmla="val 8487"/>
            </a:avLst>
          </a:prstGeom>
          <a:solidFill>
            <a:srgbClr val="FDFDFE"/>
          </a:solidFill>
          <a:ln w="6350">
            <a:solidFill>
              <a:srgbClr val="D3DAE3"/>
            </a:solidFill>
            <a:prstDash val="solid"/>
          </a:ln>
        </p:spPr>
      </p:sp>
      <p:sp>
        <p:nvSpPr>
          <p:cNvPr id="5" name="Text 3"/>
          <p:cNvSpPr/>
          <p:nvPr/>
        </p:nvSpPr>
        <p:spPr>
          <a:xfrm>
            <a:off x="970633" y="1704674"/>
            <a:ext cx="14827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request_rate</a:t>
            </a:r>
            <a:endParaRPr lang="en-US" sz="1200" dirty="0"/>
          </a:p>
        </p:txBody>
      </p:sp>
      <p:sp>
        <p:nvSpPr>
          <p:cNvPr id="6" name="Text 4"/>
          <p:cNvSpPr/>
          <p:nvPr/>
        </p:nvSpPr>
        <p:spPr>
          <a:xfrm>
            <a:off x="970633" y="1943441"/>
            <a:ext cx="171839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Requests per second</a:t>
            </a:r>
            <a:endParaRPr lang="en-US" sz="1200" dirty="0"/>
          </a:p>
        </p:txBody>
      </p:sp>
      <p:sp>
        <p:nvSpPr>
          <p:cNvPr id="7" name="Text 5"/>
          <p:cNvSpPr/>
          <p:nvPr/>
        </p:nvSpPr>
        <p:spPr>
          <a:xfrm>
            <a:off x="3219742" y="1824059"/>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8" name="Shape 6"/>
          <p:cNvSpPr/>
          <p:nvPr/>
        </p:nvSpPr>
        <p:spPr>
          <a:xfrm>
            <a:off x="4380373" y="1575336"/>
            <a:ext cx="3431169" cy="710821"/>
          </a:xfrm>
          <a:prstGeom prst="roundRect">
            <a:avLst>
              <a:gd name="adj" fmla="val 8487"/>
            </a:avLst>
          </a:prstGeom>
          <a:solidFill>
            <a:srgbClr val="FDFDFE"/>
          </a:solidFill>
          <a:ln w="6350">
            <a:solidFill>
              <a:srgbClr val="D3DAE3"/>
            </a:solidFill>
            <a:prstDash val="solid"/>
          </a:ln>
        </p:spPr>
      </p:sp>
      <p:sp>
        <p:nvSpPr>
          <p:cNvPr id="9" name="Text 7"/>
          <p:cNvSpPr/>
          <p:nvPr/>
        </p:nvSpPr>
        <p:spPr>
          <a:xfrm>
            <a:off x="4535101" y="1704674"/>
            <a:ext cx="109704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error_rate</a:t>
            </a:r>
            <a:endParaRPr lang="en-US" sz="1200" dirty="0"/>
          </a:p>
        </p:txBody>
      </p:sp>
      <p:sp>
        <p:nvSpPr>
          <p:cNvPr id="10" name="Text 8"/>
          <p:cNvSpPr/>
          <p:nvPr/>
        </p:nvSpPr>
        <p:spPr>
          <a:xfrm>
            <a:off x="4535101" y="1943441"/>
            <a:ext cx="96500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Share of 5xx</a:t>
            </a:r>
            <a:endParaRPr lang="en-US" sz="1200" dirty="0"/>
          </a:p>
        </p:txBody>
      </p:sp>
      <p:sp>
        <p:nvSpPr>
          <p:cNvPr id="11" name="Text 9"/>
          <p:cNvSpPr/>
          <p:nvPr/>
        </p:nvSpPr>
        <p:spPr>
          <a:xfrm>
            <a:off x="6784209" y="1824059"/>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12" name="Shape 10"/>
          <p:cNvSpPr/>
          <p:nvPr/>
        </p:nvSpPr>
        <p:spPr>
          <a:xfrm>
            <a:off x="7944841" y="1575336"/>
            <a:ext cx="3431169" cy="710821"/>
          </a:xfrm>
          <a:prstGeom prst="roundRect">
            <a:avLst>
              <a:gd name="adj" fmla="val 8487"/>
            </a:avLst>
          </a:prstGeom>
          <a:solidFill>
            <a:srgbClr val="FDFDFE"/>
          </a:solidFill>
          <a:ln w="6350">
            <a:solidFill>
              <a:srgbClr val="D3DAE3"/>
            </a:solidFill>
            <a:prstDash val="solid"/>
          </a:ln>
        </p:spPr>
      </p:sp>
      <p:sp>
        <p:nvSpPr>
          <p:cNvPr id="13" name="Text 11"/>
          <p:cNvSpPr/>
          <p:nvPr/>
        </p:nvSpPr>
        <p:spPr>
          <a:xfrm>
            <a:off x="8099568" y="1704674"/>
            <a:ext cx="153590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p99_latency_ms</a:t>
            </a:r>
            <a:endParaRPr lang="en-US" sz="1200" dirty="0"/>
          </a:p>
        </p:txBody>
      </p:sp>
      <p:sp>
        <p:nvSpPr>
          <p:cNvPr id="14" name="Text 12"/>
          <p:cNvSpPr/>
          <p:nvPr/>
        </p:nvSpPr>
        <p:spPr>
          <a:xfrm>
            <a:off x="8099568" y="1943441"/>
            <a:ext cx="133071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Own p99 latency</a:t>
            </a:r>
            <a:endParaRPr lang="en-US" sz="1200" dirty="0"/>
          </a:p>
        </p:txBody>
      </p:sp>
      <p:sp>
        <p:nvSpPr>
          <p:cNvPr id="15" name="Text 13"/>
          <p:cNvSpPr/>
          <p:nvPr/>
        </p:nvSpPr>
        <p:spPr>
          <a:xfrm>
            <a:off x="10348676" y="1824059"/>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16" name="Shape 14"/>
          <p:cNvSpPr/>
          <p:nvPr/>
        </p:nvSpPr>
        <p:spPr>
          <a:xfrm>
            <a:off x="815906" y="2419455"/>
            <a:ext cx="3431169" cy="710821"/>
          </a:xfrm>
          <a:prstGeom prst="roundRect">
            <a:avLst>
              <a:gd name="adj" fmla="val 8487"/>
            </a:avLst>
          </a:prstGeom>
          <a:solidFill>
            <a:srgbClr val="FDFDFE"/>
          </a:solidFill>
          <a:ln w="6350">
            <a:solidFill>
              <a:srgbClr val="D3DAE3"/>
            </a:solidFill>
            <a:prstDash val="solid"/>
          </a:ln>
        </p:spPr>
      </p:sp>
      <p:sp>
        <p:nvSpPr>
          <p:cNvPr id="17" name="Text 15"/>
          <p:cNvSpPr/>
          <p:nvPr/>
        </p:nvSpPr>
        <p:spPr>
          <a:xfrm>
            <a:off x="970633" y="2548793"/>
            <a:ext cx="144940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inflight</a:t>
            </a:r>
            <a:endParaRPr lang="en-US" sz="1200" dirty="0"/>
          </a:p>
        </p:txBody>
      </p:sp>
      <p:sp>
        <p:nvSpPr>
          <p:cNvPr id="18" name="Text 16"/>
          <p:cNvSpPr/>
          <p:nvPr/>
        </p:nvSpPr>
        <p:spPr>
          <a:xfrm>
            <a:off x="970633" y="2787560"/>
            <a:ext cx="167832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Concurrent requests</a:t>
            </a:r>
            <a:endParaRPr lang="en-US" sz="1200" dirty="0"/>
          </a:p>
        </p:txBody>
      </p:sp>
      <p:sp>
        <p:nvSpPr>
          <p:cNvPr id="19" name="Text 17"/>
          <p:cNvSpPr/>
          <p:nvPr/>
        </p:nvSpPr>
        <p:spPr>
          <a:xfrm>
            <a:off x="3219742" y="2668178"/>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20" name="Shape 18"/>
          <p:cNvSpPr/>
          <p:nvPr/>
        </p:nvSpPr>
        <p:spPr>
          <a:xfrm>
            <a:off x="4380373" y="2419455"/>
            <a:ext cx="3431169" cy="710821"/>
          </a:xfrm>
          <a:prstGeom prst="roundRect">
            <a:avLst>
              <a:gd name="adj" fmla="val 8487"/>
            </a:avLst>
          </a:prstGeom>
          <a:solidFill>
            <a:srgbClr val="FDFDFE"/>
          </a:solidFill>
          <a:ln w="6350">
            <a:solidFill>
              <a:srgbClr val="D3DAE3"/>
            </a:solidFill>
            <a:prstDash val="solid"/>
          </a:ln>
        </p:spPr>
      </p:sp>
      <p:sp>
        <p:nvSpPr>
          <p:cNvPr id="21" name="Text 19"/>
          <p:cNvSpPr/>
          <p:nvPr/>
        </p:nvSpPr>
        <p:spPr>
          <a:xfrm>
            <a:off x="4535101" y="2548793"/>
            <a:ext cx="135193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cpu_cores</a:t>
            </a:r>
            <a:endParaRPr lang="en-US" sz="1200" dirty="0"/>
          </a:p>
        </p:txBody>
      </p:sp>
      <p:sp>
        <p:nvSpPr>
          <p:cNvPr id="22" name="Text 20"/>
          <p:cNvSpPr/>
          <p:nvPr/>
        </p:nvSpPr>
        <p:spPr>
          <a:xfrm>
            <a:off x="4535101" y="2787560"/>
            <a:ext cx="1561361"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CPU use (cAdvisor)</a:t>
            </a:r>
            <a:endParaRPr lang="en-US" sz="1200" dirty="0"/>
          </a:p>
        </p:txBody>
      </p:sp>
      <p:sp>
        <p:nvSpPr>
          <p:cNvPr id="23" name="Text 21"/>
          <p:cNvSpPr/>
          <p:nvPr/>
        </p:nvSpPr>
        <p:spPr>
          <a:xfrm>
            <a:off x="6784209" y="2668178"/>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24" name="Shape 22"/>
          <p:cNvSpPr/>
          <p:nvPr/>
        </p:nvSpPr>
        <p:spPr>
          <a:xfrm>
            <a:off x="7944841" y="2419455"/>
            <a:ext cx="3431169" cy="710821"/>
          </a:xfrm>
          <a:prstGeom prst="roundRect">
            <a:avLst>
              <a:gd name="adj" fmla="val 8487"/>
            </a:avLst>
          </a:prstGeom>
          <a:solidFill>
            <a:srgbClr val="FDFDFE"/>
          </a:solidFill>
          <a:ln w="6350">
            <a:solidFill>
              <a:srgbClr val="D3DAE3"/>
            </a:solidFill>
            <a:prstDash val="solid"/>
          </a:ln>
        </p:spPr>
      </p:sp>
      <p:sp>
        <p:nvSpPr>
          <p:cNvPr id="25" name="Text 23"/>
          <p:cNvSpPr/>
          <p:nvPr/>
        </p:nvSpPr>
        <p:spPr>
          <a:xfrm>
            <a:off x="8099568" y="2548793"/>
            <a:ext cx="1974760"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cpu_throttle_ratio</a:t>
            </a:r>
            <a:endParaRPr lang="en-US" sz="1200" dirty="0"/>
          </a:p>
        </p:txBody>
      </p:sp>
      <p:sp>
        <p:nvSpPr>
          <p:cNvPr id="26" name="Text 24"/>
          <p:cNvSpPr/>
          <p:nvPr/>
        </p:nvSpPr>
        <p:spPr>
          <a:xfrm>
            <a:off x="8099568" y="2787560"/>
            <a:ext cx="169643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Throttled CFS periods</a:t>
            </a:r>
            <a:endParaRPr lang="en-US" sz="1200" dirty="0"/>
          </a:p>
        </p:txBody>
      </p:sp>
      <p:sp>
        <p:nvSpPr>
          <p:cNvPr id="27" name="Text 25"/>
          <p:cNvSpPr/>
          <p:nvPr/>
        </p:nvSpPr>
        <p:spPr>
          <a:xfrm>
            <a:off x="10348676" y="2668178"/>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28" name="Shape 26"/>
          <p:cNvSpPr/>
          <p:nvPr/>
        </p:nvSpPr>
        <p:spPr>
          <a:xfrm>
            <a:off x="815906" y="3263574"/>
            <a:ext cx="3431169" cy="710821"/>
          </a:xfrm>
          <a:prstGeom prst="roundRect">
            <a:avLst>
              <a:gd name="adj" fmla="val 8487"/>
            </a:avLst>
          </a:prstGeom>
          <a:solidFill>
            <a:srgbClr val="FDFDFE"/>
          </a:solidFill>
          <a:ln w="6350">
            <a:solidFill>
              <a:srgbClr val="D3DAE3"/>
            </a:solidFill>
            <a:prstDash val="solid"/>
          </a:ln>
        </p:spPr>
      </p:sp>
      <p:sp>
        <p:nvSpPr>
          <p:cNvPr id="29" name="Text 27"/>
          <p:cNvSpPr/>
          <p:nvPr/>
        </p:nvSpPr>
        <p:spPr>
          <a:xfrm>
            <a:off x="970633" y="3392915"/>
            <a:ext cx="1487491"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memory_mb</a:t>
            </a:r>
            <a:endParaRPr lang="en-US" sz="1200" dirty="0"/>
          </a:p>
        </p:txBody>
      </p:sp>
      <p:sp>
        <p:nvSpPr>
          <p:cNvPr id="30" name="Text 28"/>
          <p:cNvSpPr/>
          <p:nvPr/>
        </p:nvSpPr>
        <p:spPr>
          <a:xfrm>
            <a:off x="970633" y="3631682"/>
            <a:ext cx="172402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Working-set memory</a:t>
            </a:r>
            <a:endParaRPr lang="en-US" sz="1200" dirty="0"/>
          </a:p>
        </p:txBody>
      </p:sp>
      <p:sp>
        <p:nvSpPr>
          <p:cNvPr id="31" name="Text 29"/>
          <p:cNvSpPr/>
          <p:nvPr/>
        </p:nvSpPr>
        <p:spPr>
          <a:xfrm>
            <a:off x="3219742" y="3512297"/>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32" name="Shape 30"/>
          <p:cNvSpPr/>
          <p:nvPr/>
        </p:nvSpPr>
        <p:spPr>
          <a:xfrm>
            <a:off x="4380373" y="3263574"/>
            <a:ext cx="3431169" cy="710821"/>
          </a:xfrm>
          <a:prstGeom prst="roundRect">
            <a:avLst>
              <a:gd name="adj" fmla="val 8487"/>
            </a:avLst>
          </a:prstGeom>
          <a:solidFill>
            <a:srgbClr val="FDFDFE"/>
          </a:solidFill>
          <a:ln w="6350">
            <a:solidFill>
              <a:srgbClr val="D3DAE3"/>
            </a:solidFill>
            <a:prstDash val="solid"/>
          </a:ln>
        </p:spPr>
      </p:sp>
      <p:sp>
        <p:nvSpPr>
          <p:cNvPr id="33" name="Text 31"/>
          <p:cNvSpPr/>
          <p:nvPr/>
        </p:nvSpPr>
        <p:spPr>
          <a:xfrm>
            <a:off x="4535101" y="3392915"/>
            <a:ext cx="191163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caller_error_rate</a:t>
            </a:r>
            <a:endParaRPr lang="en-US" sz="1200" dirty="0"/>
          </a:p>
        </p:txBody>
      </p:sp>
      <p:sp>
        <p:nvSpPr>
          <p:cNvPr id="34" name="Text 32"/>
          <p:cNvSpPr/>
          <p:nvPr/>
        </p:nvSpPr>
        <p:spPr>
          <a:xfrm>
            <a:off x="4535101" y="3631682"/>
            <a:ext cx="191163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Failures seen by callers</a:t>
            </a:r>
            <a:endParaRPr lang="en-US" sz="1200" dirty="0"/>
          </a:p>
        </p:txBody>
      </p:sp>
      <p:sp>
        <p:nvSpPr>
          <p:cNvPr id="35" name="Text 33"/>
          <p:cNvSpPr/>
          <p:nvPr/>
        </p:nvSpPr>
        <p:spPr>
          <a:xfrm>
            <a:off x="6784209" y="3512297"/>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36" name="Shape 34"/>
          <p:cNvSpPr/>
          <p:nvPr/>
        </p:nvSpPr>
        <p:spPr>
          <a:xfrm>
            <a:off x="7944841" y="3263574"/>
            <a:ext cx="3431169" cy="710821"/>
          </a:xfrm>
          <a:prstGeom prst="roundRect">
            <a:avLst>
              <a:gd name="adj" fmla="val 8487"/>
            </a:avLst>
          </a:prstGeom>
          <a:solidFill>
            <a:srgbClr val="FDFDFE"/>
          </a:solidFill>
          <a:ln w="6350">
            <a:solidFill>
              <a:srgbClr val="D3DAE3"/>
            </a:solidFill>
            <a:prstDash val="solid"/>
          </a:ln>
        </p:spPr>
      </p:sp>
      <p:sp>
        <p:nvSpPr>
          <p:cNvPr id="37" name="Text 35"/>
          <p:cNvSpPr/>
          <p:nvPr/>
        </p:nvSpPr>
        <p:spPr>
          <a:xfrm>
            <a:off x="8099568" y="3392915"/>
            <a:ext cx="163756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caller_p99_ms</a:t>
            </a:r>
            <a:endParaRPr lang="en-US" sz="1200" dirty="0"/>
          </a:p>
        </p:txBody>
      </p:sp>
      <p:sp>
        <p:nvSpPr>
          <p:cNvPr id="38" name="Text 36"/>
          <p:cNvSpPr/>
          <p:nvPr/>
        </p:nvSpPr>
        <p:spPr>
          <a:xfrm>
            <a:off x="8099568" y="3631682"/>
            <a:ext cx="190412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Latency seen by callers</a:t>
            </a:r>
            <a:endParaRPr lang="en-US" sz="1200" dirty="0"/>
          </a:p>
        </p:txBody>
      </p:sp>
      <p:sp>
        <p:nvSpPr>
          <p:cNvPr id="39" name="Text 37"/>
          <p:cNvSpPr/>
          <p:nvPr/>
        </p:nvSpPr>
        <p:spPr>
          <a:xfrm>
            <a:off x="10348676" y="3512297"/>
            <a:ext cx="872605"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 harmful</a:t>
            </a:r>
            <a:endParaRPr lang="en-US" sz="1200" dirty="0"/>
          </a:p>
        </p:txBody>
      </p:sp>
      <p:sp>
        <p:nvSpPr>
          <p:cNvPr id="40" name="Shape 38"/>
          <p:cNvSpPr/>
          <p:nvPr/>
        </p:nvSpPr>
        <p:spPr>
          <a:xfrm>
            <a:off x="812731" y="4231556"/>
            <a:ext cx="10566453" cy="995588"/>
          </a:xfrm>
          <a:prstGeom prst="roundRect">
            <a:avLst>
              <a:gd name="adj" fmla="val 7654"/>
            </a:avLst>
          </a:prstGeom>
          <a:solidFill>
            <a:srgbClr val="16213A"/>
          </a:solidFill>
          <a:ln/>
        </p:spPr>
      </p:sp>
      <p:sp>
        <p:nvSpPr>
          <p:cNvPr id="41" name="Text 39"/>
          <p:cNvSpPr/>
          <p:nvPr/>
        </p:nvSpPr>
        <p:spPr>
          <a:xfrm>
            <a:off x="1041325" y="4613793"/>
            <a:ext cx="4413370" cy="25651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1F5"/>
                </a:solidFill>
                <a:latin typeface="IBM Plex Mono" pitchFamily="49" charset="0"/>
                <a:ea typeface="IBM Plex Mono" pitchFamily="49" charset="-122"/>
                <a:cs typeface="IBM Plex Mono" pitchFamily="49" charset="-120"/>
              </a:rPr>
              <a:t>z = (x − median) / max(1.4826·MAD, floors)</a:t>
            </a:r>
            <a:endParaRPr lang="en-US" sz="1300" dirty="0"/>
          </a:p>
        </p:txBody>
      </p:sp>
      <p:sp>
        <p:nvSpPr>
          <p:cNvPr id="42" name="Text 40"/>
          <p:cNvSpPr/>
          <p:nvPr/>
        </p:nvSpPr>
        <p:spPr>
          <a:xfrm>
            <a:off x="5454694" y="4409284"/>
            <a:ext cx="5866773" cy="66553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Normalised per service, clipped to ±25 and projected onto the harmful direction. Payment's normal 250 ms p99 is not an anomaly just because product runs at 15 ms.</a:t>
            </a:r>
            <a:endParaRPr lang="en-US" sz="1200" dirty="0"/>
          </a:p>
        </p:txBody>
      </p:sp>
      <p:sp>
        <p:nvSpPr>
          <p:cNvPr id="43" name="Text 41"/>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44" name="Text 42"/>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DETECT</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Three voters and a forecaster</a:t>
            </a:r>
            <a:endParaRPr lang="en-US" sz="3000" dirty="0"/>
          </a:p>
        </p:txBody>
      </p:sp>
      <p:sp>
        <p:nvSpPr>
          <p:cNvPr id="4" name="Shape 2"/>
          <p:cNvSpPr/>
          <p:nvPr/>
        </p:nvSpPr>
        <p:spPr>
          <a:xfrm>
            <a:off x="815906" y="1575336"/>
            <a:ext cx="2520966" cy="1896832"/>
          </a:xfrm>
          <a:prstGeom prst="roundRect">
            <a:avLst>
              <a:gd name="adj" fmla="val 3850"/>
            </a:avLst>
          </a:prstGeom>
          <a:solidFill>
            <a:srgbClr val="FDFDFE"/>
          </a:solidFill>
          <a:ln w="6350">
            <a:solidFill>
              <a:srgbClr val="D3DAE3"/>
            </a:solidFill>
            <a:prstDash val="solid"/>
          </a:ln>
        </p:spPr>
      </p:sp>
      <p:sp>
        <p:nvSpPr>
          <p:cNvPr id="5" name="Text 3"/>
          <p:cNvSpPr/>
          <p:nvPr/>
        </p:nvSpPr>
        <p:spPr>
          <a:xfrm>
            <a:off x="996023" y="1755453"/>
            <a:ext cx="2225553"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Isolation Forest</a:t>
            </a:r>
            <a:endParaRPr lang="en-US" sz="1400" dirty="0"/>
          </a:p>
        </p:txBody>
      </p:sp>
      <p:sp>
        <p:nvSpPr>
          <p:cNvPr id="6" name="Text 4"/>
          <p:cNvSpPr/>
          <p:nvPr/>
        </p:nvSpPr>
        <p:spPr>
          <a:xfrm>
            <a:off x="1094829" y="2057695"/>
            <a:ext cx="2119127" cy="1259756"/>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200 trees, 256 samples</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4 jittered copies, σ 0.75</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Midpoint threshold calibration</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Vote: score &lt; 0.1031 and z ≥ 3</a:t>
            </a:r>
            <a:endParaRPr lang="en-US" sz="1200" dirty="0"/>
          </a:p>
        </p:txBody>
      </p:sp>
      <p:sp>
        <p:nvSpPr>
          <p:cNvPr id="7" name="Shape 5"/>
          <p:cNvSpPr/>
          <p:nvPr/>
        </p:nvSpPr>
        <p:spPr>
          <a:xfrm>
            <a:off x="3495560" y="1575336"/>
            <a:ext cx="2521053" cy="1896832"/>
          </a:xfrm>
          <a:prstGeom prst="roundRect">
            <a:avLst>
              <a:gd name="adj" fmla="val 3850"/>
            </a:avLst>
          </a:prstGeom>
          <a:solidFill>
            <a:srgbClr val="FDFDFE"/>
          </a:solidFill>
          <a:ln w="6350">
            <a:solidFill>
              <a:srgbClr val="D3DAE3"/>
            </a:solidFill>
            <a:prstDash val="solid"/>
          </a:ln>
        </p:spPr>
      </p:sp>
      <p:sp>
        <p:nvSpPr>
          <p:cNvPr id="8" name="Text 6"/>
          <p:cNvSpPr/>
          <p:nvPr/>
        </p:nvSpPr>
        <p:spPr>
          <a:xfrm>
            <a:off x="3675678" y="1755453"/>
            <a:ext cx="2225643"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z-score rule</a:t>
            </a:r>
            <a:endParaRPr lang="en-US" sz="1400" dirty="0"/>
          </a:p>
        </p:txBody>
      </p:sp>
      <p:sp>
        <p:nvSpPr>
          <p:cNvPr id="9" name="Text 7"/>
          <p:cNvSpPr/>
          <p:nvPr/>
        </p:nvSpPr>
        <p:spPr>
          <a:xfrm>
            <a:off x="3774484" y="2057695"/>
            <a:ext cx="2119217" cy="1054030"/>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Any harmful z ≥ 6σ</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Catches extremes where IF scores saturate</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Top deviations kept as evidence</a:t>
            </a:r>
            <a:endParaRPr lang="en-US" sz="1200" dirty="0"/>
          </a:p>
        </p:txBody>
      </p:sp>
      <p:sp>
        <p:nvSpPr>
          <p:cNvPr id="10" name="Shape 8"/>
          <p:cNvSpPr/>
          <p:nvPr/>
        </p:nvSpPr>
        <p:spPr>
          <a:xfrm>
            <a:off x="6175301" y="1575336"/>
            <a:ext cx="2520966" cy="1896832"/>
          </a:xfrm>
          <a:prstGeom prst="roundRect">
            <a:avLst>
              <a:gd name="adj" fmla="val 3850"/>
            </a:avLst>
          </a:prstGeom>
          <a:solidFill>
            <a:srgbClr val="FDFDFE"/>
          </a:solidFill>
          <a:ln w="6350">
            <a:solidFill>
              <a:srgbClr val="D3DAE3"/>
            </a:solidFill>
            <a:prstDash val="solid"/>
          </a:ln>
        </p:spPr>
      </p:sp>
      <p:sp>
        <p:nvSpPr>
          <p:cNvPr id="11" name="Text 9"/>
          <p:cNvSpPr/>
          <p:nvPr/>
        </p:nvSpPr>
        <p:spPr>
          <a:xfrm>
            <a:off x="6355419" y="1755453"/>
            <a:ext cx="2225553"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Structural flags</a:t>
            </a:r>
            <a:endParaRPr lang="en-US" sz="1400" dirty="0"/>
          </a:p>
        </p:txBody>
      </p:sp>
      <p:sp>
        <p:nvSpPr>
          <p:cNvPr id="12" name="Text 10"/>
          <p:cNvSpPr/>
          <p:nvPr/>
        </p:nvSpPr>
        <p:spPr>
          <a:xfrm>
            <a:off x="6454225" y="2057695"/>
            <a:ext cx="2119127" cy="1054030"/>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Replica lost (pod identity)</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All replicas down</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Container restarted</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Capacity below baseline</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Metrics unreachable</a:t>
            </a:r>
            <a:endParaRPr lang="en-US" sz="1200" dirty="0"/>
          </a:p>
        </p:txBody>
      </p:sp>
      <p:sp>
        <p:nvSpPr>
          <p:cNvPr id="13" name="Shape 11"/>
          <p:cNvSpPr/>
          <p:nvPr/>
        </p:nvSpPr>
        <p:spPr>
          <a:xfrm>
            <a:off x="8854956" y="1575336"/>
            <a:ext cx="2521053" cy="1896832"/>
          </a:xfrm>
          <a:prstGeom prst="roundRect">
            <a:avLst>
              <a:gd name="adj" fmla="val 3850"/>
            </a:avLst>
          </a:prstGeom>
          <a:solidFill>
            <a:srgbClr val="FDFDFE"/>
          </a:solidFill>
          <a:ln w="6350">
            <a:solidFill>
              <a:srgbClr val="D3DAE3"/>
            </a:solidFill>
            <a:prstDash val="solid"/>
          </a:ln>
        </p:spPr>
      </p:sp>
      <p:sp>
        <p:nvSpPr>
          <p:cNvPr id="14" name="Text 12"/>
          <p:cNvSpPr/>
          <p:nvPr/>
        </p:nvSpPr>
        <p:spPr>
          <a:xfrm>
            <a:off x="9035073" y="1755453"/>
            <a:ext cx="2225643"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LSTM forecaster</a:t>
            </a:r>
            <a:endParaRPr lang="en-US" sz="1400" dirty="0"/>
          </a:p>
        </p:txBody>
      </p:sp>
      <p:sp>
        <p:nvSpPr>
          <p:cNvPr id="15" name="Text 13"/>
          <p:cNvSpPr/>
          <p:nvPr/>
        </p:nvSpPr>
        <p:spPr>
          <a:xfrm>
            <a:off x="9133879" y="2057695"/>
            <a:ext cx="2119217" cy="848304"/>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12 steps in → 12 out (60 s)</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Hidden 48, residual output</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Predicts anomaly at +60 s</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Surprise score per tick</a:t>
            </a:r>
            <a:endParaRPr lang="en-US" sz="1200" dirty="0"/>
          </a:p>
        </p:txBody>
      </p:sp>
      <p:sp>
        <p:nvSpPr>
          <p:cNvPr id="16" name="Shape 14"/>
          <p:cNvSpPr/>
          <p:nvPr/>
        </p:nvSpPr>
        <p:spPr>
          <a:xfrm>
            <a:off x="812731" y="3738851"/>
            <a:ext cx="2527316" cy="0"/>
          </a:xfrm>
          <a:prstGeom prst="line">
            <a:avLst/>
          </a:prstGeom>
          <a:noFill/>
          <a:ln w="19050">
            <a:solidFill>
              <a:srgbClr val="1F5FA8"/>
            </a:solidFill>
            <a:prstDash val="solid"/>
          </a:ln>
        </p:spPr>
      </p:sp>
      <p:sp>
        <p:nvSpPr>
          <p:cNvPr id="17" name="Text 15"/>
          <p:cNvSpPr/>
          <p:nvPr/>
        </p:nvSpPr>
        <p:spPr>
          <a:xfrm>
            <a:off x="812731" y="3847579"/>
            <a:ext cx="2603136" cy="41659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5FA8"/>
                </a:solidFill>
                <a:latin typeface="IBM Plex Sans" pitchFamily="34" charset="0"/>
                <a:ea typeface="IBM Plex Sans" pitchFamily="34" charset="-122"/>
                <a:cs typeface="IBM Plex Sans" pitchFamily="34" charset="-120"/>
              </a:rPr>
              <a:t>0 %</a:t>
            </a:r>
            <a:endParaRPr lang="en-US" sz="2800" dirty="0"/>
          </a:p>
        </p:txBody>
      </p:sp>
      <p:sp>
        <p:nvSpPr>
          <p:cNvPr id="18" name="Text 16"/>
          <p:cNvSpPr/>
          <p:nvPr/>
        </p:nvSpPr>
        <p:spPr>
          <a:xfrm>
            <a:off x="812731" y="4264161"/>
            <a:ext cx="260313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hold-out false positives</a:t>
            </a:r>
            <a:endParaRPr lang="en-US" sz="1200" dirty="0"/>
          </a:p>
        </p:txBody>
      </p:sp>
      <p:sp>
        <p:nvSpPr>
          <p:cNvPr id="19" name="Shape 17"/>
          <p:cNvSpPr/>
          <p:nvPr/>
        </p:nvSpPr>
        <p:spPr>
          <a:xfrm>
            <a:off x="3492385" y="3738851"/>
            <a:ext cx="2527403" cy="0"/>
          </a:xfrm>
          <a:prstGeom prst="line">
            <a:avLst/>
          </a:prstGeom>
          <a:noFill/>
          <a:ln w="19050">
            <a:solidFill>
              <a:srgbClr val="1F5FA8"/>
            </a:solidFill>
            <a:prstDash val="solid"/>
          </a:ln>
        </p:spPr>
      </p:sp>
      <p:sp>
        <p:nvSpPr>
          <p:cNvPr id="20" name="Text 18"/>
          <p:cNvSpPr/>
          <p:nvPr/>
        </p:nvSpPr>
        <p:spPr>
          <a:xfrm>
            <a:off x="3492385" y="3847579"/>
            <a:ext cx="2603225" cy="41659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5FA8"/>
                </a:solidFill>
                <a:latin typeface="IBM Plex Sans" pitchFamily="34" charset="0"/>
                <a:ea typeface="IBM Plex Sans" pitchFamily="34" charset="-122"/>
                <a:cs typeface="IBM Plex Sans" pitchFamily="34" charset="-120"/>
              </a:rPr>
              <a:t>100 %</a:t>
            </a:r>
            <a:endParaRPr lang="en-US" sz="2800" dirty="0"/>
          </a:p>
        </p:txBody>
      </p:sp>
      <p:sp>
        <p:nvSpPr>
          <p:cNvPr id="21" name="Text 19"/>
          <p:cNvSpPr/>
          <p:nvPr/>
        </p:nvSpPr>
        <p:spPr>
          <a:xfrm>
            <a:off x="3492385" y="4264161"/>
            <a:ext cx="26032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probe detection, all 9 features</a:t>
            </a:r>
            <a:endParaRPr lang="en-US" sz="1200" dirty="0"/>
          </a:p>
        </p:txBody>
      </p:sp>
      <p:sp>
        <p:nvSpPr>
          <p:cNvPr id="22" name="Shape 20"/>
          <p:cNvSpPr/>
          <p:nvPr/>
        </p:nvSpPr>
        <p:spPr>
          <a:xfrm>
            <a:off x="6172126" y="3738851"/>
            <a:ext cx="2527316" cy="0"/>
          </a:xfrm>
          <a:prstGeom prst="line">
            <a:avLst/>
          </a:prstGeom>
          <a:noFill/>
          <a:ln w="19050">
            <a:solidFill>
              <a:srgbClr val="1F5FA8"/>
            </a:solidFill>
            <a:prstDash val="solid"/>
          </a:ln>
        </p:spPr>
      </p:sp>
      <p:sp>
        <p:nvSpPr>
          <p:cNvPr id="23" name="Text 21"/>
          <p:cNvSpPr/>
          <p:nvPr/>
        </p:nvSpPr>
        <p:spPr>
          <a:xfrm>
            <a:off x="6172126" y="3847579"/>
            <a:ext cx="2603136" cy="41659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5FA8"/>
                </a:solidFill>
                <a:latin typeface="IBM Plex Sans" pitchFamily="34" charset="0"/>
                <a:ea typeface="IBM Plex Sans" pitchFamily="34" charset="-122"/>
                <a:cs typeface="IBM Plex Sans" pitchFamily="34" charset="-120"/>
              </a:rPr>
              <a:t>2 of 3</a:t>
            </a:r>
            <a:endParaRPr lang="en-US" sz="2800" dirty="0"/>
          </a:p>
        </p:txBody>
      </p:sp>
      <p:sp>
        <p:nvSpPr>
          <p:cNvPr id="24" name="Text 22"/>
          <p:cNvSpPr/>
          <p:nvPr/>
        </p:nvSpPr>
        <p:spPr>
          <a:xfrm>
            <a:off x="6172126" y="4264161"/>
            <a:ext cx="2603136"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windows to confirm; strong flags at once</a:t>
            </a:r>
            <a:endParaRPr lang="en-US" sz="1200" dirty="0"/>
          </a:p>
        </p:txBody>
      </p:sp>
      <p:sp>
        <p:nvSpPr>
          <p:cNvPr id="25" name="Shape 23"/>
          <p:cNvSpPr/>
          <p:nvPr/>
        </p:nvSpPr>
        <p:spPr>
          <a:xfrm>
            <a:off x="8851781" y="3738851"/>
            <a:ext cx="2527403" cy="0"/>
          </a:xfrm>
          <a:prstGeom prst="line">
            <a:avLst/>
          </a:prstGeom>
          <a:noFill/>
          <a:ln w="19050">
            <a:solidFill>
              <a:srgbClr val="1F5FA8"/>
            </a:solidFill>
            <a:prstDash val="solid"/>
          </a:ln>
        </p:spPr>
      </p:sp>
      <p:sp>
        <p:nvSpPr>
          <p:cNvPr id="26" name="Text 24"/>
          <p:cNvSpPr/>
          <p:nvPr/>
        </p:nvSpPr>
        <p:spPr>
          <a:xfrm>
            <a:off x="8851781" y="3847579"/>
            <a:ext cx="2603225" cy="41659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5FA8"/>
                </a:solidFill>
                <a:latin typeface="IBM Plex Sans" pitchFamily="34" charset="0"/>
                <a:ea typeface="IBM Plex Sans" pitchFamily="34" charset="-122"/>
                <a:cs typeface="IBM Plex Sans" pitchFamily="34" charset="-120"/>
              </a:rPr>
              <a:t>+30.5 %</a:t>
            </a:r>
            <a:endParaRPr lang="en-US" sz="2800" dirty="0"/>
          </a:p>
        </p:txBody>
      </p:sp>
      <p:sp>
        <p:nvSpPr>
          <p:cNvPr id="27" name="Text 25"/>
          <p:cNvSpPr/>
          <p:nvPr/>
        </p:nvSpPr>
        <p:spPr>
          <a:xfrm>
            <a:off x="8851781" y="4264161"/>
            <a:ext cx="26032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LSTM skill vs persistence</a:t>
            </a:r>
            <a:endParaRPr lang="en-US" sz="1200" dirty="0"/>
          </a:p>
        </p:txBody>
      </p:sp>
      <p:sp>
        <p:nvSpPr>
          <p:cNvPr id="28" name="Text 26"/>
          <p:cNvSpPr/>
          <p:nvPr/>
        </p:nvSpPr>
        <p:spPr>
          <a:xfrm>
            <a:off x="812731" y="6238295"/>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9" name="Text 27"/>
          <p:cNvSpPr/>
          <p:nvPr/>
        </p:nvSpPr>
        <p:spPr>
          <a:xfrm>
            <a:off x="10058466" y="6238295"/>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731" y="609529"/>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DIAGNOSE</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Root-cause analysis: origin versus victims</a:t>
            </a:r>
            <a:endParaRPr lang="en-US" sz="3000" dirty="0"/>
          </a:p>
        </p:txBody>
      </p:sp>
      <p:sp>
        <p:nvSpPr>
          <p:cNvPr id="4" name="Text 2"/>
          <p:cNvSpPr/>
          <p:nvPr/>
        </p:nvSpPr>
        <p:spPr>
          <a:xfrm>
            <a:off x="812731" y="1572161"/>
            <a:ext cx="5363180"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Cluster evidence (incident onset + 30 s)</a:t>
            </a:r>
            <a:endParaRPr lang="en-US" sz="1400" dirty="0"/>
          </a:p>
        </p:txBody>
      </p:sp>
      <p:sp>
        <p:nvSpPr>
          <p:cNvPr id="5" name="Shape 3"/>
          <p:cNvSpPr/>
          <p:nvPr/>
        </p:nvSpPr>
        <p:spPr>
          <a:xfrm>
            <a:off x="812731" y="1887097"/>
            <a:ext cx="5206971" cy="2003350"/>
          </a:xfrm>
          <a:prstGeom prst="roundRect">
            <a:avLst>
              <a:gd name="adj" fmla="val 3804"/>
            </a:avLst>
          </a:prstGeom>
          <a:solidFill>
            <a:srgbClr val="FDFDFE"/>
          </a:solidFill>
          <a:ln/>
        </p:spPr>
      </p:sp>
      <p:sp>
        <p:nvSpPr>
          <p:cNvPr id="6" name="Shape 4"/>
          <p:cNvSpPr/>
          <p:nvPr/>
        </p:nvSpPr>
        <p:spPr>
          <a:xfrm>
            <a:off x="812731" y="1887097"/>
            <a:ext cx="5206971" cy="2003350"/>
          </a:xfrm>
          <a:custGeom>
            <a:avLst/>
            <a:gdLst/>
            <a:ahLst/>
            <a:cxnLst/>
            <a:rect l="l" t="t" r="r" b="b"/>
            <a:pathLst>
              <a:path w="5206971" h="2003350">
                <a:moveTo>
                  <a:pt x="5130771" y="0"/>
                </a:moveTo>
                <a:lnTo>
                  <a:pt x="5130771" y="0"/>
                </a:lnTo>
                <a:arcTo wR="76200" hR="76200" stAng="16200000" swAng="5400000"/>
                <a:lnTo>
                  <a:pt x="5206971" y="1927150"/>
                </a:lnTo>
                <a:arcTo wR="76200" hR="76200" stAng="0" swAng="5400000"/>
                <a:lnTo>
                  <a:pt x="76200" y="2003350"/>
                </a:lnTo>
                <a:arcTo wR="76200" hR="76200" stAng="5400000" swAng="5400000"/>
                <a:lnTo>
                  <a:pt x="0" y="1927150"/>
                </a:lnTo>
                <a:arcTo wR="76200" hR="69850" stAng="10800000" swAng="-5400000"/>
                <a:lnTo>
                  <a:pt x="5130771" y="1997000"/>
                </a:lnTo>
                <a:arcTo wR="69850" hR="69850" stAng="5400000" swAng="-5400000"/>
                <a:lnTo>
                  <a:pt x="5200621" y="76200"/>
                </a:lnTo>
                <a:arcTo wR="69850" hR="76200" stAng="0" swAng="-5400000"/>
                <a:close/>
              </a:path>
            </a:pathLst>
          </a:custGeom>
          <a:solidFill>
            <a:srgbClr val="D3DAE3"/>
          </a:solidFill>
          <a:ln/>
        </p:spPr>
      </p:sp>
      <p:sp>
        <p:nvSpPr>
          <p:cNvPr id="7" name="Shape 5"/>
          <p:cNvSpPr/>
          <p:nvPr/>
        </p:nvSpPr>
        <p:spPr>
          <a:xfrm>
            <a:off x="812731" y="1887097"/>
            <a:ext cx="5206971" cy="2003350"/>
          </a:xfrm>
          <a:custGeom>
            <a:avLst/>
            <a:gdLst/>
            <a:ahLst/>
            <a:cxnLst/>
            <a:rect l="l" t="t" r="r" b="b"/>
            <a:pathLst>
              <a:path w="5206971" h="2003350">
                <a:moveTo>
                  <a:pt x="76200" y="2003350"/>
                </a:moveTo>
                <a:lnTo>
                  <a:pt x="76200" y="2003350"/>
                </a:lnTo>
                <a:arcTo wR="76200" hR="76200" stAng="5400000" swAng="5400000"/>
                <a:lnTo>
                  <a:pt x="0" y="76200"/>
                </a:lnTo>
                <a:arcTo wR="76200" hR="76200" stAng="10800000" swAng="5400000"/>
                <a:lnTo>
                  <a:pt x="5130771" y="0"/>
                </a:lnTo>
                <a:arcTo wR="76200" hR="76200" stAng="16200000" swAng="5400000"/>
                <a:lnTo>
                  <a:pt x="5206971" y="76200"/>
                </a:lnTo>
                <a:arcTo wR="76200" hR="65070" stAng="0" swAng="-5400000"/>
                <a:lnTo>
                  <a:pt x="76200" y="11130"/>
                </a:lnTo>
                <a:arcTo wR="65070" hR="65070" stAng="16200000" swAng="-5400000"/>
                <a:lnTo>
                  <a:pt x="11130" y="1927150"/>
                </a:lnTo>
                <a:arcTo wR="65070" hR="762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3860" y="1898227"/>
          <a:ext cx="5190277" cy="1986654"/>
        </p:xfrm>
        <a:graphic>
          <a:graphicData uri="http://schemas.openxmlformats.org/drawingml/2006/table">
            <a:tbl>
              <a:tblPr/>
              <a:tblGrid>
                <a:gridCol w="4048416">
                  <a:extLst>
                    <a:ext uri="{9D8B030D-6E8A-4147-A177-3AD203B41FA5}">
                      <a16:colId xmlns:a16="http://schemas.microsoft.com/office/drawing/2014/main" val="20000"/>
                    </a:ext>
                  </a:extLst>
                </a:gridCol>
                <a:gridCol w="1141861">
                  <a:extLst>
                    <a:ext uri="{9D8B030D-6E8A-4147-A177-3AD203B41FA5}">
                      <a16:colId xmlns:a16="http://schemas.microsoft.com/office/drawing/2014/main" val="20001"/>
                    </a:ext>
                  </a:extLst>
                </a:gridCol>
              </a:tblGrid>
              <a:tr h="331109">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Weight</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Deny-all NetworkPolicy on the pods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Live CPU limit &lt; 50 % of declared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 max below declared minimum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ERROR log lines, last 60 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 +1.5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Kill / OOM / BackOff events (not our own)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6324464" y="1572161"/>
            <a:ext cx="5206361"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Graph and timing</a:t>
            </a:r>
            <a:endParaRPr lang="en-US" sz="1400" dirty="0"/>
          </a:p>
        </p:txBody>
      </p:sp>
      <p:sp>
        <p:nvSpPr>
          <p:cNvPr id="10" name="Shape 7"/>
          <p:cNvSpPr/>
          <p:nvPr/>
        </p:nvSpPr>
        <p:spPr>
          <a:xfrm>
            <a:off x="6324464" y="2179034"/>
            <a:ext cx="5054720" cy="0"/>
          </a:xfrm>
          <a:prstGeom prst="line">
            <a:avLst/>
          </a:prstGeom>
          <a:noFill/>
          <a:ln w="6350">
            <a:solidFill>
              <a:srgbClr val="D3DAE3"/>
            </a:solidFill>
            <a:prstDash val="solid"/>
          </a:ln>
        </p:spPr>
      </p:sp>
      <p:sp>
        <p:nvSpPr>
          <p:cNvPr id="11" name="Text 8"/>
          <p:cNvSpPr/>
          <p:nvPr/>
        </p:nvSpPr>
        <p:spPr>
          <a:xfrm>
            <a:off x="6324464" y="1887097"/>
            <a:ext cx="2033400"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Severity of the candidate</a:t>
            </a:r>
            <a:endParaRPr lang="en-US" sz="1200" dirty="0"/>
          </a:p>
        </p:txBody>
      </p:sp>
      <p:sp>
        <p:nvSpPr>
          <p:cNvPr id="12" name="Text 9"/>
          <p:cNvSpPr/>
          <p:nvPr/>
        </p:nvSpPr>
        <p:spPr>
          <a:xfrm>
            <a:off x="10676343" y="1887097"/>
            <a:ext cx="702842"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+2 × sev</a:t>
            </a:r>
            <a:endParaRPr lang="en-US" sz="1200" dirty="0"/>
          </a:p>
        </p:txBody>
      </p:sp>
      <p:sp>
        <p:nvSpPr>
          <p:cNvPr id="13" name="Shape 10"/>
          <p:cNvSpPr/>
          <p:nvPr/>
        </p:nvSpPr>
        <p:spPr>
          <a:xfrm>
            <a:off x="6324464" y="2563010"/>
            <a:ext cx="5054720" cy="0"/>
          </a:xfrm>
          <a:prstGeom prst="line">
            <a:avLst/>
          </a:prstGeom>
          <a:noFill/>
          <a:ln w="6350">
            <a:solidFill>
              <a:srgbClr val="D3DAE3"/>
            </a:solidFill>
            <a:prstDash val="solid"/>
          </a:ln>
        </p:spPr>
      </p:sp>
      <p:sp>
        <p:nvSpPr>
          <p:cNvPr id="14" name="Text 11"/>
          <p:cNvSpPr/>
          <p:nvPr/>
        </p:nvSpPr>
        <p:spPr>
          <a:xfrm>
            <a:off x="6324464" y="2271074"/>
            <a:ext cx="28704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Earliest onset · own structural fault</a:t>
            </a:r>
            <a:endParaRPr lang="en-US" sz="1200" dirty="0"/>
          </a:p>
        </p:txBody>
      </p:sp>
      <p:sp>
        <p:nvSpPr>
          <p:cNvPr id="15" name="Text 12"/>
          <p:cNvSpPr/>
          <p:nvPr/>
        </p:nvSpPr>
        <p:spPr>
          <a:xfrm>
            <a:off x="10436984" y="2271074"/>
            <a:ext cx="942201"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+0.75 each</a:t>
            </a:r>
            <a:endParaRPr lang="en-US" sz="1200" dirty="0"/>
          </a:p>
        </p:txBody>
      </p:sp>
      <p:sp>
        <p:nvSpPr>
          <p:cNvPr id="16" name="Shape 13"/>
          <p:cNvSpPr/>
          <p:nvPr/>
        </p:nvSpPr>
        <p:spPr>
          <a:xfrm>
            <a:off x="6324464" y="2946987"/>
            <a:ext cx="5054720" cy="0"/>
          </a:xfrm>
          <a:prstGeom prst="line">
            <a:avLst/>
          </a:prstGeom>
          <a:noFill/>
          <a:ln w="6350">
            <a:solidFill>
              <a:srgbClr val="D3DAE3"/>
            </a:solidFill>
            <a:prstDash val="solid"/>
          </a:ln>
        </p:spPr>
      </p:sp>
      <p:sp>
        <p:nvSpPr>
          <p:cNvPr id="17" name="Text 14"/>
          <p:cNvSpPr/>
          <p:nvPr/>
        </p:nvSpPr>
        <p:spPr>
          <a:xfrm>
            <a:off x="6324464" y="2655050"/>
            <a:ext cx="278392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Explained by a failing dependency</a:t>
            </a:r>
            <a:endParaRPr lang="en-US" sz="1200" dirty="0"/>
          </a:p>
        </p:txBody>
      </p:sp>
      <p:sp>
        <p:nvSpPr>
          <p:cNvPr id="18" name="Text 15"/>
          <p:cNvSpPr/>
          <p:nvPr/>
        </p:nvSpPr>
        <p:spPr>
          <a:xfrm>
            <a:off x="10995313" y="2655050"/>
            <a:ext cx="383871"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−1.5</a:t>
            </a:r>
            <a:endParaRPr lang="en-US" sz="1200" dirty="0"/>
          </a:p>
        </p:txBody>
      </p:sp>
      <p:sp>
        <p:nvSpPr>
          <p:cNvPr id="19" name="Shape 16"/>
          <p:cNvSpPr/>
          <p:nvPr/>
        </p:nvSpPr>
        <p:spPr>
          <a:xfrm>
            <a:off x="6324464" y="3330960"/>
            <a:ext cx="5054720" cy="0"/>
          </a:xfrm>
          <a:prstGeom prst="line">
            <a:avLst/>
          </a:prstGeom>
          <a:noFill/>
          <a:ln w="6350">
            <a:solidFill>
              <a:srgbClr val="D3DAE3"/>
            </a:solidFill>
            <a:prstDash val="solid"/>
          </a:ln>
        </p:spPr>
      </p:sp>
      <p:sp>
        <p:nvSpPr>
          <p:cNvPr id="20" name="Text 17"/>
          <p:cNvSpPr/>
          <p:nvPr/>
        </p:nvSpPr>
        <p:spPr>
          <a:xfrm>
            <a:off x="6324464" y="3039024"/>
            <a:ext cx="4338592"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Caller-side only: callee blamed if excess latency &gt; 100 ms</a:t>
            </a:r>
            <a:endParaRPr lang="en-US" sz="1200" dirty="0"/>
          </a:p>
        </p:txBody>
      </p:sp>
      <p:sp>
        <p:nvSpPr>
          <p:cNvPr id="21" name="Text 18"/>
          <p:cNvSpPr/>
          <p:nvPr/>
        </p:nvSpPr>
        <p:spPr>
          <a:xfrm>
            <a:off x="10995313" y="3039024"/>
            <a:ext cx="383871"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±1.5</a:t>
            </a:r>
            <a:endParaRPr lang="en-US" sz="1200" dirty="0"/>
          </a:p>
        </p:txBody>
      </p:sp>
      <p:sp>
        <p:nvSpPr>
          <p:cNvPr id="22" name="Text 19"/>
          <p:cNvSpPr/>
          <p:nvPr/>
        </p:nvSpPr>
        <p:spPr>
          <a:xfrm>
            <a:off x="6324464" y="3423000"/>
            <a:ext cx="24570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Confidence from score margin</a:t>
            </a:r>
            <a:endParaRPr lang="en-US" sz="1200" dirty="0"/>
          </a:p>
        </p:txBody>
      </p:sp>
      <p:sp>
        <p:nvSpPr>
          <p:cNvPr id="23" name="Text 20"/>
          <p:cNvSpPr/>
          <p:nvPr/>
        </p:nvSpPr>
        <p:spPr>
          <a:xfrm>
            <a:off x="10851845" y="3423000"/>
            <a:ext cx="527340" cy="238778"/>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 0.97</a:t>
            </a:r>
            <a:endParaRPr lang="en-US" sz="1200" dirty="0"/>
          </a:p>
        </p:txBody>
      </p:sp>
      <p:sp>
        <p:nvSpPr>
          <p:cNvPr id="24" name="Shape 21"/>
          <p:cNvSpPr/>
          <p:nvPr/>
        </p:nvSpPr>
        <p:spPr>
          <a:xfrm>
            <a:off x="815906" y="5366832"/>
            <a:ext cx="10560103" cy="472054"/>
          </a:xfrm>
          <a:prstGeom prst="roundRect">
            <a:avLst>
              <a:gd name="adj" fmla="val 15470"/>
            </a:avLst>
          </a:prstGeom>
          <a:solidFill>
            <a:srgbClr val="FDFDFE"/>
          </a:solidFill>
          <a:ln w="6350">
            <a:solidFill>
              <a:srgbClr val="D3DAE3"/>
            </a:solidFill>
            <a:prstDash val="solid"/>
          </a:ln>
        </p:spPr>
      </p:sp>
      <p:sp>
        <p:nvSpPr>
          <p:cNvPr id="25" name="Text 22"/>
          <p:cNvSpPr/>
          <p:nvPr/>
        </p:nvSpPr>
        <p:spPr>
          <a:xfrm>
            <a:off x="996023" y="5496170"/>
            <a:ext cx="59171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Output</a:t>
            </a:r>
            <a:endParaRPr lang="en-US" sz="1200" dirty="0"/>
          </a:p>
        </p:txBody>
      </p:sp>
      <p:sp>
        <p:nvSpPr>
          <p:cNvPr id="26" name="Text 23"/>
          <p:cNvSpPr/>
          <p:nvPr/>
        </p:nvSpPr>
        <p:spPr>
          <a:xfrm>
            <a:off x="1641460" y="5496170"/>
            <a:ext cx="911367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Origin service · fault type refined by evidence · confidence · call path · affected services · plain-English narrative</a:t>
            </a:r>
            <a:endParaRPr lang="en-US" sz="1200" dirty="0"/>
          </a:p>
        </p:txBody>
      </p:sp>
      <p:sp>
        <p:nvSpPr>
          <p:cNvPr id="27" name="Text 24"/>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8" name="Text 25"/>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DECIDE</a:t>
            </a:r>
            <a:endParaRPr lang="en-US" sz="1200" dirty="0"/>
          </a:p>
        </p:txBody>
      </p:sp>
      <p:sp>
        <p:nvSpPr>
          <p:cNvPr id="3" name="Text 1"/>
          <p:cNvSpPr>
            <a:spLocks noGrp="1"/>
          </p:cNvSpPr>
          <p:nvPr>
            <p:ph type="title"/>
          </p:nvPr>
        </p:nvSpPr>
        <p:spPr>
          <a:xfrm>
            <a:off x="812731" y="899074"/>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Guarded playbooks with learned confidence</a:t>
            </a:r>
            <a:endParaRPr lang="en-US" sz="3000" dirty="0"/>
          </a:p>
        </p:txBody>
      </p:sp>
      <p:sp>
        <p:nvSpPr>
          <p:cNvPr id="4" name="Shape 2"/>
          <p:cNvSpPr/>
          <p:nvPr/>
        </p:nvSpPr>
        <p:spPr>
          <a:xfrm>
            <a:off x="812731" y="1572161"/>
            <a:ext cx="5587990" cy="2665568"/>
          </a:xfrm>
          <a:prstGeom prst="roundRect">
            <a:avLst>
              <a:gd name="adj" fmla="val 2859"/>
            </a:avLst>
          </a:prstGeom>
          <a:solidFill>
            <a:srgbClr val="FDFDFE"/>
          </a:solidFill>
          <a:ln/>
        </p:spPr>
      </p:sp>
      <p:sp>
        <p:nvSpPr>
          <p:cNvPr id="5" name="Shape 3"/>
          <p:cNvSpPr/>
          <p:nvPr/>
        </p:nvSpPr>
        <p:spPr>
          <a:xfrm>
            <a:off x="812731" y="1572161"/>
            <a:ext cx="5587990" cy="2665568"/>
          </a:xfrm>
          <a:custGeom>
            <a:avLst/>
            <a:gdLst/>
            <a:ahLst/>
            <a:cxnLst/>
            <a:rect l="l" t="t" r="r" b="b"/>
            <a:pathLst>
              <a:path w="5587990" h="2665568">
                <a:moveTo>
                  <a:pt x="5511790" y="0"/>
                </a:moveTo>
                <a:lnTo>
                  <a:pt x="5511790" y="0"/>
                </a:lnTo>
                <a:arcTo wR="76200" hR="76200" stAng="16200000" swAng="5400000"/>
                <a:lnTo>
                  <a:pt x="5587990" y="2589368"/>
                </a:lnTo>
                <a:arcTo wR="76200" hR="76200" stAng="0" swAng="5400000"/>
                <a:lnTo>
                  <a:pt x="76200" y="2665568"/>
                </a:lnTo>
                <a:arcTo wR="76200" hR="76200" stAng="5400000" swAng="5400000"/>
                <a:lnTo>
                  <a:pt x="0" y="2589368"/>
                </a:lnTo>
                <a:arcTo wR="76200" hR="69850" stAng="10800000" swAng="-5400000"/>
                <a:lnTo>
                  <a:pt x="5511790" y="2659218"/>
                </a:lnTo>
                <a:arcTo wR="69850" hR="69850" stAng="5400000" swAng="-5400000"/>
                <a:lnTo>
                  <a:pt x="5581640" y="76200"/>
                </a:lnTo>
                <a:arcTo wR="69850" hR="76200" stAng="0" swAng="-5400000"/>
                <a:close/>
              </a:path>
            </a:pathLst>
          </a:custGeom>
          <a:solidFill>
            <a:srgbClr val="D3DAE3"/>
          </a:solidFill>
          <a:ln/>
        </p:spPr>
      </p:sp>
      <p:sp>
        <p:nvSpPr>
          <p:cNvPr id="6" name="Shape 4"/>
          <p:cNvSpPr/>
          <p:nvPr/>
        </p:nvSpPr>
        <p:spPr>
          <a:xfrm>
            <a:off x="812731" y="1572161"/>
            <a:ext cx="5587990" cy="2665568"/>
          </a:xfrm>
          <a:custGeom>
            <a:avLst/>
            <a:gdLst/>
            <a:ahLst/>
            <a:cxnLst/>
            <a:rect l="l" t="t" r="r" b="b"/>
            <a:pathLst>
              <a:path w="5587990" h="2665568">
                <a:moveTo>
                  <a:pt x="76200" y="2665568"/>
                </a:moveTo>
                <a:lnTo>
                  <a:pt x="76200" y="2665568"/>
                </a:lnTo>
                <a:arcTo wR="76200" hR="76200" stAng="5400000" swAng="5400000"/>
                <a:lnTo>
                  <a:pt x="0" y="76200"/>
                </a:lnTo>
                <a:arcTo wR="76200" hR="76200" stAng="10800000" swAng="5400000"/>
                <a:lnTo>
                  <a:pt x="5511790" y="0"/>
                </a:lnTo>
                <a:arcTo wR="76200" hR="76200" stAng="16200000" swAng="5400000"/>
                <a:lnTo>
                  <a:pt x="5587990" y="76200"/>
                </a:lnTo>
                <a:arcTo wR="76200" hR="65070" stAng="0" swAng="-5400000"/>
                <a:lnTo>
                  <a:pt x="76200" y="11130"/>
                </a:lnTo>
                <a:arcTo wR="65070" hR="65070" stAng="16200000" swAng="-5400000"/>
                <a:lnTo>
                  <a:pt x="11130" y="2589368"/>
                </a:lnTo>
                <a:arcTo wR="6507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860" y="1583291"/>
          <a:ext cx="5571296" cy="2648872"/>
        </p:xfrm>
        <a:graphic>
          <a:graphicData uri="http://schemas.openxmlformats.org/drawingml/2006/table">
            <a:tbl>
              <a:tblPr/>
              <a:tblGrid>
                <a:gridCol w="2005666">
                  <a:extLst>
                    <a:ext uri="{9D8B030D-6E8A-4147-A177-3AD203B41FA5}">
                      <a16:colId xmlns:a16="http://schemas.microsoft.com/office/drawing/2014/main" val="20000"/>
                    </a:ext>
                  </a:extLst>
                </a:gridCol>
                <a:gridCol w="1782815">
                  <a:extLst>
                    <a:ext uri="{9D8B030D-6E8A-4147-A177-3AD203B41FA5}">
                      <a16:colId xmlns:a16="http://schemas.microsoft.com/office/drawing/2014/main" val="20001"/>
                    </a:ext>
                  </a:extLst>
                </a:gridCol>
                <a:gridCol w="1782815">
                  <a:extLst>
                    <a:ext uri="{9D8B030D-6E8A-4147-A177-3AD203B41FA5}">
                      <a16:colId xmlns:a16="http://schemas.microsoft.com/office/drawing/2014/main" val="20002"/>
                    </a:ext>
                  </a:extLst>
                </a:gridCol>
              </a:tblGrid>
              <a:tr h="331109">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Fault class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Primary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Fallback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pod_crash</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hpa_scaleout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pod_unready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cpu_throttle · oom_kill</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resource_restore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network_partition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policy_rollback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replica_exhaustion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hpa_scaleout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resource_restore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high_latency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traffic_reroute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6"/>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error_spike · unknown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hpa_scaleout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5"/>
          <p:cNvSpPr/>
          <p:nvPr/>
        </p:nvSpPr>
        <p:spPr>
          <a:xfrm>
            <a:off x="6705484" y="1864098"/>
            <a:ext cx="4673701" cy="0"/>
          </a:xfrm>
          <a:prstGeom prst="line">
            <a:avLst/>
          </a:prstGeom>
          <a:noFill/>
          <a:ln w="6350">
            <a:solidFill>
              <a:srgbClr val="D3DAE3"/>
            </a:solidFill>
            <a:prstDash val="solid"/>
          </a:ln>
        </p:spPr>
      </p:sp>
      <p:sp>
        <p:nvSpPr>
          <p:cNvPr id="9" name="Text 6"/>
          <p:cNvSpPr/>
          <p:nvPr/>
        </p:nvSpPr>
        <p:spPr>
          <a:xfrm>
            <a:off x="6705484" y="1572161"/>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G1</a:t>
            </a:r>
            <a:endParaRPr lang="en-US" sz="1200" dirty="0"/>
          </a:p>
        </p:txBody>
      </p:sp>
      <p:sp>
        <p:nvSpPr>
          <p:cNvPr id="10" name="Text 7"/>
          <p:cNvSpPr/>
          <p:nvPr/>
        </p:nvSpPr>
        <p:spPr>
          <a:xfrm>
            <a:off x="6989900" y="1572161"/>
            <a:ext cx="4170829" cy="231126"/>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Service already being remediated → </a:t>
            </a:r>
            <a:r>
              <a:rPr lang="en-US" sz="1200" b="1" dirty="0">
                <a:solidFill>
                  <a:srgbClr val="4A5568"/>
                </a:solidFill>
                <a:latin typeface="IBM Plex Sans" pitchFamily="34" charset="0"/>
                <a:ea typeface="IBM Plex Sans" pitchFamily="34" charset="-122"/>
                <a:cs typeface="IBM Plex Sans" pitchFamily="34" charset="-120"/>
              </a:rPr>
              <a:t>blocked</a:t>
            </a:r>
            <a:r>
              <a:rPr lang="en-US" sz="1200" dirty="0">
                <a:solidFill>
                  <a:srgbClr val="4A5568"/>
                </a:solidFill>
                <a:latin typeface="IBM Plex Sans" pitchFamily="34" charset="0"/>
                <a:ea typeface="IBM Plex Sans" pitchFamily="34" charset="-122"/>
                <a:cs typeface="IBM Plex Sans" pitchFamily="34" charset="-120"/>
              </a:rPr>
              <a:t>, retry</a:t>
            </a:r>
            <a:endParaRPr lang="en-US" sz="1200" dirty="0"/>
          </a:p>
        </p:txBody>
      </p:sp>
      <p:sp>
        <p:nvSpPr>
          <p:cNvPr id="11" name="Shape 8"/>
          <p:cNvSpPr/>
          <p:nvPr/>
        </p:nvSpPr>
        <p:spPr>
          <a:xfrm>
            <a:off x="6705484" y="2248071"/>
            <a:ext cx="4673701" cy="0"/>
          </a:xfrm>
          <a:prstGeom prst="line">
            <a:avLst/>
          </a:prstGeom>
          <a:noFill/>
          <a:ln w="6350">
            <a:solidFill>
              <a:srgbClr val="D3DAE3"/>
            </a:solidFill>
            <a:prstDash val="solid"/>
          </a:ln>
        </p:spPr>
      </p:sp>
      <p:sp>
        <p:nvSpPr>
          <p:cNvPr id="12" name="Text 9"/>
          <p:cNvSpPr/>
          <p:nvPr/>
        </p:nvSpPr>
        <p:spPr>
          <a:xfrm>
            <a:off x="6705484" y="1956135"/>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G2</a:t>
            </a:r>
            <a:endParaRPr lang="en-US" sz="1200" dirty="0"/>
          </a:p>
        </p:txBody>
      </p:sp>
      <p:sp>
        <p:nvSpPr>
          <p:cNvPr id="13" name="Text 10"/>
          <p:cNvSpPr/>
          <p:nvPr/>
        </p:nvSpPr>
        <p:spPr>
          <a:xfrm>
            <a:off x="6989900" y="1956135"/>
            <a:ext cx="3879299" cy="231126"/>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Would remove last Ready pod → </a:t>
            </a:r>
            <a:r>
              <a:rPr lang="en-US" sz="1200" b="1" dirty="0">
                <a:solidFill>
                  <a:srgbClr val="4A5568"/>
                </a:solidFill>
                <a:latin typeface="IBM Plex Sans" pitchFamily="34" charset="0"/>
                <a:ea typeface="IBM Plex Sans" pitchFamily="34" charset="-122"/>
                <a:cs typeface="IBM Plex Sans" pitchFamily="34" charset="-120"/>
              </a:rPr>
              <a:t>rolling restart</a:t>
            </a:r>
            <a:endParaRPr lang="en-US" sz="1200" dirty="0"/>
          </a:p>
        </p:txBody>
      </p:sp>
      <p:sp>
        <p:nvSpPr>
          <p:cNvPr id="14" name="Shape 11"/>
          <p:cNvSpPr/>
          <p:nvPr/>
        </p:nvSpPr>
        <p:spPr>
          <a:xfrm>
            <a:off x="6705484" y="2632048"/>
            <a:ext cx="4673701" cy="0"/>
          </a:xfrm>
          <a:prstGeom prst="line">
            <a:avLst/>
          </a:prstGeom>
          <a:noFill/>
          <a:ln w="6350">
            <a:solidFill>
              <a:srgbClr val="D3DAE3"/>
            </a:solidFill>
            <a:prstDash val="solid"/>
          </a:ln>
        </p:spPr>
      </p:sp>
      <p:sp>
        <p:nvSpPr>
          <p:cNvPr id="15" name="Text 12"/>
          <p:cNvSpPr/>
          <p:nvPr/>
        </p:nvSpPr>
        <p:spPr>
          <a:xfrm>
            <a:off x="6705484" y="2340111"/>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G3</a:t>
            </a:r>
            <a:endParaRPr lang="en-US" sz="1200" dirty="0"/>
          </a:p>
        </p:txBody>
      </p:sp>
      <p:sp>
        <p:nvSpPr>
          <p:cNvPr id="16" name="Text 13"/>
          <p:cNvSpPr/>
          <p:nvPr/>
        </p:nvSpPr>
        <p:spPr>
          <a:xfrm>
            <a:off x="6989900" y="2340111"/>
            <a:ext cx="3589648" cy="231126"/>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Same action failed here in 300 s → </a:t>
            </a:r>
            <a:r>
              <a:rPr lang="en-US" sz="1200" b="1" dirty="0">
                <a:solidFill>
                  <a:srgbClr val="4A5568"/>
                </a:solidFill>
                <a:latin typeface="IBM Plex Sans" pitchFamily="34" charset="0"/>
                <a:ea typeface="IBM Plex Sans" pitchFamily="34" charset="-122"/>
                <a:cs typeface="IBM Plex Sans" pitchFamily="34" charset="-120"/>
              </a:rPr>
              <a:t>fallback</a:t>
            </a:r>
            <a:endParaRPr lang="en-US" sz="1200" dirty="0"/>
          </a:p>
        </p:txBody>
      </p:sp>
      <p:sp>
        <p:nvSpPr>
          <p:cNvPr id="17" name="Text 14"/>
          <p:cNvSpPr/>
          <p:nvPr/>
        </p:nvSpPr>
        <p:spPr>
          <a:xfrm>
            <a:off x="6705484" y="2724088"/>
            <a:ext cx="233658"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A8"/>
                </a:solidFill>
                <a:latin typeface="IBM Plex Mono" pitchFamily="49" charset="0"/>
                <a:ea typeface="IBM Plex Mono" pitchFamily="49" charset="-122"/>
                <a:cs typeface="IBM Plex Mono" pitchFamily="49" charset="-120"/>
              </a:rPr>
              <a:t>G4</a:t>
            </a:r>
            <a:endParaRPr lang="en-US" sz="1200" dirty="0"/>
          </a:p>
        </p:txBody>
      </p:sp>
      <p:sp>
        <p:nvSpPr>
          <p:cNvPr id="18" name="Text 15"/>
          <p:cNvSpPr/>
          <p:nvPr/>
        </p:nvSpPr>
        <p:spPr>
          <a:xfrm>
            <a:off x="6989900" y="2724088"/>
            <a:ext cx="3772245" cy="231126"/>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 2 active, higher impact first → </a:t>
            </a:r>
            <a:r>
              <a:rPr lang="en-US" sz="1200" b="1" dirty="0">
                <a:solidFill>
                  <a:srgbClr val="4A5568"/>
                </a:solidFill>
                <a:latin typeface="IBM Plex Sans" pitchFamily="34" charset="0"/>
                <a:ea typeface="IBM Plex Sans" pitchFamily="34" charset="-122"/>
                <a:cs typeface="IBM Plex Sans" pitchFamily="34" charset="-120"/>
              </a:rPr>
              <a:t>deferred</a:t>
            </a:r>
            <a:r>
              <a:rPr lang="en-US" sz="1200" dirty="0">
                <a:solidFill>
                  <a:srgbClr val="4A5568"/>
                </a:solidFill>
                <a:latin typeface="IBM Plex Sans" pitchFamily="34" charset="0"/>
                <a:ea typeface="IBM Plex Sans" pitchFamily="34" charset="-122"/>
                <a:cs typeface="IBM Plex Sans" pitchFamily="34" charset="-120"/>
              </a:rPr>
              <a:t> 30 s</a:t>
            </a:r>
            <a:endParaRPr lang="en-US" sz="1200" dirty="0"/>
          </a:p>
        </p:txBody>
      </p:sp>
      <p:sp>
        <p:nvSpPr>
          <p:cNvPr id="19" name="Shape 16"/>
          <p:cNvSpPr/>
          <p:nvPr/>
        </p:nvSpPr>
        <p:spPr>
          <a:xfrm>
            <a:off x="6705484" y="3051718"/>
            <a:ext cx="4673701" cy="954895"/>
          </a:xfrm>
          <a:prstGeom prst="roundRect">
            <a:avLst>
              <a:gd name="adj" fmla="val 7980"/>
            </a:avLst>
          </a:prstGeom>
          <a:solidFill>
            <a:srgbClr val="16213A"/>
          </a:solidFill>
          <a:ln/>
        </p:spPr>
      </p:sp>
      <p:sp>
        <p:nvSpPr>
          <p:cNvPr id="20" name="Text 17"/>
          <p:cNvSpPr/>
          <p:nvPr/>
        </p:nvSpPr>
        <p:spPr>
          <a:xfrm>
            <a:off x="6870516" y="3191362"/>
            <a:ext cx="447394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1F5"/>
                </a:solidFill>
                <a:latin typeface="IBM Plex Mono" pitchFamily="49" charset="0"/>
                <a:ea typeface="IBM Plex Mono" pitchFamily="49" charset="-122"/>
                <a:cs typeface="IBM Plex Mono" pitchFamily="49" charset="-120"/>
              </a:rPr>
              <a:t>conf = (s + 0.7·2)/(n + 2) × RCA conf</a:t>
            </a:r>
            <a:endParaRPr lang="en-US" sz="1200" dirty="0"/>
          </a:p>
        </p:txBody>
      </p:sp>
      <p:sp>
        <p:nvSpPr>
          <p:cNvPr id="21" name="Text 18"/>
          <p:cNvSpPr/>
          <p:nvPr/>
        </p:nvSpPr>
        <p:spPr>
          <a:xfrm>
            <a:off x="6870516" y="3455519"/>
            <a:ext cx="4473944" cy="43685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7C3D3"/>
                </a:solidFill>
                <a:latin typeface="IBM Plex Sans" pitchFamily="34" charset="0"/>
                <a:ea typeface="IBM Plex Sans" pitchFamily="34" charset="-122"/>
                <a:cs typeface="IBM Plex Sans" pitchFamily="34" charset="-120"/>
              </a:rPr>
              <a:t>Bayesian track record per service × action × fault from SQLite; below 0.4 the fallback may win.</a:t>
            </a:r>
            <a:endParaRPr lang="en-US" sz="1200" dirty="0"/>
          </a:p>
        </p:txBody>
      </p:sp>
      <p:sp>
        <p:nvSpPr>
          <p:cNvPr id="22" name="Text 19"/>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3" name="Text 20"/>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HEAL</a:t>
            </a:r>
            <a:endParaRPr lang="en-US" sz="1200" dirty="0"/>
          </a:p>
        </p:txBody>
      </p:sp>
      <p:sp>
        <p:nvSpPr>
          <p:cNvPr id="3" name="Text 1"/>
          <p:cNvSpPr>
            <a:spLocks noGrp="1"/>
          </p:cNvSpPr>
          <p:nvPr>
            <p:ph type="title"/>
          </p:nvPr>
        </p:nvSpPr>
        <p:spPr>
          <a:xfrm>
            <a:off x="812731" y="899077"/>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Seven remediators, every fix verified</a:t>
            </a:r>
            <a:endParaRPr lang="en-US" sz="3000" dirty="0"/>
          </a:p>
        </p:txBody>
      </p:sp>
      <p:sp>
        <p:nvSpPr>
          <p:cNvPr id="4" name="Shape 2"/>
          <p:cNvSpPr/>
          <p:nvPr/>
        </p:nvSpPr>
        <p:spPr>
          <a:xfrm>
            <a:off x="812731" y="1572165"/>
            <a:ext cx="5714938" cy="2665568"/>
          </a:xfrm>
          <a:prstGeom prst="roundRect">
            <a:avLst>
              <a:gd name="adj" fmla="val 2859"/>
            </a:avLst>
          </a:prstGeom>
          <a:solidFill>
            <a:srgbClr val="FDFDFE"/>
          </a:solidFill>
          <a:ln/>
        </p:spPr>
      </p:sp>
      <p:sp>
        <p:nvSpPr>
          <p:cNvPr id="5" name="Shape 3"/>
          <p:cNvSpPr/>
          <p:nvPr/>
        </p:nvSpPr>
        <p:spPr>
          <a:xfrm>
            <a:off x="812731" y="1572165"/>
            <a:ext cx="5714938" cy="2665568"/>
          </a:xfrm>
          <a:custGeom>
            <a:avLst/>
            <a:gdLst/>
            <a:ahLst/>
            <a:cxnLst/>
            <a:rect l="l" t="t" r="r" b="b"/>
            <a:pathLst>
              <a:path w="5714938" h="2665568">
                <a:moveTo>
                  <a:pt x="5638738" y="0"/>
                </a:moveTo>
                <a:lnTo>
                  <a:pt x="5638738" y="0"/>
                </a:lnTo>
                <a:arcTo wR="76200" hR="76200" stAng="16200000" swAng="5400000"/>
                <a:lnTo>
                  <a:pt x="5714938" y="2589368"/>
                </a:lnTo>
                <a:arcTo wR="76200" hR="76200" stAng="0" swAng="5400000"/>
                <a:lnTo>
                  <a:pt x="76200" y="2665568"/>
                </a:lnTo>
                <a:arcTo wR="76200" hR="76200" stAng="5400000" swAng="5400000"/>
                <a:lnTo>
                  <a:pt x="0" y="2589368"/>
                </a:lnTo>
                <a:arcTo wR="76200" hR="69850" stAng="10800000" swAng="-5400000"/>
                <a:lnTo>
                  <a:pt x="5638738" y="2659218"/>
                </a:lnTo>
                <a:arcTo wR="69850" hR="69850" stAng="5400000" swAng="-5400000"/>
                <a:lnTo>
                  <a:pt x="5708588" y="76200"/>
                </a:lnTo>
                <a:arcTo wR="69850" hR="76200" stAng="0" swAng="-5400000"/>
                <a:close/>
              </a:path>
            </a:pathLst>
          </a:custGeom>
          <a:solidFill>
            <a:srgbClr val="D3DAE3"/>
          </a:solidFill>
          <a:ln/>
        </p:spPr>
      </p:sp>
      <p:sp>
        <p:nvSpPr>
          <p:cNvPr id="6" name="Shape 4"/>
          <p:cNvSpPr/>
          <p:nvPr/>
        </p:nvSpPr>
        <p:spPr>
          <a:xfrm>
            <a:off x="812731" y="1572165"/>
            <a:ext cx="5714938" cy="2665568"/>
          </a:xfrm>
          <a:custGeom>
            <a:avLst/>
            <a:gdLst/>
            <a:ahLst/>
            <a:cxnLst/>
            <a:rect l="l" t="t" r="r" b="b"/>
            <a:pathLst>
              <a:path w="5714938" h="2665568">
                <a:moveTo>
                  <a:pt x="76200" y="2665568"/>
                </a:moveTo>
                <a:lnTo>
                  <a:pt x="76200" y="2665568"/>
                </a:lnTo>
                <a:arcTo wR="76200" hR="76200" stAng="5400000" swAng="5400000"/>
                <a:lnTo>
                  <a:pt x="0" y="76200"/>
                </a:lnTo>
                <a:arcTo wR="76200" hR="76200" stAng="10800000" swAng="5400000"/>
                <a:lnTo>
                  <a:pt x="5638738" y="0"/>
                </a:lnTo>
                <a:arcTo wR="76200" hR="76200" stAng="16200000" swAng="5400000"/>
                <a:lnTo>
                  <a:pt x="5714938" y="76200"/>
                </a:lnTo>
                <a:arcTo wR="76200" hR="65070" stAng="0" swAng="-5400000"/>
                <a:lnTo>
                  <a:pt x="76200" y="11130"/>
                </a:lnTo>
                <a:arcTo wR="65070" hR="65070" stAng="16200000" swAng="-5400000"/>
                <a:lnTo>
                  <a:pt x="11130" y="2589368"/>
                </a:lnTo>
                <a:arcTo wR="6507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860" y="1583294"/>
          <a:ext cx="5698244" cy="2648872"/>
        </p:xfrm>
        <a:graphic>
          <a:graphicData uri="http://schemas.openxmlformats.org/drawingml/2006/table">
            <a:tbl>
              <a:tblPr/>
              <a:tblGrid>
                <a:gridCol w="2051368">
                  <a:extLst>
                    <a:ext uri="{9D8B030D-6E8A-4147-A177-3AD203B41FA5}">
                      <a16:colId xmlns:a16="http://schemas.microsoft.com/office/drawing/2014/main" val="20000"/>
                    </a:ext>
                  </a:extLst>
                </a:gridCol>
                <a:gridCol w="3646876">
                  <a:extLst>
                    <a:ext uri="{9D8B030D-6E8A-4147-A177-3AD203B41FA5}">
                      <a16:colId xmlns:a16="http://schemas.microsoft.com/office/drawing/2014/main" val="20001"/>
                    </a:ext>
                  </a:extLst>
                </a:gridCol>
              </a:tblGrid>
              <a:tr h="331109">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Remediator</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Action on the cluster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pod_restart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Delete the worst pod; wait for convergence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rolling_restart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Restart annotation, zero unavailable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hpa_scaleout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Raise HPA minimum above Ready count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resource_restore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In-place resize back to declared CPU</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policy_rollback</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Delete deny-all NetworkPolicies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traffic_reroute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Relabel slow pod out of the Service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6"/>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cache_flush</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Clear product keys in Redis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6832432" y="1572165"/>
            <a:ext cx="468315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Healer loop</a:t>
            </a:r>
            <a:endParaRPr lang="en-US" sz="1400" dirty="0"/>
          </a:p>
        </p:txBody>
      </p:sp>
      <p:sp>
        <p:nvSpPr>
          <p:cNvPr id="9" name="Text 6"/>
          <p:cNvSpPr/>
          <p:nvPr/>
        </p:nvSpPr>
        <p:spPr>
          <a:xfrm>
            <a:off x="6917486" y="1887097"/>
            <a:ext cx="4590481" cy="1519044"/>
          </a:xfrm>
          <a:prstGeom prst="rect">
            <a:avLst/>
          </a:prstGeom>
          <a:noFill/>
          <a:ln/>
        </p:spPr>
        <p:txBody>
          <a:bodyPr wrap="square" lIns="0" tIns="0" rIns="0" bIns="0" rtlCol="0" anchor="t">
            <a:normAutofit/>
          </a:bodyPr>
          <a:lstStyle/>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Settle one tick, run RCA</a:t>
            </a:r>
            <a:endParaRPr lang="en-US" sz="1200" dirty="0"/>
          </a:p>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Decide under guardrails</a:t>
            </a:r>
            <a:endParaRPr lang="en-US" sz="1200" dirty="0"/>
          </a:p>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Remediate (up to 3 attempts)</a:t>
            </a:r>
            <a:endParaRPr lang="en-US" sz="1200" dirty="0"/>
          </a:p>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Verify: Ready ≥ declared and 5 consecutive probes OK through nginx</a:t>
            </a:r>
            <a:endParaRPr lang="en-US" sz="1200" dirty="0"/>
          </a:p>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On failure, re-diagnose: new origin or fallback</a:t>
            </a:r>
            <a:endParaRPr lang="en-US" sz="1200" dirty="0"/>
          </a:p>
          <a:p>
            <a:pPr marL="168946" indent="-168946" algn="l">
              <a:lnSpc>
                <a:spcPts val="1680"/>
              </a:lnSpc>
              <a:buSzPct val="100000"/>
              <a:buFontTx/>
              <a:buAutoNum type="arabicPeriod"/>
            </a:pPr>
            <a:r>
              <a:rPr lang="en-US" sz="1200" dirty="0">
                <a:solidFill>
                  <a:srgbClr val="4A5568"/>
                </a:solidFill>
                <a:latin typeface="IBM Plex Sans" pitchFamily="34" charset="0"/>
                <a:ea typeface="IBM Plex Sans" pitchFamily="34" charset="-122"/>
                <a:cs typeface="IBM Plex Sans" pitchFamily="34" charset="-120"/>
              </a:rPr>
              <a:t>Recovered = first clean window</a:t>
            </a:r>
            <a:endParaRPr lang="en-US" sz="1200" dirty="0"/>
          </a:p>
        </p:txBody>
      </p:sp>
      <p:sp>
        <p:nvSpPr>
          <p:cNvPr id="10" name="Text 7"/>
          <p:cNvSpPr/>
          <p:nvPr/>
        </p:nvSpPr>
        <p:spPr>
          <a:xfrm>
            <a:off x="6832432" y="3482299"/>
            <a:ext cx="4683155"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RECOVERED · MITIGATED · FAILED · NO_ACTION</a:t>
            </a:r>
            <a:endParaRPr lang="en-US" sz="1200" dirty="0"/>
          </a:p>
        </p:txBody>
      </p:sp>
      <p:sp>
        <p:nvSpPr>
          <p:cNvPr id="11" name="Text 8"/>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12" name="Text 9"/>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6A1E"/>
                </a:solidFill>
                <a:latin typeface="IBM Plex Sans" pitchFamily="34" charset="0"/>
                <a:ea typeface="IBM Plex Sans" pitchFamily="34" charset="-122"/>
                <a:cs typeface="IBM Plex Sans" pitchFamily="34" charset="-120"/>
              </a:rPr>
              <a:t>BREAK ON PURPOSE</a:t>
            </a:r>
            <a:endParaRPr lang="en-US" sz="1200" dirty="0"/>
          </a:p>
        </p:txBody>
      </p:sp>
      <p:sp>
        <p:nvSpPr>
          <p:cNvPr id="3" name="Text 1"/>
          <p:cNvSpPr>
            <a:spLocks noGrp="1"/>
          </p:cNvSpPr>
          <p:nvPr>
            <p:ph type="title"/>
          </p:nvPr>
        </p:nvSpPr>
        <p:spPr>
          <a:xfrm>
            <a:off x="812731" y="899071"/>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Five real fault injectors</a:t>
            </a:r>
            <a:endParaRPr lang="en-US" sz="3000" dirty="0"/>
          </a:p>
        </p:txBody>
      </p:sp>
      <p:sp>
        <p:nvSpPr>
          <p:cNvPr id="4" name="Shape 2"/>
          <p:cNvSpPr/>
          <p:nvPr/>
        </p:nvSpPr>
        <p:spPr>
          <a:xfrm>
            <a:off x="812731" y="1572158"/>
            <a:ext cx="10566453" cy="2003350"/>
          </a:xfrm>
          <a:prstGeom prst="roundRect">
            <a:avLst>
              <a:gd name="adj" fmla="val 3804"/>
            </a:avLst>
          </a:prstGeom>
          <a:solidFill>
            <a:srgbClr val="FDFDFE"/>
          </a:solidFill>
          <a:ln/>
        </p:spPr>
      </p:sp>
      <p:sp>
        <p:nvSpPr>
          <p:cNvPr id="5" name="Shape 3"/>
          <p:cNvSpPr/>
          <p:nvPr/>
        </p:nvSpPr>
        <p:spPr>
          <a:xfrm>
            <a:off x="812731" y="1572158"/>
            <a:ext cx="10566453" cy="2003350"/>
          </a:xfrm>
          <a:custGeom>
            <a:avLst/>
            <a:gdLst/>
            <a:ahLst/>
            <a:cxnLst/>
            <a:rect l="l" t="t" r="r" b="b"/>
            <a:pathLst>
              <a:path w="10566453" h="2003350">
                <a:moveTo>
                  <a:pt x="10490253" y="0"/>
                </a:moveTo>
                <a:lnTo>
                  <a:pt x="10490253" y="0"/>
                </a:lnTo>
                <a:arcTo wR="76200" hR="76200" stAng="16200000" swAng="5400000"/>
                <a:lnTo>
                  <a:pt x="10566453" y="1927150"/>
                </a:lnTo>
                <a:arcTo wR="76200" hR="76200" stAng="0" swAng="5400000"/>
                <a:lnTo>
                  <a:pt x="76200" y="2003350"/>
                </a:lnTo>
                <a:arcTo wR="76200" hR="76200" stAng="5400000" swAng="5400000"/>
                <a:lnTo>
                  <a:pt x="0" y="1927150"/>
                </a:lnTo>
                <a:arcTo wR="76200" hR="69850" stAng="10800000" swAng="-5400000"/>
                <a:lnTo>
                  <a:pt x="10490253" y="1997000"/>
                </a:lnTo>
                <a:arcTo wR="69850" hR="69850" stAng="5400000" swAng="-5400000"/>
                <a:lnTo>
                  <a:pt x="10560103" y="76200"/>
                </a:lnTo>
                <a:arcTo wR="69850" hR="76200" stAng="0" swAng="-5400000"/>
                <a:close/>
              </a:path>
            </a:pathLst>
          </a:custGeom>
          <a:solidFill>
            <a:srgbClr val="D3DAE3"/>
          </a:solidFill>
          <a:ln/>
        </p:spPr>
      </p:sp>
      <p:sp>
        <p:nvSpPr>
          <p:cNvPr id="6" name="Shape 4"/>
          <p:cNvSpPr/>
          <p:nvPr/>
        </p:nvSpPr>
        <p:spPr>
          <a:xfrm>
            <a:off x="812731" y="1572158"/>
            <a:ext cx="10566453" cy="2003350"/>
          </a:xfrm>
          <a:custGeom>
            <a:avLst/>
            <a:gdLst/>
            <a:ahLst/>
            <a:cxnLst/>
            <a:rect l="l" t="t" r="r" b="b"/>
            <a:pathLst>
              <a:path w="10566453" h="2003350">
                <a:moveTo>
                  <a:pt x="76200" y="2003350"/>
                </a:moveTo>
                <a:lnTo>
                  <a:pt x="76200" y="2003350"/>
                </a:lnTo>
                <a:arcTo wR="76200" hR="76200" stAng="5400000" swAng="5400000"/>
                <a:lnTo>
                  <a:pt x="0" y="76200"/>
                </a:lnTo>
                <a:arcTo wR="76200" hR="76200" stAng="10800000" swAng="5400000"/>
                <a:lnTo>
                  <a:pt x="10490253" y="0"/>
                </a:lnTo>
                <a:arcTo wR="76200" hR="76200" stAng="16200000" swAng="5400000"/>
                <a:lnTo>
                  <a:pt x="10566453" y="76200"/>
                </a:lnTo>
                <a:arcTo wR="76200" hR="65070" stAng="0" swAng="-5400000"/>
                <a:lnTo>
                  <a:pt x="76200" y="11130"/>
                </a:lnTo>
                <a:arcTo wR="65070" hR="65070" stAng="16200000" swAng="-5400000"/>
                <a:lnTo>
                  <a:pt x="11130" y="1927150"/>
                </a:lnTo>
                <a:arcTo wR="6507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860" y="1583288"/>
          <a:ext cx="10549760" cy="1986654"/>
        </p:xfrm>
        <a:graphic>
          <a:graphicData uri="http://schemas.openxmlformats.org/drawingml/2006/table">
            <a:tbl>
              <a:tblPr/>
              <a:tblGrid>
                <a:gridCol w="2109952">
                  <a:extLst>
                    <a:ext uri="{9D8B030D-6E8A-4147-A177-3AD203B41FA5}">
                      <a16:colId xmlns:a16="http://schemas.microsoft.com/office/drawing/2014/main" val="20000"/>
                    </a:ext>
                  </a:extLst>
                </a:gridCol>
                <a:gridCol w="4430899">
                  <a:extLst>
                    <a:ext uri="{9D8B030D-6E8A-4147-A177-3AD203B41FA5}">
                      <a16:colId xmlns:a16="http://schemas.microsoft.com/office/drawing/2014/main" val="20001"/>
                    </a:ext>
                  </a:extLst>
                </a:gridCol>
                <a:gridCol w="1898957">
                  <a:extLst>
                    <a:ext uri="{9D8B030D-6E8A-4147-A177-3AD203B41FA5}">
                      <a16:colId xmlns:a16="http://schemas.microsoft.com/office/drawing/2014/main" val="20002"/>
                    </a:ext>
                  </a:extLst>
                </a:gridCol>
                <a:gridCol w="1054976">
                  <a:extLst>
                    <a:ext uri="{9D8B030D-6E8A-4147-A177-3AD203B41FA5}">
                      <a16:colId xmlns:a16="http://schemas.microsoft.com/office/drawing/2014/main" val="20003"/>
                    </a:ext>
                  </a:extLst>
                </a:gridCol>
                <a:gridCol w="1054976">
                  <a:extLst>
                    <a:ext uri="{9D8B030D-6E8A-4147-A177-3AD203B41FA5}">
                      <a16:colId xmlns:a16="http://schemas.microsoft.com/office/drawing/2014/main" val="20004"/>
                    </a:ext>
                  </a:extLst>
                </a:gridCol>
              </a:tblGrid>
              <a:tr h="331109">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Injector</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Mechanism</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Expected class</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Detect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gn="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Recover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pod_deletion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Delete a Ready pod, grace period 0</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pod_crash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25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90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cpu_throttle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In-place resize to 25m CPU</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cpu_throttle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35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90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network_partition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Deny-all NetworkPolicy + conntrack flush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network_partition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30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90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latency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tc netem 200 ms ± 50 ms on one pod</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high_latency</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35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120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replica_reduction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 min = max =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replica_exhaustion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35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120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812731" y="3839015"/>
            <a:ext cx="3420564" cy="0"/>
          </a:xfrm>
          <a:prstGeom prst="line">
            <a:avLst/>
          </a:prstGeom>
          <a:noFill/>
          <a:ln w="19050">
            <a:solidFill>
              <a:srgbClr val="C26A1E"/>
            </a:solidFill>
            <a:prstDash val="solid"/>
          </a:ln>
        </p:spPr>
      </p:sp>
      <p:sp>
        <p:nvSpPr>
          <p:cNvPr id="9" name="Text 6"/>
          <p:cNvSpPr/>
          <p:nvPr/>
        </p:nvSpPr>
        <p:spPr>
          <a:xfrm>
            <a:off x="812731" y="3947747"/>
            <a:ext cx="3523181"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One contract</a:t>
            </a:r>
            <a:endParaRPr lang="en-US" sz="1400" dirty="0"/>
          </a:p>
        </p:txBody>
      </p:sp>
      <p:sp>
        <p:nvSpPr>
          <p:cNvPr id="10" name="Text 7"/>
          <p:cNvSpPr/>
          <p:nvPr/>
        </p:nvSpPr>
        <p:spPr>
          <a:xfrm>
            <a:off x="812731" y="4211904"/>
            <a:ext cx="3523181"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compatible · inject · still_active · reverse</a:t>
            </a:r>
            <a:endParaRPr lang="en-US" sz="1200" dirty="0"/>
          </a:p>
        </p:txBody>
      </p:sp>
      <p:sp>
        <p:nvSpPr>
          <p:cNvPr id="11" name="Shape 8"/>
          <p:cNvSpPr/>
          <p:nvPr/>
        </p:nvSpPr>
        <p:spPr>
          <a:xfrm>
            <a:off x="4385632" y="3839015"/>
            <a:ext cx="3420564" cy="0"/>
          </a:xfrm>
          <a:prstGeom prst="line">
            <a:avLst/>
          </a:prstGeom>
          <a:noFill/>
          <a:ln w="19050">
            <a:solidFill>
              <a:srgbClr val="C26A1E"/>
            </a:solidFill>
            <a:prstDash val="solid"/>
          </a:ln>
        </p:spPr>
      </p:sp>
      <p:sp>
        <p:nvSpPr>
          <p:cNvPr id="12" name="Text 9"/>
          <p:cNvSpPr/>
          <p:nvPr/>
        </p:nvSpPr>
        <p:spPr>
          <a:xfrm>
            <a:off x="4385632" y="3947747"/>
            <a:ext cx="3523181"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Reverse after scoring</a:t>
            </a:r>
            <a:endParaRPr lang="en-US" sz="1400" dirty="0"/>
          </a:p>
        </p:txBody>
      </p:sp>
      <p:sp>
        <p:nvSpPr>
          <p:cNvPr id="13" name="Text 10"/>
          <p:cNvSpPr/>
          <p:nvPr/>
        </p:nvSpPr>
        <p:spPr>
          <a:xfrm>
            <a:off x="4385632" y="4211904"/>
            <a:ext cx="3523181"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Idempotent teardown runs only once recovery is measured.</a:t>
            </a:r>
            <a:endParaRPr lang="en-US" sz="1200" dirty="0"/>
          </a:p>
        </p:txBody>
      </p:sp>
      <p:sp>
        <p:nvSpPr>
          <p:cNvPr id="14" name="Shape 11"/>
          <p:cNvSpPr/>
          <p:nvPr/>
        </p:nvSpPr>
        <p:spPr>
          <a:xfrm>
            <a:off x="7958534" y="3839015"/>
            <a:ext cx="3420564" cy="0"/>
          </a:xfrm>
          <a:prstGeom prst="line">
            <a:avLst/>
          </a:prstGeom>
          <a:noFill/>
          <a:ln w="19050">
            <a:solidFill>
              <a:srgbClr val="C26A1E"/>
            </a:solidFill>
            <a:prstDash val="solid"/>
          </a:ln>
        </p:spPr>
      </p:sp>
      <p:sp>
        <p:nvSpPr>
          <p:cNvPr id="15" name="Text 12"/>
          <p:cNvSpPr/>
          <p:nvPr/>
        </p:nvSpPr>
        <p:spPr>
          <a:xfrm>
            <a:off x="7958534" y="3947747"/>
            <a:ext cx="3523181"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Ground truth</a:t>
            </a:r>
            <a:endParaRPr lang="en-US" sz="1400" dirty="0"/>
          </a:p>
        </p:txBody>
      </p:sp>
      <p:sp>
        <p:nvSpPr>
          <p:cNvPr id="16" name="Text 13"/>
          <p:cNvSpPr/>
          <p:nvPr/>
        </p:nvSpPr>
        <p:spPr>
          <a:xfrm>
            <a:off x="7958534" y="4211904"/>
            <a:ext cx="3523181"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Each fault knows its expected class, so diagnosis is graded.</a:t>
            </a:r>
            <a:endParaRPr lang="en-US" sz="1200" dirty="0"/>
          </a:p>
        </p:txBody>
      </p:sp>
      <p:sp>
        <p:nvSpPr>
          <p:cNvPr id="17" name="Text 14"/>
          <p:cNvSpPr/>
          <p:nvPr/>
        </p:nvSpPr>
        <p:spPr>
          <a:xfrm>
            <a:off x="812731" y="6238292"/>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18" name="Text 15"/>
          <p:cNvSpPr/>
          <p:nvPr/>
        </p:nvSpPr>
        <p:spPr>
          <a:xfrm>
            <a:off x="10058466" y="6238292"/>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6A1E"/>
                </a:solidFill>
                <a:latin typeface="IBM Plex Sans" pitchFamily="34" charset="0"/>
                <a:ea typeface="IBM Plex Sans" pitchFamily="34" charset="-122"/>
                <a:cs typeface="IBM Plex Sans" pitchFamily="34" charset="-120"/>
              </a:rPr>
              <a:t>CHAOS PLANNER AGENT</a:t>
            </a:r>
            <a:endParaRPr lang="en-US" sz="1200" dirty="0"/>
          </a:p>
        </p:txBody>
      </p:sp>
      <p:sp>
        <p:nvSpPr>
          <p:cNvPr id="3" name="Text 1"/>
          <p:cNvSpPr>
            <a:spLocks noGrp="1"/>
          </p:cNvSpPr>
          <p:nvPr>
            <p:ph type="title"/>
          </p:nvPr>
        </p:nvSpPr>
        <p:spPr>
          <a:xfrm>
            <a:off x="812731" y="899071"/>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Choosing what to break next</a:t>
            </a:r>
            <a:endParaRPr lang="en-US" sz="3000" dirty="0"/>
          </a:p>
        </p:txBody>
      </p:sp>
      <p:sp>
        <p:nvSpPr>
          <p:cNvPr id="4" name="Text 2"/>
          <p:cNvSpPr/>
          <p:nvPr/>
        </p:nvSpPr>
        <p:spPr>
          <a:xfrm>
            <a:off x="812731" y="1572158"/>
            <a:ext cx="5624783"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Rule score per (fault, service) candidate</a:t>
            </a:r>
            <a:endParaRPr lang="en-US" sz="1400" dirty="0"/>
          </a:p>
        </p:txBody>
      </p:sp>
      <p:sp>
        <p:nvSpPr>
          <p:cNvPr id="5" name="Text 3"/>
          <p:cNvSpPr/>
          <p:nvPr/>
        </p:nvSpPr>
        <p:spPr>
          <a:xfrm>
            <a:off x="812731" y="1899791"/>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Staleness since last tried</a:t>
            </a:r>
            <a:endParaRPr lang="en-US" sz="1200" dirty="0"/>
          </a:p>
        </p:txBody>
      </p:sp>
      <p:sp>
        <p:nvSpPr>
          <p:cNvPr id="6" name="Shape 4"/>
          <p:cNvSpPr/>
          <p:nvPr/>
        </p:nvSpPr>
        <p:spPr>
          <a:xfrm>
            <a:off x="2844600" y="1917613"/>
            <a:ext cx="3047979" cy="177728"/>
          </a:xfrm>
          <a:prstGeom prst="roundRect">
            <a:avLst>
              <a:gd name="adj" fmla="val 14292"/>
            </a:avLst>
          </a:prstGeom>
          <a:solidFill>
            <a:srgbClr val="C26A1E"/>
          </a:solidFill>
          <a:ln/>
        </p:spPr>
      </p:sp>
      <p:sp>
        <p:nvSpPr>
          <p:cNvPr id="7" name="Text 5"/>
          <p:cNvSpPr/>
          <p:nvPr/>
        </p:nvSpPr>
        <p:spPr>
          <a:xfrm>
            <a:off x="6019528" y="1899791"/>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0.30</a:t>
            </a:r>
            <a:endParaRPr lang="en-US" sz="1200" dirty="0"/>
          </a:p>
        </p:txBody>
      </p:sp>
      <p:sp>
        <p:nvSpPr>
          <p:cNvPr id="8" name="Text 6"/>
          <p:cNvSpPr/>
          <p:nvPr/>
        </p:nvSpPr>
        <p:spPr>
          <a:xfrm>
            <a:off x="812731" y="2227424"/>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Dependents (blast)</a:t>
            </a:r>
            <a:endParaRPr lang="en-US" sz="1200" dirty="0"/>
          </a:p>
        </p:txBody>
      </p:sp>
      <p:sp>
        <p:nvSpPr>
          <p:cNvPr id="9" name="Shape 7"/>
          <p:cNvSpPr/>
          <p:nvPr/>
        </p:nvSpPr>
        <p:spPr>
          <a:xfrm>
            <a:off x="2844600" y="2245246"/>
            <a:ext cx="2031957" cy="177728"/>
          </a:xfrm>
          <a:prstGeom prst="roundRect">
            <a:avLst>
              <a:gd name="adj" fmla="val 14292"/>
            </a:avLst>
          </a:prstGeom>
          <a:solidFill>
            <a:srgbClr val="C26A1E"/>
          </a:solidFill>
          <a:ln/>
        </p:spPr>
      </p:sp>
      <p:sp>
        <p:nvSpPr>
          <p:cNvPr id="10" name="Text 8"/>
          <p:cNvSpPr/>
          <p:nvPr/>
        </p:nvSpPr>
        <p:spPr>
          <a:xfrm>
            <a:off x="5003506" y="2227424"/>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0.20</a:t>
            </a:r>
            <a:endParaRPr lang="en-US" sz="1200" dirty="0"/>
          </a:p>
        </p:txBody>
      </p:sp>
      <p:sp>
        <p:nvSpPr>
          <p:cNvPr id="11" name="Text 9"/>
          <p:cNvSpPr/>
          <p:nvPr/>
        </p:nvSpPr>
        <p:spPr>
          <a:xfrm>
            <a:off x="812731" y="2555050"/>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Past weakness</a:t>
            </a:r>
            <a:endParaRPr lang="en-US" sz="1200" dirty="0"/>
          </a:p>
        </p:txBody>
      </p:sp>
      <p:sp>
        <p:nvSpPr>
          <p:cNvPr id="12" name="Shape 10"/>
          <p:cNvSpPr/>
          <p:nvPr/>
        </p:nvSpPr>
        <p:spPr>
          <a:xfrm>
            <a:off x="2844600" y="2572879"/>
            <a:ext cx="1523989" cy="177728"/>
          </a:xfrm>
          <a:prstGeom prst="roundRect">
            <a:avLst>
              <a:gd name="adj" fmla="val 14292"/>
            </a:avLst>
          </a:prstGeom>
          <a:solidFill>
            <a:srgbClr val="C26A1E"/>
          </a:solidFill>
          <a:ln/>
        </p:spPr>
      </p:sp>
      <p:sp>
        <p:nvSpPr>
          <p:cNvPr id="13" name="Text 11"/>
          <p:cNvSpPr/>
          <p:nvPr/>
        </p:nvSpPr>
        <p:spPr>
          <a:xfrm>
            <a:off x="4495538" y="2555050"/>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0.15</a:t>
            </a:r>
            <a:endParaRPr lang="en-US" sz="1200" dirty="0"/>
          </a:p>
        </p:txBody>
      </p:sp>
      <p:sp>
        <p:nvSpPr>
          <p:cNvPr id="14" name="Text 12"/>
          <p:cNvSpPr/>
          <p:nvPr/>
        </p:nvSpPr>
        <p:spPr>
          <a:xfrm>
            <a:off x="812731" y="2882683"/>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Business impact</a:t>
            </a:r>
            <a:endParaRPr lang="en-US" sz="1200" dirty="0"/>
          </a:p>
        </p:txBody>
      </p:sp>
      <p:sp>
        <p:nvSpPr>
          <p:cNvPr id="15" name="Shape 13"/>
          <p:cNvSpPr/>
          <p:nvPr/>
        </p:nvSpPr>
        <p:spPr>
          <a:xfrm>
            <a:off x="2844600" y="2900511"/>
            <a:ext cx="1523989" cy="177728"/>
          </a:xfrm>
          <a:prstGeom prst="roundRect">
            <a:avLst>
              <a:gd name="adj" fmla="val 14292"/>
            </a:avLst>
          </a:prstGeom>
          <a:solidFill>
            <a:srgbClr val="C26A1E"/>
          </a:solidFill>
          <a:ln/>
        </p:spPr>
      </p:sp>
      <p:sp>
        <p:nvSpPr>
          <p:cNvPr id="16" name="Text 14"/>
          <p:cNvSpPr/>
          <p:nvPr/>
        </p:nvSpPr>
        <p:spPr>
          <a:xfrm>
            <a:off x="4495538" y="2882683"/>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0.15</a:t>
            </a:r>
            <a:endParaRPr lang="en-US" sz="1200" dirty="0"/>
          </a:p>
        </p:txBody>
      </p:sp>
      <p:sp>
        <p:nvSpPr>
          <p:cNvPr id="17" name="Text 15"/>
          <p:cNvSpPr/>
          <p:nvPr/>
        </p:nvSpPr>
        <p:spPr>
          <a:xfrm>
            <a:off x="812731" y="3210316"/>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User traffic share</a:t>
            </a:r>
            <a:endParaRPr lang="en-US" sz="1200" dirty="0"/>
          </a:p>
        </p:txBody>
      </p:sp>
      <p:sp>
        <p:nvSpPr>
          <p:cNvPr id="18" name="Shape 16"/>
          <p:cNvSpPr/>
          <p:nvPr/>
        </p:nvSpPr>
        <p:spPr>
          <a:xfrm>
            <a:off x="2844600" y="3228138"/>
            <a:ext cx="1015935" cy="177728"/>
          </a:xfrm>
          <a:prstGeom prst="roundRect">
            <a:avLst>
              <a:gd name="adj" fmla="val 14292"/>
            </a:avLst>
          </a:prstGeom>
          <a:solidFill>
            <a:srgbClr val="C26A1E"/>
          </a:solidFill>
          <a:ln/>
        </p:spPr>
      </p:sp>
      <p:sp>
        <p:nvSpPr>
          <p:cNvPr id="19" name="Text 17"/>
          <p:cNvSpPr/>
          <p:nvPr/>
        </p:nvSpPr>
        <p:spPr>
          <a:xfrm>
            <a:off x="3987484" y="3210316"/>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0.10</a:t>
            </a:r>
            <a:endParaRPr lang="en-US" sz="1200" dirty="0"/>
          </a:p>
        </p:txBody>
      </p:sp>
      <p:sp>
        <p:nvSpPr>
          <p:cNvPr id="20" name="Text 18"/>
          <p:cNvSpPr/>
          <p:nvPr/>
        </p:nvSpPr>
        <p:spPr>
          <a:xfrm>
            <a:off x="812731" y="3537948"/>
            <a:ext cx="196206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Own dependencies</a:t>
            </a:r>
            <a:endParaRPr lang="en-US" sz="1200" dirty="0"/>
          </a:p>
        </p:txBody>
      </p:sp>
      <p:sp>
        <p:nvSpPr>
          <p:cNvPr id="21" name="Shape 19"/>
          <p:cNvSpPr/>
          <p:nvPr/>
        </p:nvSpPr>
        <p:spPr>
          <a:xfrm>
            <a:off x="2844600" y="3555771"/>
            <a:ext cx="1015935" cy="177728"/>
          </a:xfrm>
          <a:prstGeom prst="roundRect">
            <a:avLst>
              <a:gd name="adj" fmla="val 14292"/>
            </a:avLst>
          </a:prstGeom>
          <a:solidFill>
            <a:srgbClr val="C26A1E"/>
          </a:solidFill>
          <a:ln/>
        </p:spPr>
      </p:sp>
      <p:sp>
        <p:nvSpPr>
          <p:cNvPr id="22" name="Text 20"/>
          <p:cNvSpPr/>
          <p:nvPr/>
        </p:nvSpPr>
        <p:spPr>
          <a:xfrm>
            <a:off x="3987484" y="3537948"/>
            <a:ext cx="383871"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0.10</a:t>
            </a:r>
            <a:endParaRPr lang="en-US" sz="1200" dirty="0"/>
          </a:p>
        </p:txBody>
      </p:sp>
      <p:sp>
        <p:nvSpPr>
          <p:cNvPr id="23" name="Text 21"/>
          <p:cNvSpPr/>
          <p:nvPr/>
        </p:nvSpPr>
        <p:spPr>
          <a:xfrm>
            <a:off x="812731" y="3865575"/>
            <a:ext cx="5624783" cy="66553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Variety penalties: −0.40 fault already used, −0.25 service already used this campaign. Weakness: undetected 1.0 · masked 0.8 · misdiagnosed 0.7 · SLA missed 0.6.</a:t>
            </a:r>
            <a:endParaRPr lang="en-US" sz="1200" dirty="0"/>
          </a:p>
        </p:txBody>
      </p:sp>
      <p:sp>
        <p:nvSpPr>
          <p:cNvPr id="24" name="Text 22"/>
          <p:cNvSpPr/>
          <p:nvPr/>
        </p:nvSpPr>
        <p:spPr>
          <a:xfrm>
            <a:off x="6629228" y="1572158"/>
            <a:ext cx="489245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LLM decision, one call per round</a:t>
            </a:r>
            <a:endParaRPr lang="en-US" sz="1400" dirty="0"/>
          </a:p>
        </p:txBody>
      </p:sp>
      <p:sp>
        <p:nvSpPr>
          <p:cNvPr id="25" name="Shape 23"/>
          <p:cNvSpPr/>
          <p:nvPr/>
        </p:nvSpPr>
        <p:spPr>
          <a:xfrm>
            <a:off x="6632403" y="1877578"/>
            <a:ext cx="4743607" cy="660042"/>
          </a:xfrm>
          <a:prstGeom prst="roundRect">
            <a:avLst>
              <a:gd name="adj" fmla="val 9140"/>
            </a:avLst>
          </a:prstGeom>
          <a:solidFill>
            <a:srgbClr val="FDFDFE"/>
          </a:solidFill>
          <a:ln w="6350">
            <a:solidFill>
              <a:srgbClr val="D3DAE3"/>
            </a:solidFill>
            <a:prstDash val="solid"/>
          </a:ln>
        </p:spPr>
      </p:sp>
      <p:sp>
        <p:nvSpPr>
          <p:cNvPr id="26" name="Text 24"/>
          <p:cNvSpPr/>
          <p:nvPr/>
        </p:nvSpPr>
        <p:spPr>
          <a:xfrm>
            <a:off x="6774436" y="1981522"/>
            <a:ext cx="4593327"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Top 10 candidates + facts</a:t>
            </a:r>
            <a:endParaRPr lang="en-US" sz="1200" dirty="0"/>
          </a:p>
        </p:txBody>
      </p:sp>
      <p:sp>
        <p:nvSpPr>
          <p:cNvPr id="27" name="Text 25"/>
          <p:cNvSpPr/>
          <p:nvPr/>
        </p:nvSpPr>
        <p:spPr>
          <a:xfrm>
            <a:off x="6774436" y="2220292"/>
            <a:ext cx="459332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health, history, dependencies</a:t>
            </a:r>
            <a:endParaRPr lang="en-US" sz="1200" dirty="0"/>
          </a:p>
        </p:txBody>
      </p:sp>
      <p:sp>
        <p:nvSpPr>
          <p:cNvPr id="28" name="Text 26"/>
          <p:cNvSpPr/>
          <p:nvPr/>
        </p:nvSpPr>
        <p:spPr>
          <a:xfrm>
            <a:off x="6557979" y="2629657"/>
            <a:ext cx="4892455"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4B2"/>
                </a:solidFill>
                <a:latin typeface="IBM Plex Sans" pitchFamily="34" charset="0"/>
                <a:ea typeface="IBM Plex Sans" pitchFamily="34" charset="-122"/>
                <a:cs typeface="IBM Plex Sans" pitchFamily="34" charset="-120"/>
              </a:rPr>
              <a:t>↓</a:t>
            </a:r>
            <a:endParaRPr lang="en-US" sz="1200" dirty="0"/>
          </a:p>
        </p:txBody>
      </p:sp>
      <p:sp>
        <p:nvSpPr>
          <p:cNvPr id="29" name="Shape 27"/>
          <p:cNvSpPr/>
          <p:nvPr/>
        </p:nvSpPr>
        <p:spPr>
          <a:xfrm>
            <a:off x="6632403" y="2935070"/>
            <a:ext cx="4743607" cy="660042"/>
          </a:xfrm>
          <a:prstGeom prst="roundRect">
            <a:avLst>
              <a:gd name="adj" fmla="val 9140"/>
            </a:avLst>
          </a:prstGeom>
          <a:solidFill>
            <a:srgbClr val="FDFDFE"/>
          </a:solidFill>
          <a:ln w="6350">
            <a:solidFill>
              <a:srgbClr val="D3DAE3"/>
            </a:solidFill>
            <a:prstDash val="solid"/>
          </a:ln>
        </p:spPr>
      </p:sp>
      <p:sp>
        <p:nvSpPr>
          <p:cNvPr id="30" name="Text 28"/>
          <p:cNvSpPr/>
          <p:nvPr/>
        </p:nvSpPr>
        <p:spPr>
          <a:xfrm>
            <a:off x="6774436" y="3039021"/>
            <a:ext cx="4593327"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Groq · gpt-oss-120b</a:t>
            </a:r>
            <a:endParaRPr lang="en-US" sz="1200" dirty="0"/>
          </a:p>
        </p:txBody>
      </p:sp>
      <p:sp>
        <p:nvSpPr>
          <p:cNvPr id="31" name="Text 29"/>
          <p:cNvSpPr/>
          <p:nvPr/>
        </p:nvSpPr>
        <p:spPr>
          <a:xfrm>
            <a:off x="6774436" y="3277791"/>
            <a:ext cx="459332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JSON mode, temperature 0.2</a:t>
            </a:r>
            <a:endParaRPr lang="en-US" sz="1200" dirty="0"/>
          </a:p>
        </p:txBody>
      </p:sp>
      <p:sp>
        <p:nvSpPr>
          <p:cNvPr id="32" name="Text 30"/>
          <p:cNvSpPr/>
          <p:nvPr/>
        </p:nvSpPr>
        <p:spPr>
          <a:xfrm>
            <a:off x="6557979" y="3687155"/>
            <a:ext cx="4892455"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4B2"/>
                </a:solidFill>
                <a:latin typeface="IBM Plex Sans" pitchFamily="34" charset="0"/>
                <a:ea typeface="IBM Plex Sans" pitchFamily="34" charset="-122"/>
                <a:cs typeface="IBM Plex Sans" pitchFamily="34" charset="-120"/>
              </a:rPr>
              <a:t>↓</a:t>
            </a:r>
            <a:endParaRPr lang="en-US" sz="1200" dirty="0"/>
          </a:p>
        </p:txBody>
      </p:sp>
      <p:sp>
        <p:nvSpPr>
          <p:cNvPr id="33" name="Shape 31"/>
          <p:cNvSpPr/>
          <p:nvPr/>
        </p:nvSpPr>
        <p:spPr>
          <a:xfrm>
            <a:off x="6632403" y="3992569"/>
            <a:ext cx="4743607" cy="660042"/>
          </a:xfrm>
          <a:prstGeom prst="roundRect">
            <a:avLst>
              <a:gd name="adj" fmla="val 9140"/>
            </a:avLst>
          </a:prstGeom>
          <a:solidFill>
            <a:srgbClr val="FDFDFE"/>
          </a:solidFill>
          <a:ln w="6350">
            <a:solidFill>
              <a:srgbClr val="D3DAE3"/>
            </a:solidFill>
            <a:prstDash val="solid"/>
          </a:ln>
        </p:spPr>
      </p:sp>
      <p:sp>
        <p:nvSpPr>
          <p:cNvPr id="34" name="Text 32"/>
          <p:cNvSpPr/>
          <p:nvPr/>
        </p:nvSpPr>
        <p:spPr>
          <a:xfrm>
            <a:off x="6774436" y="4096519"/>
            <a:ext cx="4593327"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Validate candidate_id + reason</a:t>
            </a:r>
            <a:endParaRPr lang="en-US" sz="1200" dirty="0"/>
          </a:p>
        </p:txBody>
      </p:sp>
      <p:sp>
        <p:nvSpPr>
          <p:cNvPr id="35" name="Text 33"/>
          <p:cNvSpPr/>
          <p:nvPr/>
        </p:nvSpPr>
        <p:spPr>
          <a:xfrm>
            <a:off x="6774436" y="4335289"/>
            <a:ext cx="459332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invalid or offline → rule top pick</a:t>
            </a:r>
            <a:endParaRPr lang="en-US" sz="1200" dirty="0"/>
          </a:p>
        </p:txBody>
      </p:sp>
      <p:sp>
        <p:nvSpPr>
          <p:cNvPr id="36" name="Text 34"/>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37" name="Text 35"/>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ORCHESTRATION</a:t>
            </a:r>
            <a:endParaRPr lang="en-US" sz="1200" dirty="0"/>
          </a:p>
        </p:txBody>
      </p:sp>
      <p:sp>
        <p:nvSpPr>
          <p:cNvPr id="3" name="Text 1"/>
          <p:cNvSpPr>
            <a:spLocks noGrp="1"/>
          </p:cNvSpPr>
          <p:nvPr>
            <p:ph type="title"/>
          </p:nvPr>
        </p:nvSpPr>
        <p:spPr>
          <a:xfrm>
            <a:off x="812731" y="899077"/>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A campaign round: gated, watched, graded</a:t>
            </a:r>
            <a:endParaRPr lang="en-US" sz="3000" dirty="0"/>
          </a:p>
        </p:txBody>
      </p:sp>
      <p:sp>
        <p:nvSpPr>
          <p:cNvPr id="4" name="Text 2"/>
          <p:cNvSpPr/>
          <p:nvPr/>
        </p:nvSpPr>
        <p:spPr>
          <a:xfrm>
            <a:off x="815906" y="1626115"/>
            <a:ext cx="1220093" cy="660042"/>
          </a:xfrm>
          <a:prstGeom prst="roundRect">
            <a:avLst>
              <a:gd name="adj" fmla="val 9140"/>
            </a:avLst>
          </a:prstGeom>
          <a:solidFill>
            <a:srgbClr val="FBF1E8"/>
          </a:solidFill>
          <a:ln w="6350">
            <a:solidFill>
              <a:srgbClr val="E2B48A"/>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Plan</a:t>
            </a:r>
            <a:endParaRPr lang="en-US" sz="1200" dirty="0"/>
          </a:p>
        </p:txBody>
      </p:sp>
      <p:sp>
        <p:nvSpPr>
          <p:cNvPr id="5" name="Text 3"/>
          <p:cNvSpPr/>
          <p:nvPr/>
        </p:nvSpPr>
        <p:spPr>
          <a:xfrm>
            <a:off x="2115343"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2372502" y="1626115"/>
            <a:ext cx="1220180" cy="660042"/>
          </a:xfrm>
          <a:prstGeom prst="roundRect">
            <a:avLst>
              <a:gd name="adj" fmla="val 9140"/>
            </a:avLst>
          </a:prstGeom>
          <a:solidFill>
            <a:srgbClr val="FDFDFE"/>
          </a:solidFill>
          <a:ln w="6350">
            <a:solidFill>
              <a:srgbClr val="CBD3DD"/>
            </a:solidFill>
            <a:prstDash val="solid"/>
          </a:ln>
        </p:spPr>
        <p:txBody>
          <a:bodyPr wrap="square" lIns="60880" tIns="86275" rIns="60880" bIns="86275"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Steady-state gate</a:t>
            </a:r>
            <a:endParaRPr lang="en-US" sz="1200" dirty="0"/>
          </a:p>
        </p:txBody>
      </p:sp>
      <p:sp>
        <p:nvSpPr>
          <p:cNvPr id="7" name="Text 5"/>
          <p:cNvSpPr/>
          <p:nvPr/>
        </p:nvSpPr>
        <p:spPr>
          <a:xfrm>
            <a:off x="3672026"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3929185" y="1626115"/>
            <a:ext cx="1220093" cy="660042"/>
          </a:xfrm>
          <a:prstGeom prst="roundRect">
            <a:avLst>
              <a:gd name="adj" fmla="val 9140"/>
            </a:avLst>
          </a:prstGeom>
          <a:solidFill>
            <a:srgbClr val="FBF1E8"/>
          </a:solidFill>
          <a:ln w="6350">
            <a:solidFill>
              <a:srgbClr val="E2B48A"/>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Inject</a:t>
            </a:r>
            <a:endParaRPr lang="en-US" sz="1200" dirty="0"/>
          </a:p>
        </p:txBody>
      </p:sp>
      <p:sp>
        <p:nvSpPr>
          <p:cNvPr id="9" name="Text 7"/>
          <p:cNvSpPr/>
          <p:nvPr/>
        </p:nvSpPr>
        <p:spPr>
          <a:xfrm>
            <a:off x="5228622"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5485780" y="1626115"/>
            <a:ext cx="1220180" cy="660042"/>
          </a:xfrm>
          <a:prstGeom prst="roundRect">
            <a:avLst>
              <a:gd name="adj" fmla="val 9140"/>
            </a:avLst>
          </a:prstGeom>
          <a:solidFill>
            <a:srgbClr val="FDFDFE"/>
          </a:solidFill>
          <a:ln w="6350">
            <a:solidFill>
              <a:srgbClr val="CBD3DD"/>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Detect ≤ 90 s</a:t>
            </a:r>
            <a:endParaRPr lang="en-US" sz="1200" dirty="0"/>
          </a:p>
        </p:txBody>
      </p:sp>
      <p:sp>
        <p:nvSpPr>
          <p:cNvPr id="11" name="Text 9"/>
          <p:cNvSpPr/>
          <p:nvPr/>
        </p:nvSpPr>
        <p:spPr>
          <a:xfrm>
            <a:off x="6785304"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7042463" y="1626115"/>
            <a:ext cx="1220180" cy="660042"/>
          </a:xfrm>
          <a:prstGeom prst="roundRect">
            <a:avLst>
              <a:gd name="adj" fmla="val 9140"/>
            </a:avLst>
          </a:prstGeom>
          <a:solidFill>
            <a:srgbClr val="FDFDFE"/>
          </a:solidFill>
          <a:ln w="6350">
            <a:solidFill>
              <a:srgbClr val="CBD3DD"/>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Heal</a:t>
            </a:r>
            <a:endParaRPr lang="en-US" sz="1200" dirty="0"/>
          </a:p>
        </p:txBody>
      </p:sp>
      <p:sp>
        <p:nvSpPr>
          <p:cNvPr id="13" name="Text 11"/>
          <p:cNvSpPr/>
          <p:nvPr/>
        </p:nvSpPr>
        <p:spPr>
          <a:xfrm>
            <a:off x="8341988"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14" name="Text 12"/>
          <p:cNvSpPr/>
          <p:nvPr/>
        </p:nvSpPr>
        <p:spPr>
          <a:xfrm>
            <a:off x="8599146" y="1626115"/>
            <a:ext cx="1220180" cy="660042"/>
          </a:xfrm>
          <a:prstGeom prst="roundRect">
            <a:avLst>
              <a:gd name="adj" fmla="val 9140"/>
            </a:avLst>
          </a:prstGeom>
          <a:solidFill>
            <a:srgbClr val="FDFDFE"/>
          </a:solidFill>
          <a:ln w="6350">
            <a:solidFill>
              <a:srgbClr val="CBD3DD"/>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Teardown</a:t>
            </a:r>
            <a:endParaRPr lang="en-US" sz="1200" dirty="0"/>
          </a:p>
        </p:txBody>
      </p:sp>
      <p:sp>
        <p:nvSpPr>
          <p:cNvPr id="15" name="Text 13"/>
          <p:cNvSpPr/>
          <p:nvPr/>
        </p:nvSpPr>
        <p:spPr>
          <a:xfrm>
            <a:off x="9898670" y="1831622"/>
            <a:ext cx="228615" cy="2743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4B2"/>
                </a:solidFill>
                <a:latin typeface="IBM Plex Sans" pitchFamily="34" charset="0"/>
                <a:ea typeface="IBM Plex Sans" pitchFamily="34" charset="-122"/>
                <a:cs typeface="IBM Plex Sans" pitchFamily="34" charset="-120"/>
              </a:rPr>
              <a:t>→</a:t>
            </a:r>
            <a:endParaRPr lang="en-US" sz="1400" dirty="0"/>
          </a:p>
        </p:txBody>
      </p:sp>
      <p:sp>
        <p:nvSpPr>
          <p:cNvPr id="16" name="Text 14"/>
          <p:cNvSpPr/>
          <p:nvPr/>
        </p:nvSpPr>
        <p:spPr>
          <a:xfrm>
            <a:off x="10155829" y="1626115"/>
            <a:ext cx="1220180" cy="660042"/>
          </a:xfrm>
          <a:prstGeom prst="roundRect">
            <a:avLst>
              <a:gd name="adj" fmla="val 9140"/>
            </a:avLst>
          </a:prstGeom>
          <a:solidFill>
            <a:srgbClr val="1F5FA8"/>
          </a:solidFill>
          <a:ln w="6350">
            <a:solidFill>
              <a:srgbClr val="1F5FA8"/>
            </a:solidFill>
            <a:prstDash val="solid"/>
          </a:ln>
        </p:spPr>
        <p:txBody>
          <a:bodyPr wrap="square" lIns="60880" tIns="99021" rIns="60880" bIns="99021" rtlCol="0" anchor="ctr">
            <a:normAutofit/>
          </a:bodyPr>
          <a:lstStyle/>
          <a:p>
            <a:pPr marL="0" indent="0" algn="ctr">
              <a:lnSpc>
                <a:spcPts val="1680"/>
              </a:lnSpc>
              <a:buNone/>
            </a:pPr>
            <a:r>
              <a:rPr lang="en-US" sz="1200" b="1" dirty="0">
                <a:solidFill>
                  <a:srgbClr val="F6F7F9"/>
                </a:solidFill>
                <a:latin typeface="IBM Plex Sans" pitchFamily="34" charset="0"/>
                <a:ea typeface="IBM Plex Sans" pitchFamily="34" charset="-122"/>
                <a:cs typeface="IBM Plex Sans" pitchFamily="34" charset="-120"/>
              </a:rPr>
              <a:t>Score</a:t>
            </a:r>
            <a:endParaRPr lang="en-US" sz="1200" dirty="0"/>
          </a:p>
        </p:txBody>
      </p:sp>
      <p:sp>
        <p:nvSpPr>
          <p:cNvPr id="17" name="Shape 15"/>
          <p:cNvSpPr/>
          <p:nvPr/>
        </p:nvSpPr>
        <p:spPr>
          <a:xfrm>
            <a:off x="815906" y="2597268"/>
            <a:ext cx="3414214" cy="1503292"/>
          </a:xfrm>
          <a:prstGeom prst="roundRect">
            <a:avLst>
              <a:gd name="adj" fmla="val 4858"/>
            </a:avLst>
          </a:prstGeom>
          <a:solidFill>
            <a:srgbClr val="FDFDFE"/>
          </a:solidFill>
          <a:ln w="6350">
            <a:solidFill>
              <a:srgbClr val="D3DAE3"/>
            </a:solidFill>
            <a:prstDash val="solid"/>
          </a:ln>
        </p:spPr>
      </p:sp>
      <p:sp>
        <p:nvSpPr>
          <p:cNvPr id="18" name="Text 16"/>
          <p:cNvSpPr/>
          <p:nvPr/>
        </p:nvSpPr>
        <p:spPr>
          <a:xfrm>
            <a:off x="996023" y="2777387"/>
            <a:ext cx="3145598"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Steady-state gate</a:t>
            </a:r>
            <a:endParaRPr lang="en-US" sz="1400" dirty="0"/>
          </a:p>
        </p:txBody>
      </p:sp>
      <p:sp>
        <p:nvSpPr>
          <p:cNvPr id="19" name="Text 17"/>
          <p:cNvSpPr/>
          <p:nvPr/>
        </p:nvSpPr>
        <p:spPr>
          <a:xfrm>
            <a:off x="996023" y="3066932"/>
            <a:ext cx="3145598" cy="87891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Preflight GO for 3 consecutive ticks: Prometheus up, no anomalies, target at full capacity, load ≤ 1.8× baseline. Blast radius rated HIGH / MEDIUM / LOW.</a:t>
            </a:r>
            <a:endParaRPr lang="en-US" sz="1200" dirty="0"/>
          </a:p>
        </p:txBody>
      </p:sp>
      <p:sp>
        <p:nvSpPr>
          <p:cNvPr id="20" name="Shape 18"/>
          <p:cNvSpPr/>
          <p:nvPr/>
        </p:nvSpPr>
        <p:spPr>
          <a:xfrm>
            <a:off x="4388807" y="2597268"/>
            <a:ext cx="3414214" cy="1503292"/>
          </a:xfrm>
          <a:prstGeom prst="roundRect">
            <a:avLst>
              <a:gd name="adj" fmla="val 4858"/>
            </a:avLst>
          </a:prstGeom>
          <a:solidFill>
            <a:srgbClr val="FDFDFE"/>
          </a:solidFill>
          <a:ln w="6350">
            <a:solidFill>
              <a:srgbClr val="D3DAE3"/>
            </a:solidFill>
            <a:prstDash val="solid"/>
          </a:ln>
        </p:spPr>
      </p:sp>
      <p:sp>
        <p:nvSpPr>
          <p:cNvPr id="21" name="Text 19"/>
          <p:cNvSpPr/>
          <p:nvPr/>
        </p:nvSpPr>
        <p:spPr>
          <a:xfrm>
            <a:off x="4568925" y="2777387"/>
            <a:ext cx="3145598"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Watchdog</a:t>
            </a:r>
            <a:endParaRPr lang="en-US" sz="1400" dirty="0"/>
          </a:p>
        </p:txBody>
      </p:sp>
      <p:sp>
        <p:nvSpPr>
          <p:cNvPr id="22" name="Text 20"/>
          <p:cNvSpPr/>
          <p:nvPr/>
        </p:nvSpPr>
        <p:spPr>
          <a:xfrm>
            <a:off x="4568925" y="3066932"/>
            <a:ext cx="3145598" cy="66553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Aborts the round if user failures exceed 50 % for more than 240 s. Faults are never injected into an unhealthy system.</a:t>
            </a:r>
            <a:endParaRPr lang="en-US" sz="1200" dirty="0"/>
          </a:p>
        </p:txBody>
      </p:sp>
      <p:sp>
        <p:nvSpPr>
          <p:cNvPr id="23" name="Shape 21"/>
          <p:cNvSpPr/>
          <p:nvPr/>
        </p:nvSpPr>
        <p:spPr>
          <a:xfrm>
            <a:off x="7961709" y="2597268"/>
            <a:ext cx="3414214" cy="1503292"/>
          </a:xfrm>
          <a:prstGeom prst="roundRect">
            <a:avLst>
              <a:gd name="adj" fmla="val 4858"/>
            </a:avLst>
          </a:prstGeom>
          <a:solidFill>
            <a:srgbClr val="FDFDFE"/>
          </a:solidFill>
          <a:ln w="6350">
            <a:solidFill>
              <a:srgbClr val="D3DAE3"/>
            </a:solidFill>
            <a:prstDash val="solid"/>
          </a:ln>
        </p:spPr>
      </p:sp>
      <p:sp>
        <p:nvSpPr>
          <p:cNvPr id="24" name="Text 22"/>
          <p:cNvSpPr/>
          <p:nvPr/>
        </p:nvSpPr>
        <p:spPr>
          <a:xfrm>
            <a:off x="8141826" y="2777387"/>
            <a:ext cx="3145598"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Honest outcomes</a:t>
            </a:r>
            <a:endParaRPr lang="en-US" sz="1400" dirty="0"/>
          </a:p>
        </p:txBody>
      </p:sp>
      <p:sp>
        <p:nvSpPr>
          <p:cNvPr id="25" name="Text 23"/>
          <p:cNvSpPr/>
          <p:nvPr/>
        </p:nvSpPr>
        <p:spPr>
          <a:xfrm>
            <a:off x="8141826" y="3066932"/>
            <a:ext cx="3145598" cy="87891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UNDETECTED after 90 s. MASKED if symptoms cleared but the fault is still present at teardown. Everything narrated and stored.</a:t>
            </a:r>
            <a:endParaRPr lang="en-US" sz="1200" dirty="0"/>
          </a:p>
        </p:txBody>
      </p:sp>
      <p:sp>
        <p:nvSpPr>
          <p:cNvPr id="26" name="Text 24"/>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7" name="Text 25"/>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731" y="6095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0E8"/>
                </a:solidFill>
                <a:latin typeface="IBM Plex Sans" pitchFamily="34" charset="0"/>
                <a:ea typeface="IBM Plex Sans" pitchFamily="34" charset="-122"/>
                <a:cs typeface="IBM Plex Sans" pitchFamily="34" charset="-120"/>
              </a:rPr>
              <a:t>LIVE RESULTS</a:t>
            </a:r>
            <a:endParaRPr lang="en-US" sz="1200" dirty="0"/>
          </a:p>
        </p:txBody>
      </p:sp>
      <p:sp>
        <p:nvSpPr>
          <p:cNvPr id="3" name="Text 1"/>
          <p:cNvSpPr>
            <a:spLocks noGrp="1"/>
          </p:cNvSpPr>
          <p:nvPr>
            <p:ph type="title"/>
          </p:nvPr>
        </p:nvSpPr>
        <p:spPr>
          <a:xfrm>
            <a:off x="812731" y="899077"/>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EF1F5"/>
                </a:solidFill>
                <a:latin typeface="IBM Plex Sans" pitchFamily="34" charset="0"/>
                <a:ea typeface="IBM Plex Sans" pitchFamily="34" charset="-122"/>
                <a:cs typeface="IBM Plex Sans" pitchFamily="34" charset="-120"/>
              </a:rPr>
              <a:t>Five rounds, five correct diagnoses</a:t>
            </a:r>
            <a:endParaRPr lang="en-US" sz="3000" dirty="0"/>
          </a:p>
        </p:txBody>
      </p:sp>
      <p:sp>
        <p:nvSpPr>
          <p:cNvPr id="4" name="Shape 2"/>
          <p:cNvSpPr/>
          <p:nvPr/>
        </p:nvSpPr>
        <p:spPr>
          <a:xfrm>
            <a:off x="812731" y="1556296"/>
            <a:ext cx="2527316" cy="0"/>
          </a:xfrm>
          <a:prstGeom prst="line">
            <a:avLst/>
          </a:prstGeom>
          <a:noFill/>
          <a:ln w="19050">
            <a:solidFill>
              <a:srgbClr val="7FB0E8"/>
            </a:solidFill>
            <a:prstDash val="solid"/>
          </a:ln>
        </p:spPr>
      </p:sp>
      <p:sp>
        <p:nvSpPr>
          <p:cNvPr id="5" name="Text 3"/>
          <p:cNvSpPr/>
          <p:nvPr/>
        </p:nvSpPr>
        <p:spPr>
          <a:xfrm>
            <a:off x="812731" y="1652333"/>
            <a:ext cx="2603136" cy="505369"/>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EEF1F5"/>
                </a:solidFill>
                <a:latin typeface="IBM Plex Sans" pitchFamily="34" charset="0"/>
                <a:ea typeface="IBM Plex Sans" pitchFamily="34" charset="-122"/>
                <a:cs typeface="IBM Plex Sans" pitchFamily="34" charset="-120"/>
              </a:rPr>
              <a:t>98.9</a:t>
            </a:r>
            <a:endParaRPr lang="en-US" sz="3600" dirty="0"/>
          </a:p>
        </p:txBody>
      </p:sp>
      <p:sp>
        <p:nvSpPr>
          <p:cNvPr id="6" name="Text 4"/>
          <p:cNvSpPr/>
          <p:nvPr/>
        </p:nvSpPr>
        <p:spPr>
          <a:xfrm>
            <a:off x="812731" y="2157692"/>
            <a:ext cx="260313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resilience score / 100</a:t>
            </a:r>
            <a:endParaRPr lang="en-US" sz="1200" dirty="0"/>
          </a:p>
        </p:txBody>
      </p:sp>
      <p:sp>
        <p:nvSpPr>
          <p:cNvPr id="7" name="Shape 5"/>
          <p:cNvSpPr/>
          <p:nvPr/>
        </p:nvSpPr>
        <p:spPr>
          <a:xfrm>
            <a:off x="3492385" y="1556296"/>
            <a:ext cx="2527403" cy="0"/>
          </a:xfrm>
          <a:prstGeom prst="line">
            <a:avLst/>
          </a:prstGeom>
          <a:noFill/>
          <a:ln w="19050">
            <a:solidFill>
              <a:srgbClr val="7FB0E8"/>
            </a:solidFill>
            <a:prstDash val="solid"/>
          </a:ln>
        </p:spPr>
      </p:sp>
      <p:sp>
        <p:nvSpPr>
          <p:cNvPr id="8" name="Text 6"/>
          <p:cNvSpPr/>
          <p:nvPr/>
        </p:nvSpPr>
        <p:spPr>
          <a:xfrm>
            <a:off x="3492385" y="1652333"/>
            <a:ext cx="2603225" cy="505369"/>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EEF1F5"/>
                </a:solidFill>
                <a:latin typeface="IBM Plex Sans" pitchFamily="34" charset="0"/>
                <a:ea typeface="IBM Plex Sans" pitchFamily="34" charset="-122"/>
                <a:cs typeface="IBM Plex Sans" pitchFamily="34" charset="-120"/>
              </a:rPr>
              <a:t>8.9 s</a:t>
            </a:r>
            <a:endParaRPr lang="en-US" sz="3600" dirty="0"/>
          </a:p>
        </p:txBody>
      </p:sp>
      <p:sp>
        <p:nvSpPr>
          <p:cNvPr id="9" name="Text 7"/>
          <p:cNvSpPr/>
          <p:nvPr/>
        </p:nvSpPr>
        <p:spPr>
          <a:xfrm>
            <a:off x="3492385" y="2157692"/>
            <a:ext cx="26032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mean time to detect</a:t>
            </a:r>
            <a:endParaRPr lang="en-US" sz="1200" dirty="0"/>
          </a:p>
        </p:txBody>
      </p:sp>
      <p:sp>
        <p:nvSpPr>
          <p:cNvPr id="10" name="Shape 8"/>
          <p:cNvSpPr/>
          <p:nvPr/>
        </p:nvSpPr>
        <p:spPr>
          <a:xfrm>
            <a:off x="6172126" y="1556296"/>
            <a:ext cx="2527316" cy="0"/>
          </a:xfrm>
          <a:prstGeom prst="line">
            <a:avLst/>
          </a:prstGeom>
          <a:noFill/>
          <a:ln w="19050">
            <a:solidFill>
              <a:srgbClr val="7FB0E8"/>
            </a:solidFill>
            <a:prstDash val="solid"/>
          </a:ln>
        </p:spPr>
      </p:sp>
      <p:sp>
        <p:nvSpPr>
          <p:cNvPr id="11" name="Text 9"/>
          <p:cNvSpPr/>
          <p:nvPr/>
        </p:nvSpPr>
        <p:spPr>
          <a:xfrm>
            <a:off x="6172126" y="1652333"/>
            <a:ext cx="2603136" cy="505369"/>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EEF1F5"/>
                </a:solidFill>
                <a:latin typeface="IBM Plex Sans" pitchFamily="34" charset="0"/>
                <a:ea typeface="IBM Plex Sans" pitchFamily="34" charset="-122"/>
                <a:cs typeface="IBM Plex Sans" pitchFamily="34" charset="-120"/>
              </a:rPr>
              <a:t>36 s</a:t>
            </a:r>
            <a:endParaRPr lang="en-US" sz="3600" dirty="0"/>
          </a:p>
        </p:txBody>
      </p:sp>
      <p:sp>
        <p:nvSpPr>
          <p:cNvPr id="12" name="Text 10"/>
          <p:cNvSpPr/>
          <p:nvPr/>
        </p:nvSpPr>
        <p:spPr>
          <a:xfrm>
            <a:off x="6172126" y="2157692"/>
            <a:ext cx="260313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mean time to recover</a:t>
            </a:r>
            <a:endParaRPr lang="en-US" sz="1200" dirty="0"/>
          </a:p>
        </p:txBody>
      </p:sp>
      <p:sp>
        <p:nvSpPr>
          <p:cNvPr id="13" name="Shape 11"/>
          <p:cNvSpPr/>
          <p:nvPr/>
        </p:nvSpPr>
        <p:spPr>
          <a:xfrm>
            <a:off x="8851781" y="1556296"/>
            <a:ext cx="2527403" cy="0"/>
          </a:xfrm>
          <a:prstGeom prst="line">
            <a:avLst/>
          </a:prstGeom>
          <a:noFill/>
          <a:ln w="19050">
            <a:solidFill>
              <a:srgbClr val="7FB0E8"/>
            </a:solidFill>
            <a:prstDash val="solid"/>
          </a:ln>
        </p:spPr>
      </p:sp>
      <p:sp>
        <p:nvSpPr>
          <p:cNvPr id="14" name="Text 12"/>
          <p:cNvSpPr/>
          <p:nvPr/>
        </p:nvSpPr>
        <p:spPr>
          <a:xfrm>
            <a:off x="8851781" y="1652333"/>
            <a:ext cx="2603225" cy="505369"/>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EEF1F5"/>
                </a:solidFill>
                <a:latin typeface="IBM Plex Sans" pitchFamily="34" charset="0"/>
                <a:ea typeface="IBM Plex Sans" pitchFamily="34" charset="-122"/>
                <a:cs typeface="IBM Plex Sans" pitchFamily="34" charset="-120"/>
              </a:rPr>
              <a:t>100 %</a:t>
            </a:r>
            <a:endParaRPr lang="en-US" sz="3600" dirty="0"/>
          </a:p>
        </p:txBody>
      </p:sp>
      <p:sp>
        <p:nvSpPr>
          <p:cNvPr id="15" name="Text 13"/>
          <p:cNvSpPr/>
          <p:nvPr/>
        </p:nvSpPr>
        <p:spPr>
          <a:xfrm>
            <a:off x="8851781" y="2157692"/>
            <a:ext cx="26032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RCA and class accuracy</a:t>
            </a:r>
            <a:endParaRPr lang="en-US" sz="1200" dirty="0"/>
          </a:p>
        </p:txBody>
      </p:sp>
      <p:sp>
        <p:nvSpPr>
          <p:cNvPr id="16" name="Shape 14"/>
          <p:cNvSpPr/>
          <p:nvPr/>
        </p:nvSpPr>
        <p:spPr>
          <a:xfrm>
            <a:off x="11376009" y="2599661"/>
            <a:ext cx="0" cy="2003350"/>
          </a:xfrm>
          <a:prstGeom prst="line">
            <a:avLst/>
          </a:prstGeom>
          <a:noFill/>
          <a:ln w="6350">
            <a:solidFill>
              <a:srgbClr val="33415C"/>
            </a:solidFill>
            <a:prstDash val="solid"/>
          </a:ln>
        </p:spPr>
      </p:sp>
      <p:sp>
        <p:nvSpPr>
          <p:cNvPr id="17" name="Shape 15"/>
          <p:cNvSpPr/>
          <p:nvPr/>
        </p:nvSpPr>
        <p:spPr>
          <a:xfrm>
            <a:off x="812731" y="4599836"/>
            <a:ext cx="10566453" cy="0"/>
          </a:xfrm>
          <a:prstGeom prst="line">
            <a:avLst/>
          </a:prstGeom>
          <a:noFill/>
          <a:ln w="6350">
            <a:solidFill>
              <a:srgbClr val="33415C"/>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3860" y="2610791"/>
          <a:ext cx="10549759" cy="1986654"/>
        </p:xfrm>
        <a:graphic>
          <a:graphicData uri="http://schemas.openxmlformats.org/drawingml/2006/table">
            <a:tbl>
              <a:tblPr/>
              <a:tblGrid>
                <a:gridCol w="843981">
                  <a:extLst>
                    <a:ext uri="{9D8B030D-6E8A-4147-A177-3AD203B41FA5}">
                      <a16:colId xmlns:a16="http://schemas.microsoft.com/office/drawing/2014/main" val="20000"/>
                    </a:ext>
                  </a:extLst>
                </a:gridCol>
                <a:gridCol w="2742937">
                  <a:extLst>
                    <a:ext uri="{9D8B030D-6E8A-4147-A177-3AD203B41FA5}">
                      <a16:colId xmlns:a16="http://schemas.microsoft.com/office/drawing/2014/main" val="20001"/>
                    </a:ext>
                  </a:extLst>
                </a:gridCol>
                <a:gridCol w="1898957">
                  <a:extLst>
                    <a:ext uri="{9D8B030D-6E8A-4147-A177-3AD203B41FA5}">
                      <a16:colId xmlns:a16="http://schemas.microsoft.com/office/drawing/2014/main" val="20002"/>
                    </a:ext>
                  </a:extLst>
                </a:gridCol>
                <a:gridCol w="1476966">
                  <a:extLst>
                    <a:ext uri="{9D8B030D-6E8A-4147-A177-3AD203B41FA5}">
                      <a16:colId xmlns:a16="http://schemas.microsoft.com/office/drawing/2014/main" val="20003"/>
                    </a:ext>
                  </a:extLst>
                </a:gridCol>
                <a:gridCol w="1476966">
                  <a:extLst>
                    <a:ext uri="{9D8B030D-6E8A-4147-A177-3AD203B41FA5}">
                      <a16:colId xmlns:a16="http://schemas.microsoft.com/office/drawing/2014/main" val="20004"/>
                    </a:ext>
                  </a:extLst>
                </a:gridCol>
                <a:gridCol w="2109952">
                  <a:extLst>
                    <a:ext uri="{9D8B030D-6E8A-4147-A177-3AD203B41FA5}">
                      <a16:colId xmlns:a16="http://schemas.microsoft.com/office/drawing/2014/main" val="20005"/>
                    </a:ext>
                  </a:extLst>
                </a:gridCol>
              </a:tblGrid>
              <a:tr h="331109">
                <a:tc>
                  <a:txBody>
                    <a:bodyPr/>
                    <a:lstStyle/>
                    <a:p>
                      <a:pPr marL="0" indent="0">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tc>
                  <a:txBody>
                    <a:bodyPr/>
                    <a:lstStyle/>
                    <a:p>
                      <a:pPr marL="0" indent="0">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Fault</a:t>
                      </a:r>
                      <a:endParaRPr lang="en-US" sz="1200" dirty="0">
                        <a:latin typeface="IBM Plex Sans" charset="0"/>
                        <a:ea typeface="IBM Plex Sans" charset="0"/>
                        <a:cs typeface="IBM Plex Sans" charset="0"/>
                      </a:endParaRPr>
                    </a:p>
                  </a:txBody>
                  <a:tcPr marL="53340" marR="53340" marT="53340" marB="53340">
                    <a:lnL w="12700" cap="flat" cmpd="sng" algn="ctr">
                      <a:solidFill>
                        <a:srgbClr val="525C72"/>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tc>
                  <a:txBody>
                    <a:bodyPr/>
                    <a:lstStyle/>
                    <a:p>
                      <a:pPr marL="0" indent="0">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lnL w="12700" cap="flat" cmpd="sng" algn="ctr">
                      <a:solidFill>
                        <a:srgbClr val="525C72"/>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tc>
                  <a:txBody>
                    <a:bodyPr/>
                    <a:lstStyle/>
                    <a:p>
                      <a:pPr marL="0" indent="0" algn="r">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TTD</a:t>
                      </a:r>
                      <a:endParaRPr lang="en-US" sz="1200" dirty="0">
                        <a:latin typeface="IBM Plex Sans" charset="0"/>
                        <a:ea typeface="IBM Plex Sans" charset="0"/>
                        <a:cs typeface="IBM Plex Sans" charset="0"/>
                      </a:endParaRPr>
                    </a:p>
                  </a:txBody>
                  <a:tcPr marL="53340" marR="53340" marT="53340" marB="53340">
                    <a:lnL w="12700" cap="flat" cmpd="sng" algn="ctr">
                      <a:solidFill>
                        <a:srgbClr val="525C72"/>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tc>
                  <a:txBody>
                    <a:bodyPr/>
                    <a:lstStyle/>
                    <a:p>
                      <a:pPr marL="0" indent="0" algn="r">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TTR</a:t>
                      </a:r>
                      <a:endParaRPr lang="en-US" sz="1200" dirty="0">
                        <a:latin typeface="IBM Plex Sans" charset="0"/>
                        <a:ea typeface="IBM Plex Sans" charset="0"/>
                        <a:cs typeface="IBM Plex Sans" charset="0"/>
                      </a:endParaRPr>
                    </a:p>
                  </a:txBody>
                  <a:tcPr marL="53340" marR="53340" marT="53340" marB="53340">
                    <a:lnL w="12700" cap="flat" cmpd="sng" algn="ctr">
                      <a:solidFill>
                        <a:srgbClr val="525C72"/>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tc>
                  <a:txBody>
                    <a:bodyPr/>
                    <a:lstStyle/>
                    <a:p>
                      <a:pPr marL="0" indent="0" algn="r">
                        <a:lnSpc>
                          <a:spcPts val="1680"/>
                        </a:lnSpc>
                        <a:buNone/>
                      </a:pPr>
                      <a:r>
                        <a:rPr lang="en-US" sz="1200" b="1" dirty="0">
                          <a:solidFill>
                            <a:srgbClr val="EEF1F5"/>
                          </a:solidFill>
                          <a:latin typeface="IBM Plex Sans" pitchFamily="34" charset="0"/>
                          <a:ea typeface="IBM Plex Sans" pitchFamily="34" charset="-122"/>
                          <a:cs typeface="IBM Plex Sans" pitchFamily="34" charset="-120"/>
                        </a:rPr>
                        <a:t>Users failed</a:t>
                      </a:r>
                      <a:endParaRPr lang="en-US" sz="1200" dirty="0">
                        <a:latin typeface="IBM Plex Sans" charset="0"/>
                        <a:ea typeface="IBM Plex Sans" charset="0"/>
                        <a:cs typeface="IBM Plex Sans" charset="0"/>
                      </a:endParaRPr>
                    </a:p>
                  </a:txBody>
                  <a:tcPr marL="53340" marR="53340" marT="53340" marB="53340">
                    <a:lnL w="12700" cap="flat" cmpd="sng" algn="ctr">
                      <a:solidFill>
                        <a:srgbClr val="525C72"/>
                      </a:solidFill>
                      <a:prstDash val="solid"/>
                      <a:round/>
                      <a:headEnd type="none" w="med" len="med"/>
                      <a:tailEnd type="none" w="med" len="med"/>
                    </a:lnL>
                    <a:lnR w="12700" cap="flat" cmpd="sng" algn="ctr">
                      <a:solidFill>
                        <a:srgbClr val="525C72"/>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525C72"/>
                      </a:solidFill>
                      <a:prstDash val="solid"/>
                      <a:round/>
                      <a:headEnd type="none" w="med" len="med"/>
                      <a:tailEnd type="none" w="med" len="med"/>
                    </a:lnB>
                    <a:solidFill>
                      <a:srgbClr val="22304D"/>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pod_deletion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payment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4.9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20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0 %</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525C72"/>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cpu_throttle</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product</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9.9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50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1.1 %</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network_partition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gateway</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9.9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40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25.9 %</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latency</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order</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14.9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50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0.4 %</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replica_reduction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nSpc>
                          <a:spcPts val="1680"/>
                        </a:lnSpc>
                        <a:buNone/>
                      </a:pPr>
                      <a:r>
                        <a:rPr lang="en-US" sz="1200" dirty="0">
                          <a:solidFill>
                            <a:srgbClr val="EEF1F5"/>
                          </a:solidFill>
                          <a:latin typeface="IBM Plex Sans" pitchFamily="34" charset="0"/>
                          <a:ea typeface="IBM Plex Sans" pitchFamily="34" charset="-122"/>
                          <a:cs typeface="IBM Plex Sans" pitchFamily="34" charset="-120"/>
                        </a:rPr>
                        <a:t>payment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4.9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20 s</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tc>
                  <a:txBody>
                    <a:bodyPr/>
                    <a:lstStyle/>
                    <a:p>
                      <a:pPr marL="0" indent="0" algn="r">
                        <a:lnSpc>
                          <a:spcPts val="1680"/>
                        </a:lnSpc>
                        <a:buNone/>
                      </a:pPr>
                      <a:r>
                        <a:rPr lang="en-US" sz="1200" dirty="0">
                          <a:solidFill>
                            <a:srgbClr val="EEF1F5"/>
                          </a:solidFill>
                          <a:latin typeface="IBM Plex Sans" pitchFamily="34" charset="0"/>
                          <a:ea typeface="IBM Plex Sans" pitchFamily="34" charset="-122"/>
                          <a:cs typeface="IBM Plex Sans" pitchFamily="34" charset="-120"/>
                        </a:rPr>
                        <a:t>0 %</a:t>
                      </a:r>
                      <a:endParaRPr lang="en-US" sz="1200" dirty="0">
                        <a:latin typeface="IBM Plex Sans" charset="0"/>
                        <a:ea typeface="IBM Plex Sans" charset="0"/>
                        <a:cs typeface="IBM Plex Sans" charset="0"/>
                      </a:endParaRPr>
                    </a:p>
                  </a:txBody>
                  <a:tcPr marL="53340" marR="53340" marT="53340" marB="53340">
                    <a:lnL w="12700" cap="flat" cmpd="sng" algn="ctr">
                      <a:solidFill>
                        <a:srgbClr val="485163"/>
                      </a:solidFill>
                      <a:prstDash val="solid"/>
                      <a:round/>
                      <a:headEnd type="none" w="med" len="med"/>
                      <a:tailEnd type="none" w="med" len="med"/>
                    </a:lnL>
                    <a:lnR w="12700" cap="flat" cmpd="sng" algn="ctr">
                      <a:solidFill>
                        <a:srgbClr val="485163"/>
                      </a:solidFill>
                      <a:prstDash val="solid"/>
                      <a:round/>
                      <a:headEnd type="none" w="med" len="med"/>
                      <a:tailEnd type="none" w="med" len="med"/>
                    </a:lnR>
                    <a:lnT w="12700" cap="flat" cmpd="sng" algn="ctr">
                      <a:solidFill>
                        <a:srgbClr val="485163"/>
                      </a:solidFill>
                      <a:prstDash val="solid"/>
                      <a:round/>
                      <a:headEnd type="none" w="med" len="med"/>
                      <a:tailEnd type="none" w="med" len="med"/>
                    </a:lnT>
                    <a:lnB w="12700" cap="flat" cmpd="sng" algn="ctr">
                      <a:solidFill>
                        <a:srgbClr val="48516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Text 16"/>
          <p:cNvSpPr/>
          <p:nvPr/>
        </p:nvSpPr>
        <p:spPr>
          <a:xfrm>
            <a:off x="812731" y="4831606"/>
            <a:ext cx="10883447"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Score = 35 recovery SLA + 20 detection SLA + 20 effectiveness + 15 diagnosis + 10 user impact. All fixes worked first time. Later campaigns: 98.4 and 99.6.</a:t>
            </a:r>
            <a:endParaRPr lang="en-US" sz="1200" dirty="0"/>
          </a:p>
        </p:txBody>
      </p:sp>
      <p:sp>
        <p:nvSpPr>
          <p:cNvPr id="20" name="Text 17"/>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7AA"/>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1" name="Text 18"/>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B97A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ENGINEERING</a:t>
            </a:r>
            <a:endParaRPr lang="en-US" sz="1200" dirty="0"/>
          </a:p>
        </p:txBody>
      </p:sp>
      <p:sp>
        <p:nvSpPr>
          <p:cNvPr id="3" name="Text 1"/>
          <p:cNvSpPr>
            <a:spLocks noGrp="1"/>
          </p:cNvSpPr>
          <p:nvPr>
            <p:ph type="title"/>
          </p:nvPr>
        </p:nvSpPr>
        <p:spPr>
          <a:xfrm>
            <a:off x="812731" y="899071"/>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Problems found in live runs, and their fixes</a:t>
            </a:r>
            <a:endParaRPr lang="en-US" sz="3000" dirty="0"/>
          </a:p>
        </p:txBody>
      </p:sp>
      <p:sp>
        <p:nvSpPr>
          <p:cNvPr id="4" name="Shape 2"/>
          <p:cNvSpPr/>
          <p:nvPr/>
        </p:nvSpPr>
        <p:spPr>
          <a:xfrm>
            <a:off x="812731" y="1572158"/>
            <a:ext cx="10566453" cy="3327787"/>
          </a:xfrm>
          <a:prstGeom prst="roundRect">
            <a:avLst>
              <a:gd name="adj" fmla="val 2290"/>
            </a:avLst>
          </a:prstGeom>
          <a:solidFill>
            <a:srgbClr val="FDFDFE"/>
          </a:solidFill>
          <a:ln/>
        </p:spPr>
      </p:sp>
      <p:sp>
        <p:nvSpPr>
          <p:cNvPr id="5" name="Shape 3"/>
          <p:cNvSpPr/>
          <p:nvPr/>
        </p:nvSpPr>
        <p:spPr>
          <a:xfrm>
            <a:off x="812731" y="1572158"/>
            <a:ext cx="10566453" cy="3327787"/>
          </a:xfrm>
          <a:custGeom>
            <a:avLst/>
            <a:gdLst/>
            <a:ahLst/>
            <a:cxnLst/>
            <a:rect l="l" t="t" r="r" b="b"/>
            <a:pathLst>
              <a:path w="10566453" h="3327787">
                <a:moveTo>
                  <a:pt x="10490253" y="0"/>
                </a:moveTo>
                <a:lnTo>
                  <a:pt x="10490253" y="0"/>
                </a:lnTo>
                <a:arcTo wR="76200" hR="76200" stAng="16200000" swAng="5400000"/>
                <a:lnTo>
                  <a:pt x="10566453" y="3251587"/>
                </a:lnTo>
                <a:arcTo wR="76200" hR="76200" stAng="0" swAng="5400000"/>
                <a:lnTo>
                  <a:pt x="76200" y="3327787"/>
                </a:lnTo>
                <a:arcTo wR="76200" hR="76200" stAng="5400000" swAng="5400000"/>
                <a:lnTo>
                  <a:pt x="0" y="3251587"/>
                </a:lnTo>
                <a:arcTo wR="76200" hR="69850" stAng="10800000" swAng="-5400000"/>
                <a:lnTo>
                  <a:pt x="10490253" y="3321437"/>
                </a:lnTo>
                <a:arcTo wR="69850" hR="69850" stAng="5400000" swAng="-5400000"/>
                <a:lnTo>
                  <a:pt x="10560103" y="76200"/>
                </a:lnTo>
                <a:arcTo wR="69850" hR="76200" stAng="0" swAng="-5400000"/>
                <a:close/>
              </a:path>
            </a:pathLst>
          </a:custGeom>
          <a:solidFill>
            <a:srgbClr val="D3DAE3"/>
          </a:solidFill>
          <a:ln/>
        </p:spPr>
      </p:sp>
      <p:sp>
        <p:nvSpPr>
          <p:cNvPr id="6" name="Shape 4"/>
          <p:cNvSpPr/>
          <p:nvPr/>
        </p:nvSpPr>
        <p:spPr>
          <a:xfrm>
            <a:off x="812731" y="1572158"/>
            <a:ext cx="10566453" cy="3327787"/>
          </a:xfrm>
          <a:custGeom>
            <a:avLst/>
            <a:gdLst/>
            <a:ahLst/>
            <a:cxnLst/>
            <a:rect l="l" t="t" r="r" b="b"/>
            <a:pathLst>
              <a:path w="10566453" h="3327787">
                <a:moveTo>
                  <a:pt x="76200" y="3327787"/>
                </a:moveTo>
                <a:lnTo>
                  <a:pt x="76200" y="3327787"/>
                </a:lnTo>
                <a:arcTo wR="76200" hR="76200" stAng="5400000" swAng="5400000"/>
                <a:lnTo>
                  <a:pt x="0" y="76200"/>
                </a:lnTo>
                <a:arcTo wR="76200" hR="76200" stAng="10800000" swAng="5400000"/>
                <a:lnTo>
                  <a:pt x="10490253" y="0"/>
                </a:lnTo>
                <a:arcTo wR="76200" hR="76200" stAng="16200000" swAng="5400000"/>
                <a:lnTo>
                  <a:pt x="10566453" y="76200"/>
                </a:lnTo>
                <a:arcTo wR="76200" hR="65070" stAng="0" swAng="-5400000"/>
                <a:lnTo>
                  <a:pt x="76200" y="11130"/>
                </a:lnTo>
                <a:arcTo wR="65070" hR="65070" stAng="16200000" swAng="-5400000"/>
                <a:lnTo>
                  <a:pt x="11130" y="3251587"/>
                </a:lnTo>
                <a:arcTo wR="65070" hR="762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860" y="1583288"/>
          <a:ext cx="10549759" cy="3311090"/>
        </p:xfrm>
        <a:graphic>
          <a:graphicData uri="http://schemas.openxmlformats.org/drawingml/2006/table">
            <a:tbl>
              <a:tblPr/>
              <a:tblGrid>
                <a:gridCol w="4852889">
                  <a:extLst>
                    <a:ext uri="{9D8B030D-6E8A-4147-A177-3AD203B41FA5}">
                      <a16:colId xmlns:a16="http://schemas.microsoft.com/office/drawing/2014/main" val="20000"/>
                    </a:ext>
                  </a:extLst>
                </a:gridCol>
                <a:gridCol w="5696870">
                  <a:extLst>
                    <a:ext uri="{9D8B030D-6E8A-4147-A177-3AD203B41FA5}">
                      <a16:colId xmlns:a16="http://schemas.microsoft.com/office/drawing/2014/main" val="20001"/>
                    </a:ext>
                  </a:extLst>
                </a:gridCol>
              </a:tblGrid>
              <a:tr h="331109">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Observed problem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tc>
                  <a:txBody>
                    <a:bodyPr/>
                    <a:lstStyle/>
                    <a:p>
                      <a:pPr marL="0" indent="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Fix</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0" cap="flat" cmpd="sng" algn="ctr">
                      <a:noFill/>
                    </a:lnT>
                    <a:lnB w="12700" cap="flat" cmpd="sng" algn="ctr">
                      <a:solidFill>
                        <a:srgbClr val="B9BCC2"/>
                      </a:solidFill>
                      <a:prstDash val="solid"/>
                      <a:round/>
                      <a:headEnd type="none" w="med" len="med"/>
                      <a:tailEnd type="none" w="med" len="med"/>
                    </a:lnB>
                    <a:solidFill>
                      <a:srgbClr val="E7ECF3"/>
                    </a:solidFill>
                  </a:tcPr>
                </a:tc>
                <a:extLst>
                  <a:ext uri="{0D108BD9-81ED-4DB2-BD59-A6C34878D82A}">
                    <a16:rowId xmlns:a16="http://schemas.microsoft.com/office/drawing/2014/main" val="10000"/>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Deleted pod replaced within 5 s, unseen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Identity-based replica-loss detection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1"/>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Partition left open connections alive</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conntrack flush via chaos-agent DaemonSet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2"/>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Gateway timeouts never fired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undici fetch with a hard 5 s deadline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3"/>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Keep-alive pinned traffic to one pod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Connection recycling: detection 60 s → 15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4"/>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Readiness probes masked injected latency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pod_unready class and MASKED scoring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5"/>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Isolation Forest scores saturated</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Midpoint threshold calibration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6"/>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HPA flapping during recovery</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Stabilisation windows, 100m CPU request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7"/>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Throttling misread as partition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Classifier order and settle tick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8"/>
                  </a:ext>
                </a:extLst>
              </a:tr>
              <a:tr h="331109">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Schema creation race on startup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Postgres advisory lock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ACA"/>
                      </a:solidFill>
                      <a:prstDash val="solid"/>
                      <a:round/>
                      <a:headEnd type="none" w="med" len="med"/>
                      <a:tailEnd type="none" w="med" len="med"/>
                    </a:lnL>
                    <a:lnR w="12700" cap="flat" cmpd="sng" algn="ctr">
                      <a:solidFill>
                        <a:srgbClr val="CACACA"/>
                      </a:solidFill>
                      <a:prstDash val="solid"/>
                      <a:round/>
                      <a:headEnd type="none" w="med" len="med"/>
                      <a:tailEnd type="none" w="med" len="med"/>
                    </a:lnR>
                    <a:lnT w="12700" cap="flat" cmpd="sng" algn="ctr">
                      <a:solidFill>
                        <a:srgbClr val="CACACA"/>
                      </a:solidFill>
                      <a:prstDash val="solid"/>
                      <a:round/>
                      <a:headEnd type="none" w="med" len="med"/>
                      <a:tailEnd type="none" w="med" len="med"/>
                    </a:lnT>
                    <a:lnB w="12700" cap="flat" cmpd="sng" algn="ctr">
                      <a:solidFill>
                        <a:srgbClr val="CACACA"/>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812731" y="6238292"/>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9" name="Text 6"/>
          <p:cNvSpPr/>
          <p:nvPr/>
        </p:nvSpPr>
        <p:spPr>
          <a:xfrm>
            <a:off x="10058466" y="6238292"/>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EDF1F6"/>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INTERFACE</a:t>
            </a:r>
            <a:endParaRPr lang="en-US" sz="1200" dirty="0"/>
          </a:p>
        </p:txBody>
      </p:sp>
      <p:sp>
        <p:nvSpPr>
          <p:cNvPr id="3" name="Text 1"/>
          <p:cNvSpPr>
            <a:spLocks noGrp="1"/>
          </p:cNvSpPr>
          <p:nvPr>
            <p:ph type="title"/>
          </p:nvPr>
        </p:nvSpPr>
        <p:spPr>
          <a:xfrm>
            <a:off x="812731" y="899071"/>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Dashboard, storefront and CLI</a:t>
            </a:r>
            <a:endParaRPr lang="en-US" sz="3000" dirty="0"/>
          </a:p>
        </p:txBody>
      </p:sp>
      <p:sp>
        <p:nvSpPr>
          <p:cNvPr id="4" name="Shape 2"/>
          <p:cNvSpPr/>
          <p:nvPr/>
        </p:nvSpPr>
        <p:spPr>
          <a:xfrm>
            <a:off x="815906" y="1575333"/>
            <a:ext cx="3414214" cy="4263551"/>
          </a:xfrm>
          <a:prstGeom prst="roundRect">
            <a:avLst>
              <a:gd name="adj" fmla="val 2139"/>
            </a:avLst>
          </a:prstGeom>
          <a:solidFill>
            <a:srgbClr val="FDFDFE"/>
          </a:solidFill>
          <a:ln w="6350">
            <a:solidFill>
              <a:srgbClr val="D3DAE3"/>
            </a:solidFill>
            <a:prstDash val="solid"/>
          </a:ln>
        </p:spPr>
      </p:sp>
      <p:sp>
        <p:nvSpPr>
          <p:cNvPr id="5" name="Text 3"/>
          <p:cNvSpPr/>
          <p:nvPr/>
        </p:nvSpPr>
        <p:spPr>
          <a:xfrm>
            <a:off x="1021413" y="1780840"/>
            <a:ext cx="309329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Live dashboard</a:t>
            </a:r>
            <a:endParaRPr lang="en-US" sz="1400" dirty="0"/>
          </a:p>
        </p:txBody>
      </p:sp>
      <p:sp>
        <p:nvSpPr>
          <p:cNvPr id="6" name="Text 4"/>
          <p:cNvSpPr/>
          <p:nvPr/>
        </p:nvSpPr>
        <p:spPr>
          <a:xfrm>
            <a:off x="1021413" y="2095779"/>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React · WebSocket, one frame per tick</a:t>
            </a:r>
            <a:endParaRPr lang="en-US" sz="1200" dirty="0"/>
          </a:p>
        </p:txBody>
      </p:sp>
      <p:sp>
        <p:nvSpPr>
          <p:cNvPr id="7" name="Text 5"/>
          <p:cNvSpPr/>
          <p:nvPr/>
        </p:nvSpPr>
        <p:spPr>
          <a:xfrm>
            <a:off x="1120219" y="2410718"/>
            <a:ext cx="2986869" cy="1259756"/>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Anomaly score vs threshold</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Dependency graph (d3)</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Plain-English reasoning feed</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Decision trace vs ground truth</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LSTM forecast, health grid</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Run / stop campaign, autopilot</a:t>
            </a:r>
            <a:endParaRPr lang="en-US" sz="1200" dirty="0"/>
          </a:p>
        </p:txBody>
      </p:sp>
      <p:sp>
        <p:nvSpPr>
          <p:cNvPr id="8" name="Shape 6"/>
          <p:cNvSpPr/>
          <p:nvPr/>
        </p:nvSpPr>
        <p:spPr>
          <a:xfrm>
            <a:off x="4388807" y="1575333"/>
            <a:ext cx="3414214" cy="4263551"/>
          </a:xfrm>
          <a:prstGeom prst="roundRect">
            <a:avLst>
              <a:gd name="adj" fmla="val 2139"/>
            </a:avLst>
          </a:prstGeom>
          <a:solidFill>
            <a:srgbClr val="FDFDFE"/>
          </a:solidFill>
          <a:ln w="6350">
            <a:solidFill>
              <a:srgbClr val="D3DAE3"/>
            </a:solidFill>
            <a:prstDash val="solid"/>
          </a:ln>
        </p:spPr>
      </p:sp>
      <p:sp>
        <p:nvSpPr>
          <p:cNvPr id="9" name="Text 7"/>
          <p:cNvSpPr/>
          <p:nvPr/>
        </p:nvSpPr>
        <p:spPr>
          <a:xfrm>
            <a:off x="4594315" y="1780840"/>
            <a:ext cx="309329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ShopFusion storefront</a:t>
            </a:r>
            <a:endParaRPr lang="en-US" sz="1400" dirty="0"/>
          </a:p>
        </p:txBody>
      </p:sp>
      <p:sp>
        <p:nvSpPr>
          <p:cNvPr id="10" name="Text 8"/>
          <p:cNvSpPr/>
          <p:nvPr/>
        </p:nvSpPr>
        <p:spPr>
          <a:xfrm>
            <a:off x="4594315" y="2095779"/>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Served by the gateway</a:t>
            </a:r>
            <a:endParaRPr lang="en-US" sz="1200" dirty="0"/>
          </a:p>
        </p:txBody>
      </p:sp>
      <p:sp>
        <p:nvSpPr>
          <p:cNvPr id="11" name="Text 9"/>
          <p:cNvSpPr/>
          <p:nvPr/>
        </p:nvSpPr>
        <p:spPr>
          <a:xfrm>
            <a:off x="4693121" y="2410718"/>
            <a:ext cx="2986869" cy="848304"/>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Browse and buy through nginx</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Live dependency health chips</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Order and payment lookup</a:t>
            </a:r>
            <a:endParaRPr lang="en-US" sz="1200" dirty="0"/>
          </a:p>
          <a:p>
            <a:pPr marL="155194" indent="-155194" algn="l">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Shows the user's view during chaos</a:t>
            </a:r>
            <a:endParaRPr lang="en-US" sz="1200" dirty="0"/>
          </a:p>
        </p:txBody>
      </p:sp>
      <p:sp>
        <p:nvSpPr>
          <p:cNvPr id="12" name="Shape 10"/>
          <p:cNvSpPr/>
          <p:nvPr/>
        </p:nvSpPr>
        <p:spPr>
          <a:xfrm>
            <a:off x="7961709" y="1575333"/>
            <a:ext cx="3414214" cy="4263551"/>
          </a:xfrm>
          <a:prstGeom prst="roundRect">
            <a:avLst>
              <a:gd name="adj" fmla="val 2139"/>
            </a:avLst>
          </a:prstGeom>
          <a:solidFill>
            <a:srgbClr val="FDFDFE"/>
          </a:solidFill>
          <a:ln w="6350">
            <a:solidFill>
              <a:srgbClr val="D3DAE3"/>
            </a:solidFill>
            <a:prstDash val="solid"/>
          </a:ln>
        </p:spPr>
      </p:sp>
      <p:sp>
        <p:nvSpPr>
          <p:cNvPr id="13" name="Text 11"/>
          <p:cNvSpPr/>
          <p:nvPr/>
        </p:nvSpPr>
        <p:spPr>
          <a:xfrm>
            <a:off x="8167216" y="1780840"/>
            <a:ext cx="309329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One command line</a:t>
            </a:r>
            <a:endParaRPr lang="en-US" sz="1400" dirty="0"/>
          </a:p>
        </p:txBody>
      </p:sp>
      <p:sp>
        <p:nvSpPr>
          <p:cNvPr id="14" name="Text 12"/>
          <p:cNvSpPr/>
          <p:nvPr/>
        </p:nvSpPr>
        <p:spPr>
          <a:xfrm>
            <a:off x="8167216" y="2095779"/>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IBM Plex Sans" pitchFamily="34" charset="0"/>
                <a:ea typeface="IBM Plex Sans" pitchFamily="34" charset="-122"/>
                <a:cs typeface="IBM Plex Sans" pitchFamily="34" charset="-120"/>
              </a:rPr>
              <a:t>nova.ps1 · nova.sh · Makefile</a:t>
            </a:r>
            <a:endParaRPr lang="en-US" sz="1200" dirty="0"/>
          </a:p>
        </p:txBody>
      </p:sp>
      <p:sp>
        <p:nvSpPr>
          <p:cNvPr id="15" name="Text 13"/>
          <p:cNvSpPr/>
          <p:nvPr/>
        </p:nvSpPr>
        <p:spPr>
          <a:xfrm>
            <a:off x="8167216" y="2410718"/>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up · train · serve</a:t>
            </a:r>
            <a:endParaRPr lang="en-US" sz="1200" dirty="0"/>
          </a:p>
        </p:txBody>
      </p:sp>
      <p:sp>
        <p:nvSpPr>
          <p:cNvPr id="16" name="Text 14"/>
          <p:cNvSpPr/>
          <p:nvPr/>
        </p:nvSpPr>
        <p:spPr>
          <a:xfrm>
            <a:off x="8167216" y="2687569"/>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campaign · inject</a:t>
            </a:r>
            <a:endParaRPr lang="en-US" sz="1200" dirty="0"/>
          </a:p>
        </p:txBody>
      </p:sp>
      <p:sp>
        <p:nvSpPr>
          <p:cNvPr id="17" name="Text 15"/>
          <p:cNvSpPr/>
          <p:nvPr/>
        </p:nvSpPr>
        <p:spPr>
          <a:xfrm>
            <a:off x="8167216" y="2964421"/>
            <a:ext cx="309329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Mono" pitchFamily="49" charset="0"/>
                <a:ea typeface="IBM Plex Mono" pitchFamily="49" charset="-122"/>
                <a:cs typeface="IBM Plex Mono" pitchFamily="49" charset="-120"/>
              </a:rPr>
              <a:t>report · status · down</a:t>
            </a:r>
            <a:endParaRPr lang="en-US" sz="1200" dirty="0"/>
          </a:p>
        </p:txBody>
      </p:sp>
      <p:sp>
        <p:nvSpPr>
          <p:cNvPr id="18" name="Text 16"/>
          <p:cNvSpPr/>
          <p:nvPr/>
        </p:nvSpPr>
        <p:spPr>
          <a:xfrm>
            <a:off x="8167216" y="3279353"/>
            <a:ext cx="3093295"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Hash-based image rebuilds; ready in about a minute after first setup.</a:t>
            </a:r>
            <a:endParaRPr lang="en-US" sz="1200" dirty="0"/>
          </a:p>
        </p:txBody>
      </p:sp>
      <p:sp>
        <p:nvSpPr>
          <p:cNvPr id="19" name="Text 17"/>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0" name="Text 18"/>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731" y="6095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A8"/>
                </a:solidFill>
                <a:latin typeface="IBM Plex Sans" pitchFamily="34" charset="0"/>
                <a:ea typeface="IBM Plex Sans" pitchFamily="34" charset="-122"/>
                <a:cs typeface="IBM Plex Sans" pitchFamily="34" charset="-120"/>
              </a:rPr>
              <a:t>SCOPE</a:t>
            </a:r>
            <a:endParaRPr lang="en-US" sz="1200" dirty="0"/>
          </a:p>
        </p:txBody>
      </p:sp>
      <p:sp>
        <p:nvSpPr>
          <p:cNvPr id="3" name="Text 1"/>
          <p:cNvSpPr>
            <a:spLocks noGrp="1"/>
          </p:cNvSpPr>
          <p:nvPr>
            <p:ph type="title"/>
          </p:nvPr>
        </p:nvSpPr>
        <p:spPr>
          <a:xfrm>
            <a:off x="812731" y="899077"/>
            <a:ext cx="10883447" cy="44450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IBM Plex Sans" pitchFamily="34" charset="0"/>
                <a:ea typeface="IBM Plex Sans" pitchFamily="34" charset="-122"/>
                <a:cs typeface="IBM Plex Sans" pitchFamily="34" charset="-120"/>
              </a:rPr>
              <a:t>Limitations and next steps</a:t>
            </a:r>
            <a:endParaRPr lang="en-US" sz="3000" dirty="0"/>
          </a:p>
        </p:txBody>
      </p:sp>
      <p:sp>
        <p:nvSpPr>
          <p:cNvPr id="4" name="Text 2"/>
          <p:cNvSpPr/>
          <p:nvPr/>
        </p:nvSpPr>
        <p:spPr>
          <a:xfrm>
            <a:off x="812731" y="1572165"/>
            <a:ext cx="5284726"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5568"/>
                </a:solidFill>
                <a:latin typeface="IBM Plex Sans" pitchFamily="34" charset="0"/>
                <a:ea typeface="IBM Plex Sans" pitchFamily="34" charset="-122"/>
                <a:cs typeface="IBM Plex Sans" pitchFamily="34" charset="-120"/>
              </a:rPr>
              <a:t>Current limitations</a:t>
            </a:r>
            <a:endParaRPr lang="en-US" sz="1400" dirty="0"/>
          </a:p>
        </p:txBody>
      </p:sp>
      <p:sp>
        <p:nvSpPr>
          <p:cNvPr id="5" name="Shape 3"/>
          <p:cNvSpPr/>
          <p:nvPr/>
        </p:nvSpPr>
        <p:spPr>
          <a:xfrm>
            <a:off x="812731" y="2191734"/>
            <a:ext cx="5130802" cy="0"/>
          </a:xfrm>
          <a:prstGeom prst="line">
            <a:avLst/>
          </a:prstGeom>
          <a:noFill/>
          <a:ln w="6350">
            <a:solidFill>
              <a:srgbClr val="D3DAE3"/>
            </a:solidFill>
            <a:prstDash val="solid"/>
          </a:ln>
        </p:spPr>
      </p:sp>
      <p:sp>
        <p:nvSpPr>
          <p:cNvPr id="6" name="Text 4"/>
          <p:cNvSpPr/>
          <p:nvPr/>
        </p:nvSpPr>
        <p:spPr>
          <a:xfrm>
            <a:off x="812731" y="1899797"/>
            <a:ext cx="528472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Single-node laptop cluster and a five-service shop</a:t>
            </a:r>
            <a:endParaRPr lang="en-US" sz="1200" dirty="0"/>
          </a:p>
        </p:txBody>
      </p:sp>
      <p:sp>
        <p:nvSpPr>
          <p:cNvPr id="7" name="Shape 5"/>
          <p:cNvSpPr/>
          <p:nvPr/>
        </p:nvSpPr>
        <p:spPr>
          <a:xfrm>
            <a:off x="812731" y="2575710"/>
            <a:ext cx="5130802" cy="0"/>
          </a:xfrm>
          <a:prstGeom prst="line">
            <a:avLst/>
          </a:prstGeom>
          <a:noFill/>
          <a:ln w="6350">
            <a:solidFill>
              <a:srgbClr val="D3DAE3"/>
            </a:solidFill>
            <a:prstDash val="solid"/>
          </a:ln>
        </p:spPr>
      </p:sp>
      <p:sp>
        <p:nvSpPr>
          <p:cNvPr id="8" name="Text 6"/>
          <p:cNvSpPr/>
          <p:nvPr/>
        </p:nvSpPr>
        <p:spPr>
          <a:xfrm>
            <a:off x="812731" y="2283774"/>
            <a:ext cx="528472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Baseline learned from ~10 minutes of synthetic traffic</a:t>
            </a:r>
            <a:endParaRPr lang="en-US" sz="1200" dirty="0"/>
          </a:p>
        </p:txBody>
      </p:sp>
      <p:sp>
        <p:nvSpPr>
          <p:cNvPr id="9" name="Shape 7"/>
          <p:cNvSpPr/>
          <p:nvPr/>
        </p:nvSpPr>
        <p:spPr>
          <a:xfrm>
            <a:off x="812731" y="2959687"/>
            <a:ext cx="5130802" cy="0"/>
          </a:xfrm>
          <a:prstGeom prst="line">
            <a:avLst/>
          </a:prstGeom>
          <a:noFill/>
          <a:ln w="6350">
            <a:solidFill>
              <a:srgbClr val="D3DAE3"/>
            </a:solidFill>
            <a:prstDash val="solid"/>
          </a:ln>
        </p:spPr>
      </p:sp>
      <p:sp>
        <p:nvSpPr>
          <p:cNvPr id="10" name="Text 8"/>
          <p:cNvSpPr/>
          <p:nvPr/>
        </p:nvSpPr>
        <p:spPr>
          <a:xfrm>
            <a:off x="812731" y="2667750"/>
            <a:ext cx="528472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Five fault types injected</a:t>
            </a:r>
            <a:endParaRPr lang="en-US" sz="1200" dirty="0"/>
          </a:p>
        </p:txBody>
      </p:sp>
      <p:sp>
        <p:nvSpPr>
          <p:cNvPr id="11" name="Shape 9"/>
          <p:cNvSpPr/>
          <p:nvPr/>
        </p:nvSpPr>
        <p:spPr>
          <a:xfrm>
            <a:off x="812731" y="3343651"/>
            <a:ext cx="5130802" cy="0"/>
          </a:xfrm>
          <a:prstGeom prst="line">
            <a:avLst/>
          </a:prstGeom>
          <a:noFill/>
          <a:ln w="6350">
            <a:solidFill>
              <a:srgbClr val="D3DAE3"/>
            </a:solidFill>
            <a:prstDash val="solid"/>
          </a:ln>
        </p:spPr>
      </p:sp>
      <p:sp>
        <p:nvSpPr>
          <p:cNvPr id="12" name="Text 10"/>
          <p:cNvSpPr/>
          <p:nvPr/>
        </p:nvSpPr>
        <p:spPr>
          <a:xfrm>
            <a:off x="812731" y="3051715"/>
            <a:ext cx="528472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Forecaster predicts recovery better than onset</a:t>
            </a:r>
            <a:endParaRPr lang="en-US" sz="1200" dirty="0"/>
          </a:p>
        </p:txBody>
      </p:sp>
      <p:sp>
        <p:nvSpPr>
          <p:cNvPr id="13" name="Shape 11"/>
          <p:cNvSpPr/>
          <p:nvPr/>
        </p:nvSpPr>
        <p:spPr>
          <a:xfrm>
            <a:off x="812731" y="3727628"/>
            <a:ext cx="5130802" cy="0"/>
          </a:xfrm>
          <a:prstGeom prst="line">
            <a:avLst/>
          </a:prstGeom>
          <a:noFill/>
          <a:ln w="6350">
            <a:solidFill>
              <a:srgbClr val="D3DAE3"/>
            </a:solidFill>
            <a:prstDash val="solid"/>
          </a:ln>
        </p:spPr>
      </p:sp>
      <p:sp>
        <p:nvSpPr>
          <p:cNvPr id="14" name="Text 12"/>
          <p:cNvSpPr/>
          <p:nvPr/>
        </p:nvSpPr>
        <p:spPr>
          <a:xfrm>
            <a:off x="812731" y="3435691"/>
            <a:ext cx="5284726"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Hand-written service map; playbook-only fixes</a:t>
            </a:r>
            <a:endParaRPr lang="en-US" sz="1200" dirty="0"/>
          </a:p>
        </p:txBody>
      </p:sp>
      <p:sp>
        <p:nvSpPr>
          <p:cNvPr id="15" name="Text 13"/>
          <p:cNvSpPr/>
          <p:nvPr/>
        </p:nvSpPr>
        <p:spPr>
          <a:xfrm>
            <a:off x="812731" y="3819668"/>
            <a:ext cx="528472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Full rights to the local cluster</a:t>
            </a:r>
            <a:endParaRPr lang="en-US" sz="1200" dirty="0"/>
          </a:p>
        </p:txBody>
      </p:sp>
      <p:sp>
        <p:nvSpPr>
          <p:cNvPr id="16" name="Text 14"/>
          <p:cNvSpPr/>
          <p:nvPr/>
        </p:nvSpPr>
        <p:spPr>
          <a:xfrm>
            <a:off x="6248295" y="1572165"/>
            <a:ext cx="528481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5FA8"/>
                </a:solidFill>
                <a:latin typeface="IBM Plex Sans" pitchFamily="34" charset="0"/>
                <a:ea typeface="IBM Plex Sans" pitchFamily="34" charset="-122"/>
                <a:cs typeface="IBM Plex Sans" pitchFamily="34" charset="-120"/>
              </a:rPr>
              <a:t>Next steps</a:t>
            </a:r>
            <a:endParaRPr lang="en-US" sz="1400" dirty="0"/>
          </a:p>
        </p:txBody>
      </p:sp>
      <p:sp>
        <p:nvSpPr>
          <p:cNvPr id="17" name="Shape 15"/>
          <p:cNvSpPr/>
          <p:nvPr/>
        </p:nvSpPr>
        <p:spPr>
          <a:xfrm>
            <a:off x="6248295" y="2191734"/>
            <a:ext cx="5130889" cy="0"/>
          </a:xfrm>
          <a:prstGeom prst="line">
            <a:avLst/>
          </a:prstGeom>
          <a:noFill/>
          <a:ln w="6350">
            <a:solidFill>
              <a:srgbClr val="D3DAE3"/>
            </a:solidFill>
            <a:prstDash val="solid"/>
          </a:ln>
        </p:spPr>
      </p:sp>
      <p:sp>
        <p:nvSpPr>
          <p:cNvPr id="18" name="Text 16"/>
          <p:cNvSpPr/>
          <p:nvPr/>
        </p:nvSpPr>
        <p:spPr>
          <a:xfrm>
            <a:off x="6248295" y="1899797"/>
            <a:ext cx="528481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Multi-node and cloud clusters</a:t>
            </a:r>
            <a:endParaRPr lang="en-US" sz="1200" dirty="0"/>
          </a:p>
        </p:txBody>
      </p:sp>
      <p:sp>
        <p:nvSpPr>
          <p:cNvPr id="19" name="Shape 17"/>
          <p:cNvSpPr/>
          <p:nvPr/>
        </p:nvSpPr>
        <p:spPr>
          <a:xfrm>
            <a:off x="6248295" y="2575710"/>
            <a:ext cx="5130889" cy="0"/>
          </a:xfrm>
          <a:prstGeom prst="line">
            <a:avLst/>
          </a:prstGeom>
          <a:noFill/>
          <a:ln w="6350">
            <a:solidFill>
              <a:srgbClr val="D3DAE3"/>
            </a:solidFill>
            <a:prstDash val="solid"/>
          </a:ln>
        </p:spPr>
      </p:sp>
      <p:sp>
        <p:nvSpPr>
          <p:cNvPr id="20" name="Text 18"/>
          <p:cNvSpPr/>
          <p:nvPr/>
        </p:nvSpPr>
        <p:spPr>
          <a:xfrm>
            <a:off x="6248295" y="2283774"/>
            <a:ext cx="528481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Periodic retraining on real, longer traffic</a:t>
            </a:r>
            <a:endParaRPr lang="en-US" sz="1200" dirty="0"/>
          </a:p>
        </p:txBody>
      </p:sp>
      <p:sp>
        <p:nvSpPr>
          <p:cNvPr id="21" name="Shape 19"/>
          <p:cNvSpPr/>
          <p:nvPr/>
        </p:nvSpPr>
        <p:spPr>
          <a:xfrm>
            <a:off x="6248295" y="2959687"/>
            <a:ext cx="5130889" cy="0"/>
          </a:xfrm>
          <a:prstGeom prst="line">
            <a:avLst/>
          </a:prstGeom>
          <a:noFill/>
          <a:ln w="6350">
            <a:solidFill>
              <a:srgbClr val="D3DAE3"/>
            </a:solidFill>
            <a:prstDash val="solid"/>
          </a:ln>
        </p:spPr>
      </p:sp>
      <p:sp>
        <p:nvSpPr>
          <p:cNvPr id="22" name="Text 20"/>
          <p:cNvSpPr/>
          <p:nvPr/>
        </p:nvSpPr>
        <p:spPr>
          <a:xfrm>
            <a:off x="6248295" y="2667750"/>
            <a:ext cx="528481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Database, memory-leak, DNS and bad-deploy faults</a:t>
            </a:r>
            <a:endParaRPr lang="en-US" sz="1200" dirty="0"/>
          </a:p>
        </p:txBody>
      </p:sp>
      <p:sp>
        <p:nvSpPr>
          <p:cNvPr id="23" name="Shape 21"/>
          <p:cNvSpPr/>
          <p:nvPr/>
        </p:nvSpPr>
        <p:spPr>
          <a:xfrm>
            <a:off x="6248295" y="3343651"/>
            <a:ext cx="5130889" cy="0"/>
          </a:xfrm>
          <a:prstGeom prst="line">
            <a:avLst/>
          </a:prstGeom>
          <a:noFill/>
          <a:ln w="6350">
            <a:solidFill>
              <a:srgbClr val="D3DAE3"/>
            </a:solidFill>
            <a:prstDash val="solid"/>
          </a:ln>
        </p:spPr>
      </p:sp>
      <p:sp>
        <p:nvSpPr>
          <p:cNvPr id="24" name="Text 22"/>
          <p:cNvSpPr/>
          <p:nvPr/>
        </p:nvSpPr>
        <p:spPr>
          <a:xfrm>
            <a:off x="6248295" y="3051715"/>
            <a:ext cx="528481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Train on recorded incidents for onset forecasting</a:t>
            </a:r>
            <a:endParaRPr lang="en-US" sz="1200" dirty="0"/>
          </a:p>
        </p:txBody>
      </p:sp>
      <p:sp>
        <p:nvSpPr>
          <p:cNvPr id="25" name="Shape 23"/>
          <p:cNvSpPr/>
          <p:nvPr/>
        </p:nvSpPr>
        <p:spPr>
          <a:xfrm>
            <a:off x="6248295" y="3727628"/>
            <a:ext cx="5130889" cy="0"/>
          </a:xfrm>
          <a:prstGeom prst="line">
            <a:avLst/>
          </a:prstGeom>
          <a:noFill/>
          <a:ln w="6350">
            <a:solidFill>
              <a:srgbClr val="D3DAE3"/>
            </a:solidFill>
            <a:prstDash val="solid"/>
          </a:ln>
        </p:spPr>
      </p:sp>
      <p:sp>
        <p:nvSpPr>
          <p:cNvPr id="26" name="Text 24"/>
          <p:cNvSpPr/>
          <p:nvPr/>
        </p:nvSpPr>
        <p:spPr>
          <a:xfrm>
            <a:off x="6248295" y="3435691"/>
            <a:ext cx="5284815"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Topology discovered from traces</a:t>
            </a:r>
            <a:endParaRPr lang="en-US" sz="1200" dirty="0"/>
          </a:p>
        </p:txBody>
      </p:sp>
      <p:sp>
        <p:nvSpPr>
          <p:cNvPr id="27" name="Text 25"/>
          <p:cNvSpPr/>
          <p:nvPr/>
        </p:nvSpPr>
        <p:spPr>
          <a:xfrm>
            <a:off x="6248295" y="3819668"/>
            <a:ext cx="528481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Least-privilege RBAC role in-cluster</a:t>
            </a:r>
            <a:endParaRPr lang="en-US" sz="1200" dirty="0"/>
          </a:p>
        </p:txBody>
      </p:sp>
      <p:sp>
        <p:nvSpPr>
          <p:cNvPr id="28" name="Text 26"/>
          <p:cNvSpPr/>
          <p:nvPr/>
        </p:nvSpPr>
        <p:spPr>
          <a:xfrm>
            <a:off x="812731" y="6238298"/>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597"/>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29" name="Text 27"/>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A8597"/>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731" y="1287140"/>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0E8"/>
                </a:solidFill>
                <a:latin typeface="IBM Plex Sans" pitchFamily="34" charset="0"/>
                <a:ea typeface="IBM Plex Sans" pitchFamily="34" charset="-122"/>
                <a:cs typeface="IBM Plex Sans" pitchFamily="34" charset="-120"/>
              </a:rPr>
              <a:t>SUMMARY</a:t>
            </a:r>
            <a:endParaRPr lang="en-US" sz="1200" dirty="0"/>
          </a:p>
        </p:txBody>
      </p:sp>
      <p:sp>
        <p:nvSpPr>
          <p:cNvPr id="3" name="Text 1"/>
          <p:cNvSpPr>
            <a:spLocks noGrp="1"/>
          </p:cNvSpPr>
          <p:nvPr>
            <p:ph type="title"/>
          </p:nvPr>
        </p:nvSpPr>
        <p:spPr>
          <a:xfrm>
            <a:off x="812731" y="1652860"/>
            <a:ext cx="10883447" cy="1803373"/>
          </a:xfrm>
          <a:prstGeom prst="rect">
            <a:avLst/>
          </a:prstGeom>
          <a:noFill/>
          <a:ln/>
        </p:spPr>
        <p:txBody>
          <a:bodyPr wrap="square" lIns="0" tIns="0" rIns="0" bIns="0" rtlCol="0" anchor="t">
            <a:normAutofit/>
          </a:bodyPr>
          <a:lstStyle/>
          <a:p>
            <a:pPr marL="0" indent="0" algn="l">
              <a:lnSpc>
                <a:spcPts val="3500"/>
              </a:lnSpc>
              <a:buNone/>
            </a:pPr>
            <a:r>
              <a:rPr lang="en-US" sz="2800" b="0" i="0" dirty="0">
                <a:solidFill>
                  <a:srgbClr val="EEF1F5"/>
                </a:solidFill>
                <a:latin typeface="IBM Plex Sans" pitchFamily="34" charset="0"/>
                <a:ea typeface="IBM Plex Sans" pitchFamily="34" charset="-122"/>
                <a:cs typeface="IBM Plex Sans" pitchFamily="34" charset="-120"/>
              </a:rPr>
              <a:t>AutoHeal breaks a live Kubernetes application on purpose, detects the failure with models trained on its own behaviour, finds the true cause, repairs it, proves the repair and grades itself against the truth.</a:t>
            </a:r>
            <a:endParaRPr lang="en-US" sz="2800" dirty="0"/>
          </a:p>
        </p:txBody>
      </p:sp>
      <p:sp>
        <p:nvSpPr>
          <p:cNvPr id="4" name="Shape 2"/>
          <p:cNvSpPr/>
          <p:nvPr/>
        </p:nvSpPr>
        <p:spPr>
          <a:xfrm>
            <a:off x="812731" y="3795899"/>
            <a:ext cx="2527316" cy="0"/>
          </a:xfrm>
          <a:prstGeom prst="line">
            <a:avLst/>
          </a:prstGeom>
          <a:noFill/>
          <a:ln w="19050">
            <a:solidFill>
              <a:srgbClr val="7FB0E8"/>
            </a:solidFill>
            <a:prstDash val="solid"/>
          </a:ln>
        </p:spPr>
      </p:sp>
      <p:sp>
        <p:nvSpPr>
          <p:cNvPr id="5" name="Text 3"/>
          <p:cNvSpPr/>
          <p:nvPr/>
        </p:nvSpPr>
        <p:spPr>
          <a:xfrm>
            <a:off x="812731" y="3904617"/>
            <a:ext cx="2603136"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1F5"/>
                </a:solidFill>
                <a:latin typeface="IBM Plex Sans" pitchFamily="34" charset="0"/>
                <a:ea typeface="IBM Plex Sans" pitchFamily="34" charset="-122"/>
                <a:cs typeface="IBM Plex Sans" pitchFamily="34" charset="-120"/>
              </a:rPr>
              <a:t>Autonomous</a:t>
            </a:r>
            <a:endParaRPr lang="en-US" sz="1400" dirty="0"/>
          </a:p>
        </p:txBody>
      </p:sp>
      <p:sp>
        <p:nvSpPr>
          <p:cNvPr id="6" name="Text 4"/>
          <p:cNvSpPr/>
          <p:nvPr/>
        </p:nvSpPr>
        <p:spPr>
          <a:xfrm>
            <a:off x="812731" y="4168775"/>
            <a:ext cx="2603136"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Plan → inject → detect → heal → score</a:t>
            </a:r>
            <a:endParaRPr lang="en-US" sz="1200" dirty="0"/>
          </a:p>
        </p:txBody>
      </p:sp>
      <p:sp>
        <p:nvSpPr>
          <p:cNvPr id="7" name="Shape 5"/>
          <p:cNvSpPr/>
          <p:nvPr/>
        </p:nvSpPr>
        <p:spPr>
          <a:xfrm>
            <a:off x="3492385" y="3795899"/>
            <a:ext cx="2527403" cy="0"/>
          </a:xfrm>
          <a:prstGeom prst="line">
            <a:avLst/>
          </a:prstGeom>
          <a:noFill/>
          <a:ln w="19050">
            <a:solidFill>
              <a:srgbClr val="7FB0E8"/>
            </a:solidFill>
            <a:prstDash val="solid"/>
          </a:ln>
        </p:spPr>
      </p:sp>
      <p:sp>
        <p:nvSpPr>
          <p:cNvPr id="8" name="Text 6"/>
          <p:cNvSpPr/>
          <p:nvPr/>
        </p:nvSpPr>
        <p:spPr>
          <a:xfrm>
            <a:off x="3492385" y="3904617"/>
            <a:ext cx="260322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1F5"/>
                </a:solidFill>
                <a:latin typeface="IBM Plex Sans" pitchFamily="34" charset="0"/>
                <a:ea typeface="IBM Plex Sans" pitchFamily="34" charset="-122"/>
                <a:cs typeface="IBM Plex Sans" pitchFamily="34" charset="-120"/>
              </a:rPr>
              <a:t>Explainable</a:t>
            </a:r>
            <a:endParaRPr lang="en-US" sz="1400" dirty="0"/>
          </a:p>
        </p:txBody>
      </p:sp>
      <p:sp>
        <p:nvSpPr>
          <p:cNvPr id="9" name="Text 7"/>
          <p:cNvSpPr/>
          <p:nvPr/>
        </p:nvSpPr>
        <p:spPr>
          <a:xfrm>
            <a:off x="3492385" y="4168775"/>
            <a:ext cx="2603225"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Every decision narrated with live numbers</a:t>
            </a:r>
            <a:endParaRPr lang="en-US" sz="1200" dirty="0"/>
          </a:p>
        </p:txBody>
      </p:sp>
      <p:sp>
        <p:nvSpPr>
          <p:cNvPr id="10" name="Shape 8"/>
          <p:cNvSpPr/>
          <p:nvPr/>
        </p:nvSpPr>
        <p:spPr>
          <a:xfrm>
            <a:off x="6172126" y="3795899"/>
            <a:ext cx="2527316" cy="0"/>
          </a:xfrm>
          <a:prstGeom prst="line">
            <a:avLst/>
          </a:prstGeom>
          <a:noFill/>
          <a:ln w="19050">
            <a:solidFill>
              <a:srgbClr val="7FB0E8"/>
            </a:solidFill>
            <a:prstDash val="solid"/>
          </a:ln>
        </p:spPr>
      </p:sp>
      <p:sp>
        <p:nvSpPr>
          <p:cNvPr id="11" name="Text 9"/>
          <p:cNvSpPr/>
          <p:nvPr/>
        </p:nvSpPr>
        <p:spPr>
          <a:xfrm>
            <a:off x="6172126" y="3904617"/>
            <a:ext cx="2603136"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1F5"/>
                </a:solidFill>
                <a:latin typeface="IBM Plex Sans" pitchFamily="34" charset="0"/>
                <a:ea typeface="IBM Plex Sans" pitchFamily="34" charset="-122"/>
                <a:cs typeface="IBM Plex Sans" pitchFamily="34" charset="-120"/>
              </a:rPr>
              <a:t>Safe</a:t>
            </a:r>
            <a:endParaRPr lang="en-US" sz="1400" dirty="0"/>
          </a:p>
        </p:txBody>
      </p:sp>
      <p:sp>
        <p:nvSpPr>
          <p:cNvPr id="12" name="Text 10"/>
          <p:cNvSpPr/>
          <p:nvPr/>
        </p:nvSpPr>
        <p:spPr>
          <a:xfrm>
            <a:off x="6172126" y="4168775"/>
            <a:ext cx="2603136" cy="45215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Gates, guardrails, watchdog, verified fixes</a:t>
            </a:r>
            <a:endParaRPr lang="en-US" sz="1200" dirty="0"/>
          </a:p>
        </p:txBody>
      </p:sp>
      <p:sp>
        <p:nvSpPr>
          <p:cNvPr id="13" name="Shape 11"/>
          <p:cNvSpPr/>
          <p:nvPr/>
        </p:nvSpPr>
        <p:spPr>
          <a:xfrm>
            <a:off x="8851781" y="3795899"/>
            <a:ext cx="2527403" cy="0"/>
          </a:xfrm>
          <a:prstGeom prst="line">
            <a:avLst/>
          </a:prstGeom>
          <a:noFill/>
          <a:ln w="19050">
            <a:solidFill>
              <a:srgbClr val="7FB0E8"/>
            </a:solidFill>
            <a:prstDash val="solid"/>
          </a:ln>
        </p:spPr>
      </p:sp>
      <p:sp>
        <p:nvSpPr>
          <p:cNvPr id="14" name="Text 12"/>
          <p:cNvSpPr/>
          <p:nvPr/>
        </p:nvSpPr>
        <p:spPr>
          <a:xfrm>
            <a:off x="8851781" y="3904617"/>
            <a:ext cx="2603225" cy="238778"/>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1F5"/>
                </a:solidFill>
                <a:latin typeface="IBM Plex Sans" pitchFamily="34" charset="0"/>
                <a:ea typeface="IBM Plex Sans" pitchFamily="34" charset="-122"/>
                <a:cs typeface="IBM Plex Sans" pitchFamily="34" charset="-120"/>
              </a:rPr>
              <a:t>Measured</a:t>
            </a:r>
            <a:endParaRPr lang="en-US" sz="1400" dirty="0"/>
          </a:p>
        </p:txBody>
      </p:sp>
      <p:sp>
        <p:nvSpPr>
          <p:cNvPr id="15" name="Text 13"/>
          <p:cNvSpPr/>
          <p:nvPr/>
        </p:nvSpPr>
        <p:spPr>
          <a:xfrm>
            <a:off x="8851781" y="4168775"/>
            <a:ext cx="260322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3D3"/>
                </a:solidFill>
                <a:latin typeface="IBM Plex Sans" pitchFamily="34" charset="0"/>
                <a:ea typeface="IBM Plex Sans" pitchFamily="34" charset="-122"/>
                <a:cs typeface="IBM Plex Sans" pitchFamily="34" charset="-120"/>
              </a:rPr>
              <a:t>98.9 / 100 in a live campaign</a:t>
            </a:r>
            <a:endParaRPr lang="en-US" sz="1200" dirty="0"/>
          </a:p>
        </p:txBody>
      </p:sp>
      <p:sp>
        <p:nvSpPr>
          <p:cNvPr id="16" name="Text 14"/>
          <p:cNvSpPr/>
          <p:nvPr/>
        </p:nvSpPr>
        <p:spPr>
          <a:xfrm>
            <a:off x="812731" y="4951078"/>
            <a:ext cx="1088344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B0E8"/>
                </a:solidFill>
                <a:latin typeface="IBM Plex Mono" pitchFamily="49" charset="0"/>
                <a:ea typeface="IBM Plex Mono" pitchFamily="49" charset="-122"/>
                <a:cs typeface="IBM Plex Mono" pitchFamily="49" charset="-120"/>
              </a:rPr>
              <a:t>github.com/KRISHNA2107DK/Autonomous-Nova-Re</a:t>
            </a:r>
            <a:endParaRPr lang="en-US" sz="1200" dirty="0"/>
          </a:p>
        </p:txBody>
      </p:sp>
      <p:sp>
        <p:nvSpPr>
          <p:cNvPr id="17" name="Text 15"/>
          <p:cNvSpPr/>
          <p:nvPr/>
        </p:nvSpPr>
        <p:spPr>
          <a:xfrm>
            <a:off x="812731" y="6238304"/>
            <a:ext cx="784854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7AA"/>
                </a:solidFill>
                <a:latin typeface="IBM Plex Sans" pitchFamily="34" charset="0"/>
                <a:ea typeface="IBM Plex Sans" pitchFamily="34" charset="-122"/>
                <a:cs typeface="IBM Plex Sans" pitchFamily="34" charset="-120"/>
              </a:rPr>
              <a:t>AutoHeal · Autonomous Chaos Engineering &amp; Self-Healing</a:t>
            </a:r>
            <a:endParaRPr lang="en-US" sz="1200" dirty="0"/>
          </a:p>
        </p:txBody>
      </p:sp>
      <p:sp>
        <p:nvSpPr>
          <p:cNvPr id="18" name="Text 16"/>
          <p:cNvSpPr/>
          <p:nvPr/>
        </p:nvSpPr>
        <p:spPr>
          <a:xfrm>
            <a:off x="10058466" y="6238304"/>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B97A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AutoHeal Presentation">
  <a:themeElements>
    <a:clrScheme name="AutoHeal Presentation">
      <a:dk1>
        <a:srgbClr val="16213A"/>
      </a:dk1>
      <a:lt1>
        <a:srgbClr val="F6F7F9"/>
      </a:lt1>
      <a:dk2>
        <a:srgbClr val="4E576A"/>
      </a:dk2>
      <a:lt2>
        <a:srgbClr val="E0E2E6"/>
      </a:lt2>
      <a:accent1>
        <a:srgbClr val="1F5FA8"/>
      </a:accent1>
      <a:accent2>
        <a:srgbClr val="C26A1E"/>
      </a:accent2>
      <a:accent3>
        <a:srgbClr val="7FB0E8"/>
      </a:accent3>
      <a:accent4>
        <a:srgbClr val="4A5568"/>
      </a:accent4>
      <a:accent5>
        <a:srgbClr val="5A6678"/>
      </a:accent5>
      <a:accent6>
        <a:srgbClr val="7A8597"/>
      </a:accent6>
      <a:hlink>
        <a:srgbClr val="0563C1"/>
      </a:hlink>
      <a:folHlink>
        <a:srgbClr val="954F72"/>
      </a:folHlink>
    </a:clrScheme>
    <a:fontScheme name="AutoHeal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5184</Words>
  <Application>Microsoft Office PowerPoint</Application>
  <PresentationFormat>Widescreen</PresentationFormat>
  <Paragraphs>578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Mono</vt:lpstr>
      <vt:lpstr>IBM Plex Sans</vt:lpstr>
      <vt:lpstr>AutoHeal Presentation</vt:lpstr>
      <vt:lpstr>PowerPoint Presentation</vt:lpstr>
      <vt:lpstr>System architecture</vt:lpstr>
      <vt:lpstr>Tech stack by component</vt:lpstr>
      <vt:lpstr>Failures cascade faster than people respond</vt:lpstr>
      <vt:lpstr>ShopFusion: a five-service online shop</vt:lpstr>
      <vt:lpstr>Nine features per service, every 5 seconds</vt:lpstr>
      <vt:lpstr>Three voters and a forecaster</vt:lpstr>
      <vt:lpstr>Root-cause analysis: origin versus victims</vt:lpstr>
      <vt:lpstr>Guarded playbooks with learned confidence</vt:lpstr>
      <vt:lpstr>Seven remediators, every fix verified</vt:lpstr>
      <vt:lpstr>Five real fault injectors</vt:lpstr>
      <vt:lpstr>Choosing what to break next</vt:lpstr>
      <vt:lpstr>A campaign round: gated, watched, graded</vt:lpstr>
      <vt:lpstr>Five rounds, five correct diagnoses</vt:lpstr>
      <vt:lpstr>Problems found in live runs, and their fixes</vt:lpstr>
      <vt:lpstr>Dashboard, storefront and CLI</vt:lpstr>
      <vt:lpstr>Limitations and next steps</vt:lpstr>
      <vt:lpstr>AutoHeal breaks a live Kubernetes application on purpose, detects the failure with models trained on its own behaviour, finds the true cause, repairs it, proves the repair and grades itself against the truth.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AutoHeal Presentation</dc:title>
  <dc:subject/>
  <dc:creator/>
  <cp:lastModifiedBy>Mohammad Zafar</cp:lastModifiedBy>
  <cp:revision>1</cp:revision>
  <dcterms:created xsi:type="dcterms:W3CDTF">2026-10-11T05:59:53Z</dcterms:created>
  <dcterms:modified xsi:type="dcterms:W3CDTF">2026-10-11T07:54:27Z</dcterms:modified>
</cp:coreProperties>
</file>